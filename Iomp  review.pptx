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311" r:id="rId5"/>
    <p:sldId id="312" r:id="rId6"/>
    <p:sldId id="277" r:id="rId7"/>
    <p:sldId id="288" r:id="rId8"/>
    <p:sldId id="269" r:id="rId9"/>
    <p:sldId id="297" r:id="rId10"/>
    <p:sldId id="293" r:id="rId11"/>
    <p:sldId id="300" r:id="rId12"/>
    <p:sldId id="301" r:id="rId13"/>
    <p:sldId id="313" r:id="rId14"/>
    <p:sldId id="314" r:id="rId15"/>
    <p:sldId id="295" r:id="rId16"/>
    <p:sldId id="302" r:id="rId17"/>
    <p:sldId id="285" r:id="rId18"/>
    <p:sldId id="303" r:id="rId19"/>
    <p:sldId id="298" r:id="rId20"/>
    <p:sldId id="299" r:id="rId21"/>
    <p:sldId id="315" r:id="rId22"/>
    <p:sldId id="316" r:id="rId23"/>
    <p:sldId id="317" r:id="rId24"/>
    <p:sldId id="318" r:id="rId25"/>
    <p:sldId id="319" r:id="rId26"/>
    <p:sldId id="26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920" autoAdjust="0"/>
    <p:restoredTop sz="94631"/>
  </p:normalViewPr>
  <p:slideViewPr>
    <p:cSldViewPr snapToGrid="0">
      <p:cViewPr>
        <p:scale>
          <a:sx n="49" d="100"/>
          <a:sy n="49" d="100"/>
        </p:scale>
        <p:origin x="2578"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74" name="Google Shape;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3" name="Google Shape;1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2" descr="A picture containing text&#10;&#10;Description automatically generated"/>
          <p:cNvPicPr preferRelativeResize="0"/>
          <p:nvPr/>
        </p:nvPicPr>
        <p:blipFill rotWithShape="1">
          <a:blip r:embed="rId2"/>
          <a:srcRect/>
          <a:stretch>
            <a:fill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pic>
        <p:nvPicPr>
          <p:cNvPr id="14" name="Google Shape;14;p23" descr="Chart&#10;&#10;Description automatically generated with medium confidence"/>
          <p:cNvPicPr preferRelativeResize="0"/>
          <p:nvPr/>
        </p:nvPicPr>
        <p:blipFill rotWithShape="1">
          <a:blip r:embed="rId2"/>
          <a:srcRect/>
          <a:stretch>
            <a:fillRect/>
          </a:stretch>
        </p:blipFill>
        <p:spPr>
          <a:xfrm>
            <a:off x="9392" y="0"/>
            <a:ext cx="12182607" cy="68632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5" name="Google Shape;2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1" name="Google Shape;31;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3" name="Google Shape;33;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46"/>
        <p:cNvGrpSpPr/>
        <p:nvPr/>
      </p:nvGrpSpPr>
      <p:grpSpPr>
        <a:xfrm>
          <a:off x="0" y="0"/>
          <a:ext cx="0" cy="0"/>
          <a:chOff x="0" y="0"/>
          <a:chExt cx="0" cy="0"/>
        </a:xfrm>
      </p:grpSpPr>
      <p:sp>
        <p:nvSpPr>
          <p:cNvPr id="47" name="Google Shape;47;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49" name="Google Shape;49;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0" name="Google Shape;5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53"/>
        <p:cNvGrpSpPr/>
        <p:nvPr/>
      </p:nvGrpSpPr>
      <p:grpSpPr>
        <a:xfrm>
          <a:off x="0" y="0"/>
          <a:ext cx="0" cy="0"/>
          <a:chOff x="0" y="0"/>
          <a:chExt cx="0" cy="0"/>
        </a:xfrm>
      </p:grpSpPr>
      <p:sp>
        <p:nvSpPr>
          <p:cNvPr id="54" name="Google Shape;54;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0"/>
          <p:cNvSpPr>
            <a:spLocks noGrp="1"/>
          </p:cNvSpPr>
          <p:nvPr>
            <p:ph type="pic" idx="2"/>
          </p:nvPr>
        </p:nvSpPr>
        <p:spPr>
          <a:xfrm>
            <a:off x="5183188" y="987425"/>
            <a:ext cx="6172200" cy="4873625"/>
          </a:xfrm>
          <a:prstGeom prst="rect">
            <a:avLst/>
          </a:prstGeom>
          <a:noFill/>
          <a:ln>
            <a:noFill/>
          </a:ln>
        </p:spPr>
      </p:sp>
      <p:sp>
        <p:nvSpPr>
          <p:cNvPr id="56" name="Google Shape;56;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7" name="Google Shape;5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0"/>
        <p:cNvGrpSpPr/>
        <p:nvPr/>
      </p:nvGrpSpPr>
      <p:grpSpPr>
        <a:xfrm>
          <a:off x="0" y="0"/>
          <a:ext cx="0" cy="0"/>
          <a:chOff x="0" y="0"/>
          <a:chExt cx="0" cy="0"/>
        </a:xfrm>
      </p:grpSpPr>
      <p:sp>
        <p:nvSpPr>
          <p:cNvPr id="61" name="Google Shape;61;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3" name="Google Shape;6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66"/>
        <p:cNvGrpSpPr/>
        <p:nvPr/>
      </p:nvGrpSpPr>
      <p:grpSpPr>
        <a:xfrm>
          <a:off x="0" y="0"/>
          <a:ext cx="0" cy="0"/>
          <a:chOff x="0" y="0"/>
          <a:chExt cx="0" cy="0"/>
        </a:xfrm>
      </p:grpSpPr>
      <p:sp>
        <p:nvSpPr>
          <p:cNvPr id="67" name="Google Shape;67;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conradsanderson.id.au/vidtimit/" TargetMode="External"/><Relationship Id="rId3" Type="http://schemas.openxmlformats.org/officeDocument/2006/relationships/hyperlink" Target="https://github.com/yuezunli/celeb-deepfakeforensics" TargetMode="External"/><Relationship Id="rId2" Type="http://schemas.openxmlformats.org/officeDocument/2006/relationships/hyperlink" Target="https://github.com/ondyari/FaceForensics#access" TargetMode="External"/><Relationship Id="rId1" Type="http://schemas.openxmlformats.org/officeDocument/2006/relationships/hyperlink" Target="https://www.kaggle.com/c/deepfake-detection-challenge" TargetMode="Externa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kaggle.com/c/fake-faces" TargetMode="External"/><Relationship Id="rId3" Type="http://schemas.openxmlformats.org/officeDocument/2006/relationships/hyperlink" Target="https://github.com/NVlabs/stylegan" TargetMode="External"/><Relationship Id="rId2" Type="http://schemas.openxmlformats.org/officeDocument/2006/relationships/hyperlink" Target="https://github.com/NVlabs/ffhq-dataset" TargetMode="External"/><Relationship Id="rId1" Type="http://schemas.openxmlformats.org/officeDocument/2006/relationships/hyperlink" Target="https://mmlab.ie.cuhk.edu.hk/projects/CelebA.html" TargetMode="Externa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openslr.org/12" TargetMode="External"/><Relationship Id="rId3" Type="http://schemas.openxmlformats.org/officeDocument/2006/relationships/hyperlink" Target="https://github.com/RUB-SysSec/WaveFake" TargetMode="External"/><Relationship Id="rId2" Type="http://schemas.openxmlformats.org/officeDocument/2006/relationships/hyperlink" Target="https://www.kaggle.com/datasets/mohammedabdeldayem/the-fake-or-real-dataset" TargetMode="External"/><Relationship Id="rId1" Type="http://schemas.openxmlformats.org/officeDocument/2006/relationships/hyperlink" Target="https://zenodo.org/record/483726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
          <p:cNvSpPr txBox="1"/>
          <p:nvPr/>
        </p:nvSpPr>
        <p:spPr>
          <a:xfrm>
            <a:off x="817320" y="4115875"/>
            <a:ext cx="5561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1"/>
          <p:cNvSpPr txBox="1"/>
          <p:nvPr/>
        </p:nvSpPr>
        <p:spPr>
          <a:xfrm>
            <a:off x="114963" y="2931057"/>
            <a:ext cx="6966414" cy="2583180"/>
          </a:xfrm>
          <a:prstGeom prst="rect">
            <a:avLst/>
          </a:prstGeom>
          <a:noFill/>
          <a:ln>
            <a:noFill/>
          </a:ln>
        </p:spPr>
        <p:txBody>
          <a:bodyPr spcFirstLastPara="1" wrap="square" lIns="91425" tIns="45700" rIns="91425" bIns="45700" anchor="t" anchorCtr="0">
            <a:spAutoFit/>
          </a:bodyPr>
          <a:lstStyle/>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Industry Oriented Mini Project</a:t>
            </a:r>
            <a:endParaRPr lang="en-GB" sz="3600" b="1" dirty="0">
              <a:solidFill>
                <a:schemeClr val="dk1"/>
              </a:solidFill>
              <a:latin typeface="Times New Roman" panose="02020603050405020304"/>
              <a:ea typeface="Times New Roman" panose="02020603050405020304"/>
              <a:cs typeface="Times New Roman" panose="02020603050405020304"/>
            </a:endParaRPr>
          </a:p>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MID- </a:t>
            </a:r>
            <a:r>
              <a:rPr lang="en-IN" altLang="en-GB" sz="3600" b="1" dirty="0">
                <a:solidFill>
                  <a:schemeClr val="dk1"/>
                </a:solidFill>
                <a:latin typeface="Times New Roman" panose="02020603050405020304"/>
                <a:ea typeface="Times New Roman" panose="02020603050405020304"/>
                <a:cs typeface="Times New Roman" panose="02020603050405020304"/>
              </a:rPr>
              <a:t>2 </a:t>
            </a:r>
            <a:r>
              <a:rPr lang="en-GB" sz="3600" b="1" dirty="0">
                <a:solidFill>
                  <a:schemeClr val="dk1"/>
                </a:solidFill>
                <a:latin typeface="Times New Roman" panose="02020603050405020304"/>
                <a:ea typeface="Times New Roman" panose="02020603050405020304"/>
                <a:cs typeface="Times New Roman" panose="02020603050405020304"/>
              </a:rPr>
              <a:t>REVIEW</a:t>
            </a:r>
            <a:endParaRPr lang="en-GB" sz="3600" b="1" dirty="0">
              <a:solidFill>
                <a:schemeClr val="dk1"/>
              </a:solidFill>
              <a:latin typeface="Times New Roman" panose="02020603050405020304"/>
              <a:ea typeface="Times New Roman" panose="02020603050405020304"/>
              <a:cs typeface="Times New Roman" panose="02020603050405020304"/>
            </a:endParaRPr>
          </a:p>
          <a:p>
            <a:pPr algn="ctr">
              <a:lnSpc>
                <a:spcPct val="150000"/>
              </a:lnSpc>
              <a:buSzPts val="2400"/>
            </a:pPr>
            <a:endParaRPr lang="en-GB" sz="3600" b="1" dirty="0">
              <a:solidFill>
                <a:schemeClr val="dk1"/>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79800" y="1340485"/>
            <a:ext cx="4064000" cy="953135"/>
          </a:xfrm>
          <a:prstGeom prst="rect">
            <a:avLst/>
          </a:prstGeom>
          <a:noFill/>
        </p:spPr>
        <p:txBody>
          <a:bodyPr wrap="square" rtlCol="0">
            <a:spAutoFit/>
          </a:bodyPr>
          <a:p>
            <a:r>
              <a:rPr lang="en-IN" altLang="en-US" sz="2800" b="1">
                <a:sym typeface="+mn-ea"/>
              </a:rPr>
              <a:t>           BATCH - 1</a:t>
            </a:r>
            <a:endParaRPr lang="en-IN" altLang="en-US" sz="2800" b="1"/>
          </a:p>
          <a:p>
            <a:endParaRPr lang="en-US" sz="2800" b="1"/>
          </a:p>
        </p:txBody>
      </p:sp>
      <p:sp>
        <p:nvSpPr>
          <p:cNvPr id="4" name="Text Box 3"/>
          <p:cNvSpPr txBox="1"/>
          <p:nvPr/>
        </p:nvSpPr>
        <p:spPr>
          <a:xfrm>
            <a:off x="2667635" y="2221230"/>
            <a:ext cx="6782435" cy="2853690"/>
          </a:xfrm>
          <a:prstGeom prst="rect">
            <a:avLst/>
          </a:prstGeom>
          <a:noFill/>
        </p:spPr>
        <p:txBody>
          <a:bodyPr wrap="square" rtlCol="0">
            <a:noAutofit/>
          </a:bodyPr>
          <a:p>
            <a:pPr marL="457200" marR="0" lvl="1" indent="0" algn="l" rtl="0">
              <a:lnSpc>
                <a:spcPct val="100000"/>
              </a:lnSpc>
              <a:spcBef>
                <a:spcPts val="0"/>
              </a:spcBef>
              <a:spcAft>
                <a:spcPts val="0"/>
              </a:spcAft>
              <a:buClr>
                <a:srgbClr val="000000"/>
              </a:buClr>
              <a:buSzPts val="2400"/>
              <a:buFont typeface="Arial" panose="020B06040202020202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Number</a:t>
            </a:r>
            <a:r>
              <a:rPr lang="en-IN" alt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Name of the Student</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1">
              <a:lnSpc>
                <a:spcPct val="150000"/>
              </a:lnSpc>
              <a:buClr>
                <a:schemeClr val="dk1"/>
              </a:buClr>
              <a:buSzPts val="2200"/>
            </a:pPr>
            <a:r>
              <a:rPr lang="en-IN" sz="2000" dirty="0">
                <a:effectLst/>
                <a:latin typeface="Times New Roman" panose="02020603050405020304" charset="0"/>
                <a:sym typeface="+mn-ea"/>
              </a:rPr>
              <a:t>       23QM1A6692              Peddina Venkat Kalyan</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23QM1A6681              </a:t>
            </a:r>
            <a:r>
              <a:rPr lang="en-IN" sz="2000" dirty="0" err="1">
                <a:effectLst/>
                <a:latin typeface="Times New Roman" panose="02020603050405020304" charset="0"/>
                <a:sym typeface="+mn-ea"/>
              </a:rPr>
              <a:t>Nallabolam</a:t>
            </a:r>
            <a:r>
              <a:rPr lang="en-IN" sz="2000" dirty="0">
                <a:effectLst/>
                <a:latin typeface="Times New Roman" panose="02020603050405020304" charset="0"/>
                <a:sym typeface="+mn-ea"/>
              </a:rPr>
              <a:t> Mounika</a:t>
            </a:r>
            <a:endParaRPr lang="en-IN" sz="2000" dirty="0">
              <a:solidFill>
                <a:schemeClr val="dk1"/>
              </a:solidFill>
              <a:effectLst/>
              <a:latin typeface="Calibri" panose="020F0502020204030204"/>
              <a:ea typeface="Calibri" panose="020F0502020204030204"/>
              <a:cs typeface="Calibri" panose="020F0502020204030204"/>
              <a:sym typeface="Calibri" panose="020F0502020204030204"/>
            </a:endParaRPr>
          </a:p>
          <a:p>
            <a:pPr lvl="1">
              <a:lnSpc>
                <a:spcPct val="150000"/>
              </a:lnSpc>
              <a:buClr>
                <a:schemeClr val="dk1"/>
              </a:buClr>
              <a:buSzPts val="2200"/>
            </a:pPr>
            <a:r>
              <a:rPr lang="en-IN" sz="2000" dirty="0">
                <a:effectLst/>
                <a:latin typeface="Times New Roman" panose="02020603050405020304" charset="0"/>
                <a:sym typeface="+mn-ea"/>
              </a:rPr>
              <a:t>       23QM1A6685              </a:t>
            </a:r>
            <a:r>
              <a:rPr lang="en-IN" sz="2000" dirty="0" err="1">
                <a:effectLst/>
                <a:latin typeface="Times New Roman" panose="02020603050405020304" charset="0"/>
                <a:sym typeface="+mn-ea"/>
              </a:rPr>
              <a:t>Panasa</a:t>
            </a:r>
            <a:r>
              <a:rPr lang="en-IN" sz="2000" dirty="0">
                <a:effectLst/>
                <a:latin typeface="Times New Roman" panose="02020603050405020304" charset="0"/>
                <a:sym typeface="+mn-ea"/>
              </a:rPr>
              <a:t> Chandra Kaushik Goud</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23QM1A6689              Patel Nanda Kishore Reddy</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13460" y="1790700"/>
            <a:ext cx="10231755" cy="2422525"/>
          </a:xfrm>
          <a:prstGeom prst="rect">
            <a:avLst/>
          </a:prstGeom>
          <a:noFill/>
        </p:spPr>
        <p:txBody>
          <a:bodyPr wrap="square" rtlCol="0">
            <a:noAutofit/>
          </a:bodyPr>
          <a:p>
            <a:r>
              <a:rPr lang="en-US" sz="3200" b="1" dirty="0" err="1">
                <a:latin typeface="Times New Roman" panose="02020603050405020304" charset="0"/>
                <a:cs typeface="Times New Roman" panose="02020603050405020304" charset="0"/>
                <a:sym typeface="+mn-ea"/>
              </a:rPr>
              <a:t>DeepShield</a:t>
            </a:r>
            <a:r>
              <a:rPr lang="en-US" sz="3200" b="1" dirty="0">
                <a:latin typeface="Times New Roman" panose="02020603050405020304" charset="0"/>
                <a:cs typeface="Times New Roman" panose="02020603050405020304" charset="0"/>
                <a:sym typeface="+mn-ea"/>
              </a:rPr>
              <a:t>: Multi-Modal AI-Based Deepfake Detection System for Identifying Fake Video, Audio, and Image Content</a:t>
            </a:r>
            <a:r>
              <a:rPr lang="en-US" b="1" dirty="0">
                <a:latin typeface="Times New Roman" panose="02020603050405020304" charset="0"/>
                <a:cs typeface="Times New Roman" panose="02020603050405020304" charset="0"/>
                <a:sym typeface="+mn-ea"/>
              </a:rPr>
              <a:t>.</a:t>
            </a:r>
            <a:endParaRPr lang="en-IN" b="1" dirty="0">
              <a:latin typeface="Times New Roman" panose="02020603050405020304" charset="0"/>
              <a:cs typeface="Times New Roman" panose="02020603050405020304" charset="0"/>
            </a:endParaRPr>
          </a:p>
          <a:p>
            <a:endParaRPr lang="en-US"/>
          </a:p>
        </p:txBody>
      </p:sp>
      <p:sp>
        <p:nvSpPr>
          <p:cNvPr id="6" name="Text Box 5"/>
          <p:cNvSpPr txBox="1"/>
          <p:nvPr/>
        </p:nvSpPr>
        <p:spPr>
          <a:xfrm>
            <a:off x="973455" y="433705"/>
            <a:ext cx="4064000" cy="107632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Title</a:t>
            </a:r>
            <a:endParaRPr lang="en-US" sz="3200" b="1" dirty="0">
              <a:latin typeface="Times New Roman" panose="02020603050405020304" charset="0"/>
              <a:cs typeface="Times New Roman" panose="02020603050405020304" charset="0"/>
            </a:endParaRPr>
          </a:p>
          <a:p>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rot="10800000" flipV="1">
            <a:off x="956422" y="1230796"/>
            <a:ext cx="10852120" cy="500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22" tIns="-7935" rIns="-9522" bIns="-7935" numCol="1" anchor="ctr" anchorCtr="0" compatLnSpc="1">
            <a:spAutoFit/>
          </a:bodyPr>
          <a:lstStyle/>
          <a:p>
            <a:pPr marL="0" indent="0" algn="just">
              <a:lnSpc>
                <a:spcPct val="150000"/>
              </a:lnSpc>
              <a:buNone/>
            </a:pPr>
            <a:r>
              <a:rPr lang="en-US" sz="2200" dirty="0">
                <a:latin typeface="Times New Roman" panose="02020603050405020304" charset="0"/>
                <a:cs typeface="Times New Roman" panose="02020603050405020304" charset="0"/>
              </a:rPr>
              <a:t>We are living in a time where seeing is no longer believing. With the rapid growth of generative AI, it has become easy to create highly realistic fake videos, images, and audio. While this technology has many positive uses, it is also being misused for spreading misinformation, committing fraud, and stealing identities. The main challenge is that humans can no longer reliably distinguish between real and fake content. Therefore, there is a strong need for an automated system to detect such content and restore trust in digital media.</a:t>
            </a:r>
            <a:endParaRPr lang="en-US" sz="2200" dirty="0">
              <a:latin typeface="Times New Roman" panose="02020603050405020304" charset="0"/>
              <a:cs typeface="Times New Roman" panose="02020603050405020304" charset="0"/>
            </a:endParaRPr>
          </a:p>
          <a:p>
            <a:pPr algn="just">
              <a:lnSpc>
                <a:spcPct val="150000"/>
              </a:lnSpc>
            </a:pPr>
            <a:r>
              <a:rPr lang="en-US" sz="2200" b="1" u="sng" dirty="0">
                <a:solidFill>
                  <a:srgbClr val="7030A0"/>
                </a:solidFill>
                <a:latin typeface="Times New Roman" panose="02020603050405020304" charset="0"/>
                <a:cs typeface="Times New Roman" panose="02020603050405020304" charset="0"/>
              </a:rPr>
              <a:t>Core Problem</a:t>
            </a:r>
            <a:endParaRPr lang="en-US" sz="2200" b="1" u="sng" dirty="0">
              <a:solidFill>
                <a:srgbClr val="7030A0"/>
              </a:solidFill>
              <a:latin typeface="Times New Roman" panose="02020603050405020304" charset="0"/>
              <a:cs typeface="Times New Roman" panose="02020603050405020304" charset="0"/>
            </a:endParaRP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Lack of an intelligent, automated system to detect and classify deepfake content efficiently </a:t>
            </a:r>
            <a:endParaRPr lang="en-US" sz="2200" dirty="0">
              <a:latin typeface="Times New Roman" panose="02020603050405020304" charset="0"/>
              <a:cs typeface="Times New Roman" panose="02020603050405020304" charset="0"/>
            </a:endParaRP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Absence of a unified solution that can handle </a:t>
            </a:r>
            <a:r>
              <a:rPr lang="en-US" sz="2200" b="1" dirty="0">
                <a:latin typeface="Times New Roman" panose="02020603050405020304" charset="0"/>
                <a:cs typeface="Times New Roman" panose="02020603050405020304" charset="0"/>
              </a:rPr>
              <a:t>multiple media types (video, image, audio)</a:t>
            </a:r>
            <a:endParaRPr lang="en-US" sz="2200" dirty="0">
              <a:latin typeface="Times New Roman" panose="02020603050405020304" charset="0"/>
              <a:cs typeface="Times New Roman" panose="02020603050405020304" charset="0"/>
            </a:endParaRPr>
          </a:p>
          <a:p>
            <a:pPr marL="0" indent="0" algn="just">
              <a:lnSpc>
                <a:spcPct val="150000"/>
              </a:lnSpc>
              <a:buNone/>
            </a:pPr>
            <a:endParaRPr lang="en-US" sz="2200" dirty="0">
              <a:latin typeface="Times New Roman" panose="02020603050405020304" charset="0"/>
              <a:ea typeface="Tahoma" panose="020B0604030504040204" pitchFamily="34" charset="0"/>
              <a:cs typeface="Times New Roman" panose="02020603050405020304" charset="0"/>
            </a:endParaRPr>
          </a:p>
        </p:txBody>
      </p:sp>
      <p:sp>
        <p:nvSpPr>
          <p:cNvPr id="5" name="TextBox 4"/>
          <p:cNvSpPr txBox="1"/>
          <p:nvPr/>
        </p:nvSpPr>
        <p:spPr>
          <a:xfrm>
            <a:off x="865239" y="433157"/>
            <a:ext cx="4359451" cy="584775"/>
          </a:xfrm>
          <a:prstGeom prst="rect">
            <a:avLst/>
          </a:prstGeom>
          <a:noFill/>
        </p:spPr>
        <p:txBody>
          <a:bodyPr wrap="square" rtlCol="0">
            <a:spAutoFit/>
          </a:bodyPr>
          <a:lstStyle/>
          <a:p>
            <a:r>
              <a:rPr lang="en-US" sz="3200" b="1" dirty="0">
                <a:latin typeface="Times New Roman" panose="02020603050405020304" charset="0"/>
                <a:cs typeface="Times New Roman" panose="02020603050405020304" charset="0"/>
              </a:rPr>
              <a:t>Problem Identification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990600" y="1591323"/>
            <a:ext cx="103759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a:lnSpc>
                <a:spcPct val="150000"/>
              </a:lnSpc>
              <a:buNone/>
            </a:pPr>
            <a:r>
              <a:rPr lang="en-US" sz="2400" dirty="0">
                <a:latin typeface="Times New Roman" panose="02020603050405020304" charset="0"/>
                <a:cs typeface="Times New Roman" panose="02020603050405020304" charset="0"/>
              </a:rPr>
              <a:t>Our goal is to design, train, and deploy an intelligent system that acts as a digital forensic expert. The system will automatically analyze incoming media—whether it's an image, an audio clip, or a video—and determine its authenticity. By examining subtle, invisible artifacts left behind by AI generators, the system will output a definitive "real or fake" confidence score, empowering users to verify media instantly.</a:t>
            </a:r>
            <a:endParaRPr lang="en-US" sz="2400" dirty="0">
              <a:latin typeface="Times New Roman" panose="02020603050405020304" charset="0"/>
              <a:cs typeface="Times New Roman" panose="02020603050405020304" charset="0"/>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2400" i="0" u="none" strike="noStrike" cap="none" normalizeH="0" baseline="0" dirty="0">
              <a:ln>
                <a:noFill/>
              </a:ln>
              <a:solidFill>
                <a:schemeClr val="tx1"/>
              </a:solidFill>
              <a:effectLst/>
              <a:latin typeface="Times New Roman" panose="02020603050405020304" charset="0"/>
              <a:cs typeface="Times New Roman" panose="02020603050405020304" charset="0"/>
            </a:endParaRPr>
          </a:p>
        </p:txBody>
      </p:sp>
      <p:sp>
        <p:nvSpPr>
          <p:cNvPr id="4" name="TextBox 3"/>
          <p:cNvSpPr txBox="1"/>
          <p:nvPr/>
        </p:nvSpPr>
        <p:spPr>
          <a:xfrm>
            <a:off x="990600" y="440425"/>
            <a:ext cx="2031325" cy="584775"/>
          </a:xfrm>
          <a:prstGeom prst="rect">
            <a:avLst/>
          </a:prstGeom>
          <a:noFill/>
        </p:spPr>
        <p:txBody>
          <a:bodyPr wrap="none" rtlCol="0">
            <a:spAutoFit/>
          </a:bodyPr>
          <a:lstStyle/>
          <a:p>
            <a:r>
              <a:rPr lang="en-US" sz="3200" b="1" dirty="0">
                <a:latin typeface="Times New Roman" panose="02020603050405020304" charset="0"/>
                <a:cs typeface="Times New Roman" panose="02020603050405020304" charset="0"/>
              </a:rPr>
              <a:t>Objectives</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215763" y="442987"/>
            <a:ext cx="4190959" cy="452755"/>
          </a:xfrm>
          <a:prstGeom prst="rect">
            <a:avLst/>
          </a:prstGeom>
          <a:noFill/>
        </p:spPr>
        <p:txBody>
          <a:bodyPr wrap="square" rtlCol="0">
            <a:noAutofit/>
          </a:bodyPr>
          <a:lstStyle/>
          <a:p>
            <a:r>
              <a:rPr lang="en-IN" sz="3200" b="1" dirty="0">
                <a:latin typeface="Times New Roman" panose="02020603050405020304" charset="0"/>
                <a:ea typeface="Tahoma" panose="020B0604030504040204" pitchFamily="34" charset="0"/>
                <a:cs typeface="Times New Roman" panose="02020603050405020304" charset="0"/>
              </a:rPr>
              <a:t>Literature Survey</a:t>
            </a:r>
            <a:endParaRPr lang="en-IN" sz="3200" b="1" dirty="0">
              <a:latin typeface="Times New Roman" panose="02020603050405020304" charset="0"/>
              <a:ea typeface="Tahoma" panose="020B0604030504040204" pitchFamily="34" charset="0"/>
              <a:cs typeface="Times New Roman" panose="02020603050405020304" charset="0"/>
            </a:endParaRPr>
          </a:p>
          <a:p>
            <a:endParaRPr lang="en-US" sz="20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 4"/>
          <p:cNvGraphicFramePr>
            <a:graphicFrameLocks noGrp="1"/>
          </p:cNvGraphicFramePr>
          <p:nvPr/>
        </p:nvGraphicFramePr>
        <p:xfrm>
          <a:off x="923958" y="1323521"/>
          <a:ext cx="10694766" cy="4607071"/>
        </p:xfrm>
        <a:graphic>
          <a:graphicData uri="http://schemas.openxmlformats.org/drawingml/2006/table">
            <a:tbl>
              <a:tblPr firstRow="1" bandRow="1">
                <a:tableStyleId>{5940675A-B579-460E-94D1-54222C63F5DA}</a:tableStyleId>
              </a:tblPr>
              <a:tblGrid>
                <a:gridCol w="677332"/>
                <a:gridCol w="2281924"/>
                <a:gridCol w="736007"/>
                <a:gridCol w="859802"/>
                <a:gridCol w="1981200"/>
                <a:gridCol w="2218267"/>
                <a:gridCol w="1940234"/>
              </a:tblGrid>
              <a:tr h="582827">
                <a:tc>
                  <a:txBody>
                    <a:bodyPr/>
                    <a:lstStyle/>
                    <a:p>
                      <a:pPr algn="ctr">
                        <a:defRPr sz="900" b="1">
                          <a:solidFill>
                            <a:srgbClr val="FFFFFF"/>
                          </a:solidFill>
                        </a:defRPr>
                      </a:pPr>
                      <a:r>
                        <a:rPr sz="1600" dirty="0" err="1">
                          <a:latin typeface="Times New Roman" panose="02020603050405020304" charset="0"/>
                          <a:cs typeface="Times New Roman" panose="02020603050405020304" charset="0"/>
                        </a:rPr>
                        <a:t>S.No</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Paper Title</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Year</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Journal</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Methodology/Algorithm</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Finding</a:t>
                      </a:r>
                      <a:endParaRPr sz="1600" dirty="0">
                        <a:latin typeface="Times New Roman" panose="02020603050405020304" charset="0"/>
                        <a:cs typeface="Times New Roman" panose="02020603050405020304" charset="0"/>
                      </a:endParaRPr>
                    </a:p>
                  </a:txBody>
                  <a:tcPr anchor="ctr">
                    <a:solidFill>
                      <a:srgbClr val="7030A0"/>
                    </a:solidFill>
                  </a:tcPr>
                </a:tc>
                <a:tc>
                  <a:txBody>
                    <a:bodyPr/>
                    <a:lstStyle/>
                    <a:p>
                      <a:pPr algn="ctr">
                        <a:defRPr sz="900" b="1">
                          <a:solidFill>
                            <a:srgbClr val="FFFFFF"/>
                          </a:solidFill>
                        </a:defRPr>
                      </a:pPr>
                      <a:r>
                        <a:rPr sz="1600" dirty="0">
                          <a:latin typeface="Times New Roman" panose="02020603050405020304" charset="0"/>
                          <a:cs typeface="Times New Roman" panose="02020603050405020304" charset="0"/>
                        </a:rPr>
                        <a:t>Drawback</a:t>
                      </a:r>
                      <a:endParaRPr sz="1600" dirty="0">
                        <a:latin typeface="Times New Roman" panose="02020603050405020304" charset="0"/>
                        <a:cs typeface="Times New Roman" panose="02020603050405020304" charset="0"/>
                      </a:endParaRPr>
                    </a:p>
                  </a:txBody>
                  <a:tcPr anchor="ctr">
                    <a:solidFill>
                      <a:srgbClr val="7030A0"/>
                    </a:solidFill>
                  </a:tcPr>
                </a:tc>
              </a:tr>
              <a:tr h="1340037">
                <a:tc>
                  <a:txBody>
                    <a:bodyPr/>
                    <a:lstStyle/>
                    <a:p>
                      <a:pPr>
                        <a:defRPr sz="800">
                          <a:solidFill>
                            <a:srgbClr val="323232"/>
                          </a:solidFill>
                        </a:defRPr>
                      </a:pPr>
                      <a:r>
                        <a:rPr lang="en-US" sz="1800" dirty="0">
                          <a:latin typeface="Times New Roman" panose="02020603050405020304" charset="0"/>
                          <a:cs typeface="Times New Roman" panose="02020603050405020304" charset="0"/>
                        </a:rPr>
                        <a:t>1</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MTCNN: Joint Face Detection and Alignment</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2016</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IEEE</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Cascaded CNNs, Multi-task Learning</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Robust face detection under varying poses and lighting</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Slow inference time for real-time applications</a:t>
                      </a:r>
                      <a:endParaRPr sz="1800" dirty="0">
                        <a:latin typeface="Times New Roman" panose="02020603050405020304" charset="0"/>
                        <a:cs typeface="Times New Roman" panose="02020603050405020304" charset="0"/>
                      </a:endParaRPr>
                    </a:p>
                  </a:txBody>
                  <a:tcPr anchor="ctr"/>
                </a:tc>
              </a:tr>
              <a:tr h="1332175">
                <a:tc>
                  <a:txBody>
                    <a:bodyPr/>
                    <a:lstStyle/>
                    <a:p>
                      <a:pPr marR="0" algn="l" rtl="0" fontAlgn="ctr">
                        <a:spcBef>
                          <a:spcPts val="0"/>
                        </a:spcBef>
                        <a:spcAft>
                          <a:spcPts val="0"/>
                        </a:spcAft>
                      </a:pPr>
                      <a:r>
                        <a:rPr lang="en-US" sz="1800" b="0" i="0" u="none" strike="noStrike" dirty="0">
                          <a:solidFill>
                            <a:srgbClr val="323232"/>
                          </a:solidFill>
                          <a:effectLst/>
                          <a:latin typeface="Times New Roman" panose="02020603050405020304" charset="0"/>
                          <a:cs typeface="Times New Roman" panose="02020603050405020304" charset="0"/>
                        </a:rPr>
                        <a:t>2</a:t>
                      </a:r>
                      <a:endParaRPr lang="en-IN" sz="1800" b="0" i="0" u="none" strike="noStrike" dirty="0">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dirty="0" err="1">
                          <a:solidFill>
                            <a:srgbClr val="323232"/>
                          </a:solidFill>
                          <a:effectLst/>
                          <a:latin typeface="Times New Roman" panose="02020603050405020304" charset="0"/>
                          <a:cs typeface="Times New Roman" panose="02020603050405020304" charset="0"/>
                        </a:rPr>
                        <a:t>FaceForensics</a:t>
                      </a:r>
                      <a:r>
                        <a:rPr lang="en-US" sz="1800" b="0" i="0" u="none" strike="noStrike" dirty="0">
                          <a:solidFill>
                            <a:srgbClr val="323232"/>
                          </a:solidFill>
                          <a:effectLst/>
                          <a:latin typeface="Times New Roman" panose="02020603050405020304" charset="0"/>
                          <a:cs typeface="Times New Roman" panose="02020603050405020304" charset="0"/>
                        </a:rPr>
                        <a:t>++: Learning to Detect Manipulated Facial Images</a:t>
                      </a:r>
                      <a:endParaRPr lang="en-US" sz="1800" b="0" i="0" u="none" strike="noStrike" dirty="0">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2019</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ICCV</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IN" sz="1800" b="0" i="0" u="none" strike="noStrike">
                          <a:solidFill>
                            <a:srgbClr val="323232"/>
                          </a:solidFill>
                          <a:effectLst/>
                          <a:latin typeface="Times New Roman" panose="02020603050405020304" charset="0"/>
                          <a:cs typeface="Times New Roman" panose="02020603050405020304" charset="0"/>
                        </a:rPr>
                        <a:t>CNN, Compression</a:t>
                      </a:r>
                      <a:endParaRPr lang="en-IN"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a:solidFill>
                            <a:srgbClr val="323232"/>
                          </a:solidFill>
                          <a:effectLst/>
                          <a:latin typeface="Times New Roman" panose="02020603050405020304" charset="0"/>
                          <a:cs typeface="Times New Roman" panose="02020603050405020304" charset="0"/>
                        </a:rPr>
                        <a:t>High accuracy detection across multiple manipulation methods</a:t>
                      </a:r>
                      <a:endParaRPr lang="en-US" sz="1800" b="0" i="0" u="none" strike="noStrike">
                        <a:effectLst/>
                        <a:latin typeface="Arial" panose="020B0604020202020204" pitchFamily="34" charset="0"/>
                      </a:endParaRPr>
                    </a:p>
                  </a:txBody>
                  <a:tcPr anchor="ctr"/>
                </a:tc>
                <a:tc>
                  <a:txBody>
                    <a:bodyPr/>
                    <a:lstStyle/>
                    <a:p>
                      <a:pPr marR="0" algn="l" rtl="0" fontAlgn="ctr">
                        <a:spcBef>
                          <a:spcPts val="0"/>
                        </a:spcBef>
                        <a:spcAft>
                          <a:spcPts val="0"/>
                        </a:spcAft>
                      </a:pPr>
                      <a:r>
                        <a:rPr lang="en-US" sz="1800" b="0" i="0" u="none" strike="noStrike" dirty="0">
                          <a:solidFill>
                            <a:srgbClr val="323232"/>
                          </a:solidFill>
                          <a:effectLst/>
                          <a:latin typeface="Times New Roman" panose="02020603050405020304" charset="0"/>
                          <a:cs typeface="Times New Roman" panose="02020603050405020304" charset="0"/>
                        </a:rPr>
                        <a:t>Limited to compressed videos, requires large dataset</a:t>
                      </a:r>
                      <a:endParaRPr lang="en-US" sz="1800" b="0" i="0" u="none" strike="noStrike" dirty="0">
                        <a:effectLst/>
                        <a:latin typeface="Arial" panose="020B0604020202020204" pitchFamily="34" charset="0"/>
                      </a:endParaRPr>
                    </a:p>
                  </a:txBody>
                  <a:tcPr anchor="ctr"/>
                </a:tc>
              </a:tr>
              <a:tr h="1352032">
                <a:tc>
                  <a:txBody>
                    <a:bodyPr/>
                    <a:lstStyle/>
                    <a:p>
                      <a:pPr>
                        <a:defRPr sz="800">
                          <a:solidFill>
                            <a:srgbClr val="323232"/>
                          </a:solidFill>
                        </a:defRPr>
                      </a:pPr>
                      <a:r>
                        <a:rPr sz="1800">
                          <a:latin typeface="Times New Roman" panose="02020603050405020304" charset="0"/>
                          <a:cs typeface="Times New Roman" panose="02020603050405020304" charset="0"/>
                        </a:rPr>
                        <a:t>3</a:t>
                      </a:r>
                      <a:endParaRPr sz="180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EfficientNetV2: Smaller Models and Faster Training</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2021</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ICML</a:t>
                      </a:r>
                      <a:endParaRPr sz="180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Compound Scaling, NAS, Progressive Learning</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Better accuracy with fewer parameters and faster training</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High computational cost for larger variants</a:t>
                      </a:r>
                      <a:endParaRPr sz="1800" dirty="0">
                        <a:latin typeface="Times New Roman" panose="02020603050405020304" charset="0"/>
                        <a:cs typeface="Times New Roman" panose="02020603050405020304" charset="0"/>
                      </a:endParaRPr>
                    </a:p>
                  </a:txBody>
                  <a:tcPr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44679" y="1845289"/>
          <a:ext cx="10370575" cy="3291840"/>
        </p:xfrm>
        <a:graphic>
          <a:graphicData uri="http://schemas.openxmlformats.org/drawingml/2006/table">
            <a:tbl>
              <a:tblPr bandRow="1">
                <a:tableStyleId>{5940675A-B579-460E-94D1-54222C63F5DA}</a:tableStyleId>
              </a:tblPr>
              <a:tblGrid>
                <a:gridCol w="549619"/>
                <a:gridCol w="2282053"/>
                <a:gridCol w="681163"/>
                <a:gridCol w="1220364"/>
                <a:gridCol w="1978770"/>
                <a:gridCol w="1834685"/>
                <a:gridCol w="1823921"/>
              </a:tblGrid>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4</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Deepfake Detection Using CNN and LSTM</a:t>
                      </a:r>
                      <a:endParaRPr sz="1800" b="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a:latin typeface="Times New Roman" panose="02020603050405020304" charset="0"/>
                          <a:cs typeface="Times New Roman" panose="02020603050405020304" charset="0"/>
                        </a:rPr>
                        <a:t>2021</a:t>
                      </a:r>
                      <a:endParaRPr sz="1800" b="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IEEE Access</a:t>
                      </a:r>
                      <a:endParaRPr sz="1800" b="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CNN, LSTM, Temporal Features</a:t>
                      </a:r>
                      <a:endParaRPr sz="1800" b="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Captures temporal inconsistencies in videos</a:t>
                      </a:r>
                      <a:endParaRPr sz="1800" b="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b="0" dirty="0">
                          <a:latin typeface="Times New Roman" panose="02020603050405020304" charset="0"/>
                          <a:cs typeface="Times New Roman" panose="02020603050405020304" charset="0"/>
                        </a:rPr>
                        <a:t>Computationally expensive for long videos</a:t>
                      </a:r>
                      <a:endParaRPr sz="1800" b="0" dirty="0">
                        <a:latin typeface="Times New Roman" panose="02020603050405020304" charset="0"/>
                        <a:cs typeface="Times New Roman" panose="02020603050405020304" charset="0"/>
                      </a:endParaRPr>
                    </a:p>
                  </a:txBody>
                  <a:tcPr anchor="ctr"/>
                </a:tc>
              </a:tr>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5</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Audio Deepfake Detection Using Spectrograms</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2022</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Interspace</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CNN, Spectrogram Analysis, MFCC</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Effective detection of synthetic audio</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Requires high-quality audio samples</a:t>
                      </a:r>
                      <a:endParaRPr sz="1800" dirty="0">
                        <a:latin typeface="Times New Roman" panose="02020603050405020304" charset="0"/>
                        <a:cs typeface="Times New Roman" panose="02020603050405020304" charset="0"/>
                      </a:endParaRPr>
                    </a:p>
                  </a:txBody>
                  <a:tcPr anchor="ctr"/>
                </a:tc>
              </a:tr>
              <a:tr h="618922">
                <a:tc>
                  <a:txBody>
                    <a:bodyPr/>
                    <a:lstStyle/>
                    <a:p>
                      <a:pPr>
                        <a:defRPr sz="800">
                          <a:solidFill>
                            <a:srgbClr val="323232"/>
                          </a:solidFill>
                        </a:defRPr>
                      </a:pPr>
                      <a:r>
                        <a:rPr lang="en-IN" sz="1800" b="1" dirty="0">
                          <a:latin typeface="Times New Roman" panose="02020603050405020304" charset="0"/>
                          <a:cs typeface="Times New Roman" panose="02020603050405020304" charset="0"/>
                        </a:rPr>
                        <a:t>6</a:t>
                      </a:r>
                      <a:endParaRPr sz="1800" b="1"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Multi-modal Deepfake Detection System</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2023</a:t>
                      </a:r>
                      <a:endParaRPr sz="180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arXiv</a:t>
                      </a:r>
                      <a:endParaRPr sz="180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a:latin typeface="Times New Roman" panose="02020603050405020304" charset="0"/>
                          <a:cs typeface="Times New Roman" panose="02020603050405020304" charset="0"/>
                        </a:rPr>
                        <a:t>EfficientNet, MTCNN, Fusion</a:t>
                      </a:r>
                      <a:endParaRPr sz="180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Combined video-audio analysis improves accuracy</a:t>
                      </a:r>
                      <a:endParaRPr sz="1800" dirty="0">
                        <a:latin typeface="Times New Roman" panose="02020603050405020304" charset="0"/>
                        <a:cs typeface="Times New Roman" panose="02020603050405020304" charset="0"/>
                      </a:endParaRPr>
                    </a:p>
                  </a:txBody>
                  <a:tcPr anchor="ctr"/>
                </a:tc>
                <a:tc>
                  <a:txBody>
                    <a:bodyPr/>
                    <a:lstStyle/>
                    <a:p>
                      <a:pPr>
                        <a:defRPr sz="800">
                          <a:solidFill>
                            <a:srgbClr val="323232"/>
                          </a:solidFill>
                        </a:defRPr>
                      </a:pPr>
                      <a:r>
                        <a:rPr sz="1800" dirty="0">
                          <a:latin typeface="Times New Roman" panose="02020603050405020304" charset="0"/>
                          <a:cs typeface="Times New Roman" panose="02020603050405020304" charset="0"/>
                        </a:rPr>
                        <a:t>Complex architecture, resource intensive</a:t>
                      </a:r>
                      <a:endParaRPr sz="1800" dirty="0">
                        <a:latin typeface="Times New Roman" panose="02020603050405020304" charset="0"/>
                        <a:cs typeface="Times New Roman" panose="02020603050405020304" charset="0"/>
                      </a:endParaRP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84775"/>
          </a:xfrm>
          <a:prstGeom prst="rect">
            <a:avLst/>
          </a:prstGeom>
          <a:noFill/>
        </p:spPr>
        <p:txBody>
          <a:bodyPr wrap="square" rtlCol="0">
            <a:spAutoFit/>
          </a:bodyPr>
          <a:lstStyle/>
          <a:p>
            <a:r>
              <a:rPr lang="en-IN" sz="3200" b="1" dirty="0">
                <a:latin typeface="Times New Roman" panose="02020603050405020304" charset="0"/>
                <a:cs typeface="Times New Roman" panose="02020603050405020304" charset="0"/>
              </a:rPr>
              <a:t>Dataset Identification (Video Datasets)</a:t>
            </a:r>
            <a:endParaRPr lang="en-IN" sz="3200" b="1" dirty="0"/>
          </a:p>
        </p:txBody>
      </p:sp>
      <p:graphicFrame>
        <p:nvGraphicFramePr>
          <p:cNvPr id="3" name="Table 2"/>
          <p:cNvGraphicFramePr>
            <a:graphicFrameLocks noGrp="1"/>
          </p:cNvGraphicFramePr>
          <p:nvPr/>
        </p:nvGraphicFramePr>
        <p:xfrm>
          <a:off x="975946" y="1172585"/>
          <a:ext cx="10409809" cy="4868688"/>
        </p:xfrm>
        <a:graphic>
          <a:graphicData uri="http://schemas.openxmlformats.org/drawingml/2006/table">
            <a:tbl>
              <a:tblPr firstRow="1" bandRow="1">
                <a:tableStyleId>{5940675A-B579-460E-94D1-54222C63F5DA}</a:tableStyleId>
              </a:tblPr>
              <a:tblGrid>
                <a:gridCol w="1812193"/>
                <a:gridCol w="1570501"/>
                <a:gridCol w="2580640"/>
                <a:gridCol w="2245360"/>
                <a:gridCol w="2201115"/>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r>
              <a:tr h="934165">
                <a:tc>
                  <a:txBody>
                    <a:bodyPr/>
                    <a:lstStyle/>
                    <a:p>
                      <a:r>
                        <a:rPr lang="en-IN" sz="1600" b="1" dirty="0">
                          <a:latin typeface="Times New Roman" panose="02020603050405020304" charset="0"/>
                          <a:cs typeface="Times New Roman" panose="02020603050405020304" charset="0"/>
                        </a:rPr>
                        <a:t>DFDC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Kaggle</a:t>
                      </a:r>
                      <a:endParaRPr lang="en-IN" sz="1600" dirty="0">
                        <a:latin typeface="Times New Roman" panose="0202060305040502030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Large-scale dataset containing real and deepfake videos; considered a gold standard benchmark</a:t>
                      </a:r>
                      <a:endParaRPr lang="en-US" sz="1600" dirty="0">
                        <a:latin typeface="Times New Roman" panose="0202060305040502030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Train and evaluate deepfake detection models on diverse, real-world data</a:t>
                      </a:r>
                      <a:endParaRPr lang="en-US"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1"/>
                        </a:rPr>
                        <a:t>https://www.kaggle.com/c/deepfake-detection-challenge</a:t>
                      </a:r>
                      <a:endParaRPr lang="en-IN" sz="1600" dirty="0">
                        <a:latin typeface="Times New Roman" panose="02020603050405020304" charset="0"/>
                        <a:cs typeface="Times New Roman" panose="02020603050405020304" charset="0"/>
                      </a:endParaRPr>
                    </a:p>
                  </a:txBody>
                  <a:tcPr anchor="ctr"/>
                </a:tc>
              </a:tr>
              <a:tr h="1417815">
                <a:tc>
                  <a:txBody>
                    <a:bodyPr/>
                    <a:lstStyle/>
                    <a:p>
                      <a:r>
                        <a:rPr lang="en-IN" sz="1600" b="1" dirty="0" err="1">
                          <a:latin typeface="Times New Roman" panose="02020603050405020304" charset="0"/>
                          <a:cs typeface="Times New Roman" panose="02020603050405020304" charset="0"/>
                        </a:rPr>
                        <a:t>FaceForensics</a:t>
                      </a:r>
                      <a:r>
                        <a:rPr lang="en-IN" sz="1600" b="1" dirty="0">
                          <a:latin typeface="Times New Roman" panose="02020603050405020304" charset="0"/>
                          <a:cs typeface="Times New Roman" panose="02020603050405020304" charset="0"/>
                        </a:rPr>
                        <a:t>++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Technical University of Munich</a:t>
                      </a:r>
                      <a:endParaRPr lang="en-IN" sz="1600" dirty="0">
                        <a:latin typeface="Times New Roman" panose="0202060305040502030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Dataset with multiple types of facial manipulations (Deepfakes, FaceSwap, Face2Face, NeuralTextures)</a:t>
                      </a:r>
                      <a:endParaRPr lang="en-US"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Test and benchmark face manipulation detection techniques</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2"/>
                        </a:rPr>
                        <a:t>https://github.com/ondyari/FaceForensics#access</a:t>
                      </a:r>
                      <a:endParaRPr lang="en-IN" sz="1600" dirty="0">
                        <a:latin typeface="Times New Roman" panose="02020603050405020304" charset="0"/>
                        <a:cs typeface="Times New Roman" panose="02020603050405020304" charset="0"/>
                      </a:endParaRPr>
                    </a:p>
                  </a:txBody>
                  <a:tcPr anchor="ctr"/>
                </a:tc>
              </a:tr>
              <a:tr h="845236">
                <a:tc>
                  <a:txBody>
                    <a:bodyPr/>
                    <a:lstStyle/>
                    <a:p>
                      <a:r>
                        <a:rPr lang="en-IN" sz="1600" b="1">
                          <a:latin typeface="Times New Roman" panose="02020603050405020304" charset="0"/>
                          <a:cs typeface="Times New Roman" panose="02020603050405020304" charset="0"/>
                        </a:rPr>
                        <a:t>Celeb-DF (Video)</a:t>
                      </a:r>
                      <a:endParaRPr lang="en-IN"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University at Buffalo</a:t>
                      </a:r>
                      <a:endParaRPr lang="en-IN" sz="1600" dirty="0">
                        <a:latin typeface="Times New Roman" panose="0202060305040502030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High-quality deepfake videos with minimal visible artifacts</a:t>
                      </a:r>
                      <a:endParaRPr lang="en-US" sz="1600">
                        <a:latin typeface="Times New Roman" panose="0202060305040502030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Evaluate model performance on realistic and hard-to-detect deepfakes</a:t>
                      </a:r>
                      <a:endParaRPr lang="en-US" sz="1600" dirty="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3"/>
                        </a:rPr>
                        <a:t>https://github.com/yuezunli/celeb-deepfakeforensics</a:t>
                      </a:r>
                      <a:endParaRPr lang="en-IN" sz="1600">
                        <a:latin typeface="Times New Roman" panose="02020603050405020304" charset="0"/>
                        <a:cs typeface="Times New Roman" panose="02020603050405020304" charset="0"/>
                      </a:endParaRPr>
                    </a:p>
                  </a:txBody>
                  <a:tcPr anchor="ctr"/>
                </a:tc>
              </a:tr>
              <a:tr h="941312">
                <a:tc>
                  <a:txBody>
                    <a:bodyPr/>
                    <a:lstStyle/>
                    <a:p>
                      <a:r>
                        <a:rPr lang="en-IN" sz="1600">
                          <a:latin typeface="Times New Roman" panose="02020603050405020304" charset="0"/>
                          <a:cs typeface="Times New Roman" panose="02020603050405020304" charset="0"/>
                        </a:rPr>
                        <a:t>DeepFakeTIMIT</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University of Naples</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Low &amp; high-quality deepfake videos</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Evaluate model robustness</a:t>
                      </a:r>
                      <a:endParaRPr lang="en-IN"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4"/>
                        </a:rPr>
                        <a:t>https://conradsanderson.id.au/vidtimit/</a:t>
                      </a:r>
                      <a:endParaRPr lang="en-IN" sz="1600" dirty="0">
                        <a:latin typeface="Times New Roman" panose="02020603050405020304" charset="0"/>
                        <a:cs typeface="Times New Roman" panose="02020603050405020304" charset="0"/>
                      </a:endParaRPr>
                    </a:p>
                  </a:txBody>
                  <a:tcPr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Identification(Image Datasets)</a:t>
            </a:r>
            <a:endParaRPr lang="en-IN" sz="2800" b="1" dirty="0">
              <a:latin typeface="Times New Roman" panose="02020603050405020304" charset="0"/>
              <a:cs typeface="Times New Roman" panose="02020603050405020304" charset="0"/>
            </a:endParaRPr>
          </a:p>
        </p:txBody>
      </p:sp>
      <p:graphicFrame>
        <p:nvGraphicFramePr>
          <p:cNvPr id="3" name="Table 2"/>
          <p:cNvGraphicFramePr>
            <a:graphicFrameLocks noGrp="1"/>
          </p:cNvGraphicFramePr>
          <p:nvPr/>
        </p:nvGraphicFramePr>
        <p:xfrm>
          <a:off x="1004854" y="1172585"/>
          <a:ext cx="10380901" cy="4514489"/>
        </p:xfrm>
        <a:graphic>
          <a:graphicData uri="http://schemas.openxmlformats.org/drawingml/2006/table">
            <a:tbl>
              <a:tblPr firstRow="1" bandRow="1">
                <a:tableStyleId>{5940675A-B579-460E-94D1-54222C63F5DA}</a:tableStyleId>
              </a:tblPr>
              <a:tblGrid>
                <a:gridCol w="1879023"/>
                <a:gridCol w="1474763"/>
                <a:gridCol w="2580640"/>
                <a:gridCol w="2245360"/>
                <a:gridCol w="2201115"/>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r>
              <a:tr h="934165">
                <a:tc>
                  <a:txBody>
                    <a:bodyPr/>
                    <a:lstStyle/>
                    <a:p>
                      <a:r>
                        <a:rPr lang="en-IN" sz="1600" dirty="0" err="1">
                          <a:latin typeface="Times New Roman" panose="02020603050405020304" charset="0"/>
                          <a:cs typeface="Times New Roman" panose="02020603050405020304" charset="0"/>
                        </a:rPr>
                        <a:t>CelebA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Google / CUHK</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Large dataset of celebrity faces</a:t>
                      </a:r>
                      <a:endParaRPr lang="en-US"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face-based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1"/>
                        </a:rPr>
                        <a:t>https://mmlab.ie.cuhk.edu.hk/projects/CelebA.html</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r>
              <a:tr h="1417815">
                <a:tc>
                  <a:txBody>
                    <a:bodyPr/>
                    <a:lstStyle/>
                    <a:p>
                      <a:r>
                        <a:rPr lang="en-IN" sz="1600" dirty="0">
                          <a:latin typeface="Times New Roman" panose="02020603050405020304" charset="0"/>
                          <a:cs typeface="Times New Roman" panose="02020603050405020304" charset="0"/>
                        </a:rPr>
                        <a:t>FFHQ (Flickr-Faces-HQ)</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NVIDIA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High-quality human face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GAN detection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2"/>
                        </a:rPr>
                        <a:t>https://github.com/NVlabs/ffhq-dataset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tr>
              <a:tr h="845236">
                <a:tc>
                  <a:txBody>
                    <a:bodyPr/>
                    <a:lstStyle/>
                    <a:p>
                      <a:r>
                        <a:rPr lang="en-IN" sz="1600">
                          <a:latin typeface="Times New Roman" panose="02020603050405020304" charset="0"/>
                          <a:cs typeface="Times New Roman" panose="02020603050405020304" charset="0"/>
                        </a:rPr>
                        <a:t>StyleGAN Generated 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NVIDIA</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AI-generated fake faces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Detect synthetic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3"/>
                        </a:rPr>
                        <a:t>https://github.com/NVlabs/stylegan</a:t>
                      </a:r>
                      <a:endParaRPr lang="en-IN" sz="1600">
                        <a:latin typeface="Times New Roman" panose="02020603050405020304" charset="0"/>
                        <a:ea typeface="Tahoma" panose="020B0604030504040204" pitchFamily="34" charset="0"/>
                        <a:cs typeface="Times New Roman" panose="02020603050405020304" charset="0"/>
                      </a:endParaRPr>
                    </a:p>
                  </a:txBody>
                  <a:tcPr anchor="ctr"/>
                </a:tc>
              </a:tr>
              <a:tr h="941312">
                <a:tc>
                  <a:txBody>
                    <a:bodyPr/>
                    <a:lstStyle/>
                    <a:p>
                      <a:r>
                        <a:rPr lang="en-US" sz="1600">
                          <a:latin typeface="Times New Roman" panose="02020603050405020304" charset="0"/>
                          <a:cs typeface="Times New Roman" panose="02020603050405020304" charset="0"/>
                        </a:rPr>
                        <a:t>Real vs Fake Face Dataset</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Kaggle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Mix of real and fake face images</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Binary classification (real/fake)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4"/>
                        </a:rPr>
                        <a:t>https://www.kaggle.com/c/fake-faces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Identification(Audio Datasets)</a:t>
            </a:r>
            <a:endParaRPr lang="en-IN" sz="2800" b="1" dirty="0">
              <a:latin typeface="Times New Roman" panose="02020603050405020304" charset="0"/>
              <a:cs typeface="Times New Roman" panose="02020603050405020304" charset="0"/>
            </a:endParaRPr>
          </a:p>
        </p:txBody>
      </p:sp>
      <p:graphicFrame>
        <p:nvGraphicFramePr>
          <p:cNvPr id="3" name="Table 2"/>
          <p:cNvGraphicFramePr>
            <a:graphicFrameLocks noGrp="1"/>
          </p:cNvGraphicFramePr>
          <p:nvPr/>
        </p:nvGraphicFramePr>
        <p:xfrm>
          <a:off x="984738" y="1172585"/>
          <a:ext cx="10401017" cy="4514489"/>
        </p:xfrm>
        <a:graphic>
          <a:graphicData uri="http://schemas.openxmlformats.org/drawingml/2006/table">
            <a:tbl>
              <a:tblPr firstRow="1" bandRow="1">
                <a:tableStyleId>{5940675A-B579-460E-94D1-54222C63F5DA}</a:tableStyleId>
              </a:tblPr>
              <a:tblGrid>
                <a:gridCol w="1803401"/>
                <a:gridCol w="1570501"/>
                <a:gridCol w="2580640"/>
                <a:gridCol w="2245360"/>
                <a:gridCol w="2201115"/>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endParaRPr lang="en-IN" sz="1600" b="1" dirty="0">
                        <a:solidFill>
                          <a:schemeClr val="bg1"/>
                        </a:solidFill>
                        <a:latin typeface="Times New Roman" panose="02020603050405020304" charset="0"/>
                        <a:cs typeface="Times New Roman" panose="02020603050405020304" charset="0"/>
                      </a:endParaRPr>
                    </a:p>
                  </a:txBody>
                  <a:tcPr anchor="ctr">
                    <a:solidFill>
                      <a:srgbClr val="7030A0"/>
                    </a:solidFill>
                  </a:tcPr>
                </a:tc>
              </a:tr>
              <a:tr h="934165">
                <a:tc>
                  <a:txBody>
                    <a:bodyPr/>
                    <a:lstStyle/>
                    <a:p>
                      <a:r>
                        <a:rPr lang="en-IN" sz="1600">
                          <a:latin typeface="Times New Roman" panose="02020603050405020304" charset="0"/>
                          <a:cs typeface="Times New Roman" panose="02020603050405020304" charset="0"/>
                        </a:rPr>
                        <a:t>ASVspoof 2021</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Zenodo</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Synthetic &amp; spoofed speech dataset</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audio deepfake detection</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1"/>
                        </a:rPr>
                        <a:t>https://zenodo.org/record/4837263</a:t>
                      </a:r>
                      <a:endParaRPr lang="en-IN" sz="1600">
                        <a:latin typeface="Times New Roman" panose="02020603050405020304" charset="0"/>
                        <a:cs typeface="Times New Roman" panose="02020603050405020304" charset="0"/>
                      </a:endParaRPr>
                    </a:p>
                  </a:txBody>
                  <a:tcPr anchor="ctr"/>
                </a:tc>
              </a:tr>
              <a:tr h="1417815">
                <a:tc>
                  <a:txBody>
                    <a:bodyPr/>
                    <a:lstStyle/>
                    <a:p>
                      <a:r>
                        <a:rPr lang="en-IN" sz="1600">
                          <a:latin typeface="Times New Roman" panose="02020603050405020304" charset="0"/>
                          <a:cs typeface="Times New Roman" panose="02020603050405020304" charset="0"/>
                        </a:rPr>
                        <a:t>Fake-or-Real (FoR)</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Kaggle</a:t>
                      </a:r>
                      <a:endParaRPr lang="en-IN" sz="1600">
                        <a:latin typeface="Times New Roman" panose="0202060305040502030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Real and AI-generated voice samples</a:t>
                      </a:r>
                      <a:endParaRPr lang="en-US"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Binary classification</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2"/>
                        </a:rPr>
                        <a:t>https://www.kaggle.com/datasets/mohammedabdeldayem/the-fake-or-real-dataset</a:t>
                      </a:r>
                      <a:endParaRPr lang="en-IN" sz="1600">
                        <a:latin typeface="Times New Roman" panose="02020603050405020304" charset="0"/>
                        <a:cs typeface="Times New Roman" panose="02020603050405020304" charset="0"/>
                      </a:endParaRPr>
                    </a:p>
                  </a:txBody>
                  <a:tcPr anchor="ctr"/>
                </a:tc>
              </a:tr>
              <a:tr h="845236">
                <a:tc>
                  <a:txBody>
                    <a:bodyPr/>
                    <a:lstStyle/>
                    <a:p>
                      <a:r>
                        <a:rPr lang="en-IN" sz="1600" dirty="0" err="1">
                          <a:latin typeface="Times New Roman" panose="02020603050405020304" charset="0"/>
                          <a:cs typeface="Times New Roman" panose="02020603050405020304" charset="0"/>
                        </a:rPr>
                        <a:t>WaveFake</a:t>
                      </a:r>
                      <a:endParaRPr lang="en-IN" sz="1600" dirty="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University of Edinburgh</a:t>
                      </a:r>
                      <a:endParaRPr lang="en-IN" sz="1600">
                        <a:latin typeface="Times New Roman" panose="0202060305040502030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Fake audio generated using TTS models</a:t>
                      </a:r>
                      <a:endParaRPr lang="en-US"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Detect AI-generated voices</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3"/>
                        </a:rPr>
                        <a:t>https://github.com/RUB-SysSec/WaveFake</a:t>
                      </a:r>
                      <a:endParaRPr lang="en-IN" sz="1600">
                        <a:latin typeface="Times New Roman" panose="02020603050405020304" charset="0"/>
                        <a:cs typeface="Times New Roman" panose="02020603050405020304" charset="0"/>
                      </a:endParaRPr>
                    </a:p>
                  </a:txBody>
                  <a:tcPr anchor="ctr"/>
                </a:tc>
              </a:tr>
              <a:tr h="941312">
                <a:tc>
                  <a:txBody>
                    <a:bodyPr/>
                    <a:lstStyle/>
                    <a:p>
                      <a:r>
                        <a:rPr lang="en-IN" sz="1600">
                          <a:latin typeface="Times New Roman" panose="02020603050405020304" charset="0"/>
                          <a:cs typeface="Times New Roman" panose="02020603050405020304" charset="0"/>
                        </a:rPr>
                        <a:t>LibriSpeech + Fake Audio</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OpenSLR</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Real speech dataset (baseline)</a:t>
                      </a:r>
                      <a:endParaRPr lang="en-IN" sz="160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Compare real vs fake audio</a:t>
                      </a:r>
                      <a:endParaRPr lang="en-IN"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4"/>
                        </a:rPr>
                        <a:t>https://www.openslr.org/12</a:t>
                      </a:r>
                      <a:endParaRPr lang="en-IN" sz="1600" dirty="0">
                        <a:latin typeface="Times New Roman" panose="02020603050405020304" charset="0"/>
                        <a:cs typeface="Times New Roman" panose="02020603050405020304" charset="0"/>
                      </a:endParaRPr>
                    </a:p>
                  </a:txBody>
                  <a:tcPr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18540" y="500380"/>
            <a:ext cx="5318760" cy="484505"/>
          </a:xfrm>
          <a:prstGeom prst="rect">
            <a:avLst/>
          </a:prstGeom>
          <a:noFill/>
        </p:spPr>
        <p:txBody>
          <a:bodyPr wrap="square" rtlCol="0">
            <a:noAutofit/>
          </a:bodyPr>
          <a:p>
            <a:r>
              <a:rPr lang="en-IN" sz="2800" b="1" dirty="0">
                <a:latin typeface="Times New Roman" panose="02020603050405020304" charset="0"/>
                <a:cs typeface="Times New Roman" panose="02020603050405020304" charset="0"/>
                <a:sym typeface="+mn-ea"/>
              </a:rPr>
              <a:t>Data Understanding</a:t>
            </a:r>
            <a:endParaRPr lang="en-US" sz="2800"/>
          </a:p>
        </p:txBody>
      </p:sp>
      <p:sp>
        <p:nvSpPr>
          <p:cNvPr id="6" name="Text Box 5"/>
          <p:cNvSpPr txBox="1"/>
          <p:nvPr/>
        </p:nvSpPr>
        <p:spPr>
          <a:xfrm>
            <a:off x="903605" y="1312545"/>
            <a:ext cx="9337675" cy="4215130"/>
          </a:xfrm>
          <a:prstGeom prst="rect">
            <a:avLst/>
          </a:prstGeom>
          <a:noFill/>
        </p:spPr>
        <p:txBody>
          <a:bodyPr wrap="square" rtlCol="0">
            <a:noAutofit/>
          </a:bodyPr>
          <a:p>
            <a:endParaRPr lang="en-US" altLang="en-US"/>
          </a:p>
          <a:p>
            <a:r>
              <a:rPr lang="en-US" altLang="en-US" sz="2000" b="1"/>
              <a:t>Our project uses:</a:t>
            </a:r>
            <a:endParaRPr lang="en-US" altLang="en-US" sz="2000" b="1"/>
          </a:p>
          <a:p>
            <a:r>
              <a:rPr lang="en-IN" altLang="en-US" sz="1800"/>
              <a:t> </a:t>
            </a:r>
            <a:r>
              <a:rPr lang="en-US" altLang="en-US" sz="1800"/>
              <a:t>Images</a:t>
            </a:r>
            <a:endParaRPr lang="en-US" altLang="en-US" sz="1800"/>
          </a:p>
          <a:p>
            <a:r>
              <a:rPr lang="en-IN" altLang="en-US" sz="1800"/>
              <a:t> </a:t>
            </a:r>
            <a:r>
              <a:rPr lang="en-US" altLang="en-US" sz="1800"/>
              <a:t>Videos</a:t>
            </a:r>
            <a:endParaRPr lang="en-US" altLang="en-US" sz="1800"/>
          </a:p>
          <a:p>
            <a:r>
              <a:rPr lang="en-IN" altLang="en-US" sz="1800"/>
              <a:t> </a:t>
            </a:r>
            <a:r>
              <a:rPr lang="en-US" altLang="en-US" sz="1800"/>
              <a:t>Audio files</a:t>
            </a:r>
            <a:endParaRPr lang="en-US" altLang="en-US"/>
          </a:p>
          <a:p>
            <a:endParaRPr lang="en-US" altLang="en-US" sz="2000" b="1"/>
          </a:p>
          <a:p>
            <a:r>
              <a:rPr lang="en-US" altLang="en-US" sz="2000" b="1"/>
              <a:t>The datasets contain:</a:t>
            </a:r>
            <a:endParaRPr lang="en-US" altLang="en-US" sz="2000" b="1"/>
          </a:p>
          <a:p>
            <a:r>
              <a:rPr lang="en-IN" altLang="en-US" sz="1800"/>
              <a:t> </a:t>
            </a:r>
            <a:r>
              <a:rPr lang="en-US" altLang="en-US" sz="1800"/>
              <a:t>Real media</a:t>
            </a:r>
            <a:endParaRPr lang="en-US" altLang="en-US" sz="1800"/>
          </a:p>
          <a:p>
            <a:r>
              <a:rPr lang="en-IN" altLang="en-US" sz="1800"/>
              <a:t> </a:t>
            </a:r>
            <a:r>
              <a:rPr lang="en-US" altLang="en-US" sz="1800"/>
              <a:t>Fake AI-generated media</a:t>
            </a:r>
            <a:endParaRPr lang="en-US" altLang="en-US" sz="1800"/>
          </a:p>
          <a:p>
            <a:endParaRPr lang="en-US" altLang="en-US" sz="1800"/>
          </a:p>
          <a:p>
            <a:r>
              <a:rPr lang="en-US" altLang="en-US" sz="2000" b="1"/>
              <a:t>Purpose</a:t>
            </a:r>
            <a:endParaRPr lang="en-US" altLang="en-US" sz="2000" b="1"/>
          </a:p>
          <a:p>
            <a:r>
              <a:rPr lang="en-IN" altLang="en-US" sz="1800"/>
              <a:t> </a:t>
            </a:r>
            <a:r>
              <a:rPr lang="en-US" altLang="en-US" sz="1800"/>
              <a:t>Train the AI model</a:t>
            </a:r>
            <a:endParaRPr lang="en-US" altLang="en-US" sz="1800"/>
          </a:p>
          <a:p>
            <a:r>
              <a:rPr lang="en-IN" altLang="en-US" sz="1800"/>
              <a:t> </a:t>
            </a:r>
            <a:r>
              <a:rPr lang="en-US" altLang="en-US" sz="1800"/>
              <a:t>Detect deepfake content</a:t>
            </a:r>
            <a:endParaRPr lang="en-US" altLang="en-US" sz="1800"/>
          </a:p>
          <a:p>
            <a:r>
              <a:rPr lang="en-IN" altLang="en-US" sz="1800"/>
              <a:t> </a:t>
            </a:r>
            <a:r>
              <a:rPr lang="en-US" altLang="en-US" sz="1800"/>
              <a:t>Improve detection accuracy</a:t>
            </a:r>
            <a:endParaRPr 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983615" y="1143000"/>
            <a:ext cx="9387205" cy="4903470"/>
          </a:xfrm>
          <a:prstGeom prst="rect">
            <a:avLst/>
          </a:prstGeom>
          <a:noFill/>
        </p:spPr>
        <p:txBody>
          <a:bodyPr wrap="square" rtlCol="0">
            <a:noAutofit/>
          </a:bodyPr>
          <a:p>
            <a:r>
              <a:rPr lang="en-US" altLang="en-US" sz="2000" b="1"/>
              <a:t>Data Preprocessing</a:t>
            </a:r>
            <a:endParaRPr lang="en-US" altLang="en-US" sz="2000" b="1"/>
          </a:p>
          <a:p>
            <a:r>
              <a:rPr lang="en-IN" altLang="en-US" sz="1600"/>
              <a:t> </a:t>
            </a:r>
            <a:r>
              <a:rPr lang="en-US" altLang="en-US" sz="1600"/>
              <a:t>Before training the model, the data is cleaned and prepared.</a:t>
            </a:r>
            <a:endParaRPr lang="en-US" altLang="en-US" sz="1600"/>
          </a:p>
          <a:p>
            <a:endParaRPr lang="en-US" altLang="en-US"/>
          </a:p>
          <a:p>
            <a:r>
              <a:rPr lang="en-US" altLang="en-US" sz="2000" b="1"/>
              <a:t>Image Processing</a:t>
            </a:r>
            <a:endParaRPr lang="en-US" altLang="en-US" sz="2000" b="1"/>
          </a:p>
          <a:p>
            <a:r>
              <a:rPr lang="en-IN" altLang="en-US" sz="1600"/>
              <a:t> </a:t>
            </a:r>
            <a:r>
              <a:rPr lang="en-US" altLang="en-US" sz="1600"/>
              <a:t>Resize images</a:t>
            </a:r>
            <a:endParaRPr lang="en-US" altLang="en-US" sz="1600"/>
          </a:p>
          <a:p>
            <a:r>
              <a:rPr lang="en-IN" altLang="en-US" sz="1600"/>
              <a:t> </a:t>
            </a:r>
            <a:r>
              <a:rPr lang="en-US" altLang="en-US" sz="1600"/>
              <a:t>Detect faces using MTCNN</a:t>
            </a:r>
            <a:endParaRPr lang="en-US" altLang="en-US" sz="1600"/>
          </a:p>
          <a:p>
            <a:endParaRPr lang="en-US" altLang="en-US" sz="1600"/>
          </a:p>
          <a:p>
            <a:r>
              <a:rPr lang="en-US" altLang="en-US" sz="2000" b="1"/>
              <a:t>Video Processing</a:t>
            </a:r>
            <a:endParaRPr lang="en-US" altLang="en-US" sz="2000" b="1"/>
          </a:p>
          <a:p>
            <a:r>
              <a:rPr lang="en-IN" altLang="en-US" sz="1600"/>
              <a:t> </a:t>
            </a:r>
            <a:r>
              <a:rPr lang="en-US" altLang="en-US" sz="1600"/>
              <a:t>Extract video frames</a:t>
            </a:r>
            <a:endParaRPr lang="en-US" altLang="en-US" sz="1600"/>
          </a:p>
          <a:p>
            <a:r>
              <a:rPr lang="en-IN" altLang="en-US" sz="1600"/>
              <a:t> </a:t>
            </a:r>
            <a:r>
              <a:rPr lang="en-US" altLang="en-US" sz="1600"/>
              <a:t>Detect faces in frames</a:t>
            </a:r>
            <a:endParaRPr lang="en-US" altLang="en-US" sz="1600"/>
          </a:p>
          <a:p>
            <a:endParaRPr lang="en-US" altLang="en-US" sz="1600"/>
          </a:p>
          <a:p>
            <a:r>
              <a:rPr lang="en-US" altLang="en-US" sz="2000" b="1"/>
              <a:t>Audio Processing</a:t>
            </a:r>
            <a:endParaRPr lang="en-US" altLang="en-US" sz="2000" b="1"/>
          </a:p>
          <a:p>
            <a:r>
              <a:rPr lang="en-IN" altLang="en-US" sz="1600"/>
              <a:t> </a:t>
            </a:r>
            <a:r>
              <a:rPr lang="en-US" altLang="en-US" sz="1600"/>
              <a:t>Remove noise</a:t>
            </a:r>
            <a:endParaRPr lang="en-US" altLang="en-US" sz="1600"/>
          </a:p>
          <a:p>
            <a:r>
              <a:rPr lang="en-IN" altLang="en-US" sz="1600"/>
              <a:t> </a:t>
            </a:r>
            <a:r>
              <a:rPr lang="en-US" altLang="en-US" sz="1600"/>
              <a:t>Convert audio into spectrograms</a:t>
            </a:r>
            <a:endParaRPr lang="en-US" altLang="en-US" sz="1600"/>
          </a:p>
          <a:p>
            <a:endParaRPr lang="en-US" altLang="en-US" sz="1600"/>
          </a:p>
          <a:p>
            <a:r>
              <a:rPr lang="en-US" altLang="en-US" sz="2000" b="1"/>
              <a:t>Final Process</a:t>
            </a:r>
            <a:endParaRPr lang="en-US" altLang="en-US" sz="2000" b="1"/>
          </a:p>
          <a:p>
            <a:r>
              <a:rPr lang="en-IN" altLang="en-US" sz="1600"/>
              <a:t> </a:t>
            </a:r>
            <a:r>
              <a:rPr lang="en-US" altLang="en-US" sz="1600"/>
              <a:t>Label data as Real or Fake</a:t>
            </a:r>
            <a:endParaRPr lang="en-US" altLang="en-US" sz="1600"/>
          </a:p>
          <a:p>
            <a:r>
              <a:rPr lang="en-IN" altLang="en-US" sz="1600"/>
              <a:t> </a:t>
            </a:r>
            <a:r>
              <a:rPr lang="en-US" altLang="en-US" sz="1600"/>
              <a:t>Split data into training and testing datasets</a:t>
            </a:r>
            <a:endParaRPr lang="en-US" sz="1600"/>
          </a:p>
        </p:txBody>
      </p:sp>
      <p:sp>
        <p:nvSpPr>
          <p:cNvPr id="7" name="Text Box 6"/>
          <p:cNvSpPr txBox="1"/>
          <p:nvPr/>
        </p:nvSpPr>
        <p:spPr>
          <a:xfrm>
            <a:off x="983615" y="483235"/>
            <a:ext cx="4676140" cy="37274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Data preprocessing </a:t>
            </a:r>
            <a:endParaRPr lang="en-US" sz="28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228397"/>
            <a:ext cx="11633114" cy="5324535"/>
          </a:xfrm>
          <a:prstGeom prst="rect">
            <a:avLst/>
          </a:prstGeom>
          <a:noFill/>
        </p:spPr>
        <p:txBody>
          <a:bodyPr wrap="square">
            <a:spAutoFit/>
          </a:bodyPr>
          <a:lstStyle/>
          <a:p>
            <a:pPr lvl="1"/>
            <a:r>
              <a:rPr lang="en-US" sz="2000" b="1" i="0" u="sng" dirty="0">
                <a:solidFill>
                  <a:srgbClr val="7030A0"/>
                </a:solidFill>
                <a:effectLst/>
                <a:latin typeface="Times New Roman" panose="02020603050405020304" charset="0"/>
                <a:cs typeface="Times New Roman" panose="02020603050405020304" charset="0"/>
              </a:rPr>
              <a:t>AI/ML Stack</a:t>
            </a:r>
            <a:endParaRPr lang="en-US" sz="2000" b="1" i="0" u="sng" dirty="0">
              <a:solidFill>
                <a:srgbClr val="7030A0"/>
              </a:solidFill>
              <a:effectLst/>
              <a:latin typeface="Times New Roman" panose="02020603050405020304" charset="0"/>
              <a:cs typeface="Times New Roman" panose="02020603050405020304" charset="0"/>
            </a:endParaRPr>
          </a:p>
          <a:p>
            <a:pPr lvl="1"/>
            <a:r>
              <a:rPr lang="en-US" sz="2000" b="1" i="0" dirty="0">
                <a:solidFill>
                  <a:schemeClr val="tx1"/>
                </a:solidFill>
                <a:effectLst/>
                <a:latin typeface="Times New Roman" panose="02020603050405020304" charset="0"/>
                <a:cs typeface="Times New Roman" panose="02020603050405020304" charset="0"/>
              </a:rPr>
              <a:t>Python:</a:t>
            </a:r>
            <a:endParaRPr lang="en-US" sz="2000" b="1" i="0" dirty="0">
              <a:solidFill>
                <a:schemeClr val="tx1"/>
              </a:solidFill>
              <a:effectLst/>
              <a:latin typeface="Times New Roman" panose="02020603050405020304" charset="0"/>
              <a:cs typeface="Times New Roman" panose="02020603050405020304" charset="0"/>
            </a:endParaRPr>
          </a:p>
          <a:p>
            <a:pPr marL="342900" lvl="7"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Main programming language used for AI development</a:t>
            </a:r>
            <a:endParaRPr lang="en-IN" sz="2000" b="1" dirty="0">
              <a:solidFill>
                <a:schemeClr val="tx1"/>
              </a:solidFill>
              <a:latin typeface="Times New Roman" panose="02020603050405020304" charset="0"/>
              <a:cs typeface="Times New Roman" panose="02020603050405020304" charset="0"/>
            </a:endParaRPr>
          </a:p>
          <a:p>
            <a:pPr marL="342900" lvl="1" indent="-342900">
              <a:buFont typeface="Arial" panose="020B0604020202020204" pitchFamily="34" charset="0"/>
              <a:buChar char="•"/>
            </a:pPr>
            <a:r>
              <a:rPr lang="en-US" sz="2000" b="0" i="0" dirty="0">
                <a:solidFill>
                  <a:schemeClr val="tx1"/>
                </a:solidFill>
                <a:effectLst/>
                <a:latin typeface="Times New Roman" panose="02020603050405020304" charset="0"/>
                <a:cs typeface="Times New Roman" panose="02020603050405020304" charset="0"/>
              </a:rPr>
              <a:t>Easy integration with ML libraries</a:t>
            </a:r>
            <a:endParaRPr lang="en-US" sz="2000" dirty="0">
              <a:solidFill>
                <a:schemeClr val="tx1"/>
              </a:solidFill>
              <a:latin typeface="Times New Roman" panose="02020603050405020304" charset="0"/>
              <a:cs typeface="Times New Roman" panose="02020603050405020304" charset="0"/>
            </a:endParaRPr>
          </a:p>
          <a:p>
            <a:pPr lvl="1"/>
            <a:r>
              <a:rPr lang="en-US" sz="2000" b="1" i="0" dirty="0" err="1">
                <a:solidFill>
                  <a:schemeClr val="tx1"/>
                </a:solidFill>
                <a:effectLst/>
                <a:latin typeface="Times New Roman" panose="02020603050405020304" charset="0"/>
                <a:cs typeface="Times New Roman" panose="02020603050405020304" charset="0"/>
              </a:rPr>
              <a:t>PyTorch</a:t>
            </a:r>
            <a:r>
              <a:rPr lang="en-US" sz="2000" b="1" i="0" dirty="0">
                <a:solidFill>
                  <a:schemeClr val="tx1"/>
                </a:solidFill>
                <a:effectLst/>
                <a:latin typeface="Times New Roman" panose="02020603050405020304" charset="0"/>
                <a:cs typeface="Times New Roman" panose="02020603050405020304" charset="0"/>
              </a:rPr>
              <a:t> / TensorFlow:</a:t>
            </a:r>
            <a:endParaRPr lang="en-US" sz="2000" b="1" i="0" dirty="0">
              <a:solidFill>
                <a:schemeClr val="tx1"/>
              </a:solidFill>
              <a:effectLst/>
              <a:latin typeface="Times New Roman" panose="02020603050405020304" charset="0"/>
              <a:cs typeface="Times New Roman" panose="02020603050405020304" charset="0"/>
            </a:endParaRPr>
          </a:p>
          <a:p>
            <a:pPr marL="342900" lvl="3" indent="-342900">
              <a:buFont typeface="Arial" panose="020B0604020202020204" pitchFamily="34" charset="0"/>
              <a:buChar char="•"/>
            </a:pPr>
            <a:r>
              <a:rPr lang="en-US" sz="2000" i="0" dirty="0">
                <a:solidFill>
                  <a:schemeClr val="tx1"/>
                </a:solidFill>
                <a:effectLst/>
                <a:latin typeface="Times New Roman" panose="02020603050405020304" charset="0"/>
                <a:cs typeface="Times New Roman" panose="02020603050405020304" charset="0"/>
              </a:rPr>
              <a:t>Frameworks used to build, train, and test deep learning models</a:t>
            </a:r>
            <a:endParaRPr lang="en-US" sz="2000" i="0" dirty="0">
              <a:solidFill>
                <a:schemeClr val="tx1"/>
              </a:solidFill>
              <a:effectLst/>
              <a:latin typeface="Times New Roman" panose="02020603050405020304" charset="0"/>
              <a:cs typeface="Times New Roman" panose="02020603050405020304" charset="0"/>
            </a:endParaRP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Provide GPU support for faster computation</a:t>
            </a:r>
            <a:endParaRPr lang="en-US" sz="2000" dirty="0">
              <a:solidFill>
                <a:schemeClr val="tx1"/>
              </a:solidFill>
              <a:latin typeface="Times New Roman" panose="02020603050405020304" charset="0"/>
              <a:cs typeface="Times New Roman" panose="02020603050405020304" charset="0"/>
            </a:endParaRPr>
          </a:p>
          <a:p>
            <a:pPr lvl="3"/>
            <a:r>
              <a:rPr lang="en-US" sz="2000" b="1" i="0" dirty="0">
                <a:solidFill>
                  <a:schemeClr val="tx1"/>
                </a:solidFill>
                <a:effectLst/>
                <a:latin typeface="Times New Roman" panose="02020603050405020304" charset="0"/>
                <a:cs typeface="Times New Roman" panose="02020603050405020304" charset="0"/>
              </a:rPr>
              <a:t>Effi</a:t>
            </a:r>
            <a:r>
              <a:rPr lang="en-US" sz="2000" b="1" dirty="0">
                <a:solidFill>
                  <a:schemeClr val="tx1"/>
                </a:solidFill>
                <a:latin typeface="Times New Roman" panose="02020603050405020304" charset="0"/>
                <a:cs typeface="Times New Roman" panose="02020603050405020304" charset="0"/>
              </a:rPr>
              <a:t>cientNetV2 </a:t>
            </a:r>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(local details):</a:t>
            </a:r>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image classification</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Detects fake images by analyzing</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Facial inconsistencies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Texture and pixel-level artifacts </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i="0" dirty="0">
                <a:solidFill>
                  <a:schemeClr val="tx1"/>
                </a:solidFill>
                <a:effectLst/>
                <a:latin typeface="Times New Roman" panose="02020603050405020304" charset="0"/>
                <a:cs typeface="Times New Roman" panose="02020603050405020304" charset="0"/>
              </a:rPr>
              <a:t>MTCNN ( Multi-task Cascaded Convolutional Network):</a:t>
            </a:r>
            <a:endParaRPr lang="en-US" sz="2000" b="1" i="0" dirty="0">
              <a:solidFill>
                <a:schemeClr val="tx1"/>
              </a:solidFill>
              <a:effectLst/>
              <a:latin typeface="Times New Roman" panose="02020603050405020304" charset="0"/>
              <a:cs typeface="Times New Roman" panose="02020603050405020304" charset="0"/>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face detection</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faces from images/videos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4"/>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3"/>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029275"/>
            <a:ext cx="11051844" cy="6217087"/>
          </a:xfrm>
          <a:prstGeom prst="rect">
            <a:avLst/>
          </a:prstGeom>
          <a:noFill/>
        </p:spPr>
        <p:txBody>
          <a:bodyPr wrap="square">
            <a:spAutoFit/>
          </a:bodyPr>
          <a:lstStyle/>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Wav2Vec:</a:t>
            </a:r>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Processes raw audio signals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deep audio features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1800" dirty="0">
                <a:latin typeface="Times New Roman" panose="02020603050405020304" charset="0"/>
                <a:ea typeface="Tahoma" panose="020B0604030504040204" pitchFamily="34" charset="0"/>
                <a:cs typeface="Times New Roman" panose="02020603050405020304" charset="0"/>
              </a:rPr>
              <a:t>Helps detect AI-generated or cloned voices</a:t>
            </a:r>
            <a:endParaRPr lang="en-US" sz="1800" dirty="0">
              <a:solidFill>
                <a:schemeClr val="tx1"/>
              </a:solidFill>
              <a:latin typeface="Times New Roman" panose="02020603050405020304" charset="0"/>
              <a:ea typeface="Tahoma" panose="020B0604030504040204" pitchFamily="34" charset="0"/>
              <a:cs typeface="Times New Roman" panose="02020603050405020304" charset="0"/>
              <a:sym typeface="Wingdings" panose="05000000000000000000" pitchFamily="2" charset="2"/>
            </a:endParaRPr>
          </a:p>
          <a:p>
            <a:pPr lvl="1"/>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u="sng" dirty="0">
                <a:solidFill>
                  <a:srgbClr val="7030A0"/>
                </a:solidFill>
                <a:latin typeface="Times New Roman" panose="02020603050405020304" charset="0"/>
                <a:cs typeface="Times New Roman" panose="02020603050405020304" charset="0"/>
                <a:sym typeface="Wingdings" panose="05000000000000000000" pitchFamily="2" charset="2"/>
              </a:rPr>
              <a:t>Full-stack Development:</a:t>
            </a:r>
            <a:endParaRPr lang="en-US" sz="2000" b="1" u="sng" dirty="0">
              <a:solidFill>
                <a:srgbClr val="7030A0"/>
              </a:solidFill>
              <a:latin typeface="Times New Roman" panose="02020603050405020304" charset="0"/>
              <a:cs typeface="Times New Roman" panose="02020603050405020304" charset="0"/>
              <a:sym typeface="Wingdings" panose="05000000000000000000" pitchFamily="2" charset="2"/>
            </a:endParaRP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React + tailwind CSS:</a:t>
            </a:r>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Builds user interface</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Provides responsive and clean design</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Flask:</a:t>
            </a:r>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Backend framework</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For API requests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Model execution</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Communication between frontend and AI</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MongoDB:</a:t>
            </a:r>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NoSQL database</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Stores: User uploads, Detection Results, logs</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09015" y="448457"/>
            <a:ext cx="3514090" cy="452755"/>
          </a:xfrm>
          <a:prstGeom prst="rect">
            <a:avLst/>
          </a:prstGeom>
          <a:noFill/>
        </p:spPr>
        <p:txBody>
          <a:bodyPr wrap="square" rtlCol="0">
            <a:noAutofit/>
          </a:bodyPr>
          <a:lstStyle/>
          <a:p>
            <a:r>
              <a:rPr lang="en-US" sz="3200" b="1" dirty="0">
                <a:latin typeface="Times New Roman" panose="02020603050405020304" charset="0"/>
                <a:cs typeface="Times New Roman" panose="02020603050405020304" charset="0"/>
              </a:rPr>
              <a:t>Project Planning</a:t>
            </a:r>
            <a:endParaRPr lang="en-US" sz="3200" b="1" dirty="0">
              <a:latin typeface="Times New Roman" panose="02020603050405020304" charset="0"/>
              <a:cs typeface="Times New Roman" panose="02020603050405020304" charset="0"/>
            </a:endParaRPr>
          </a:p>
        </p:txBody>
      </p:sp>
      <p:sp>
        <p:nvSpPr>
          <p:cNvPr id="2" name="TextBox 1"/>
          <p:cNvSpPr txBox="1"/>
          <p:nvPr/>
        </p:nvSpPr>
        <p:spPr>
          <a:xfrm>
            <a:off x="1009015" y="1024304"/>
            <a:ext cx="4793908" cy="5755422"/>
          </a:xfrm>
          <a:prstGeom prst="rect">
            <a:avLst/>
          </a:prstGeom>
          <a:noFill/>
        </p:spPr>
        <p:txBody>
          <a:bodyPr wrap="square" rtlCol="0">
            <a:spAutoFit/>
          </a:bodyPr>
          <a:lstStyle/>
          <a:p>
            <a:pPr algn="just"/>
            <a:r>
              <a:rPr lang="en-IN" sz="1600" b="1" dirty="0">
                <a:solidFill>
                  <a:schemeClr val="tx1"/>
                </a:solidFill>
                <a:latin typeface="Times New Roman" panose="02020603050405020304" charset="0"/>
                <a:cs typeface="Times New Roman" panose="02020603050405020304" charset="0"/>
              </a:rPr>
              <a:t>Workflow:</a:t>
            </a:r>
            <a:endParaRPr lang="en-IN" sz="1600" dirty="0">
              <a:solidFill>
                <a:schemeClr val="tx1"/>
              </a:solidFill>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1: Problem Identification</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Identify issue of increasing deepfake misuse</a:t>
            </a:r>
            <a:endParaRPr lang="en-IN" sz="1600" b="0" i="0" dirty="0">
              <a:solidFill>
                <a:schemeClr val="tx1"/>
              </a:solidFill>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need for multi-modal detection</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2</a:t>
            </a:r>
            <a:r>
              <a:rPr lang="en-IN" sz="1600" b="0" i="0" dirty="0">
                <a:solidFill>
                  <a:schemeClr val="tx1"/>
                </a:solidFill>
                <a:effectLst/>
                <a:latin typeface="Times New Roman" panose="02020603050405020304" charset="0"/>
                <a:cs typeface="Times New Roman" panose="02020603050405020304" charset="0"/>
              </a:rPr>
              <a:t>: </a:t>
            </a:r>
            <a:r>
              <a:rPr lang="en-IN" sz="1600" b="1" i="0" dirty="0">
                <a:solidFill>
                  <a:schemeClr val="tx1"/>
                </a:solidFill>
                <a:effectLst/>
                <a:latin typeface="Times New Roman" panose="02020603050405020304" charset="0"/>
                <a:cs typeface="Times New Roman" panose="02020603050405020304" charset="0"/>
              </a:rPr>
              <a:t>Literature Survey</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Study existing models (CNN, RNN, </a:t>
            </a:r>
            <a:r>
              <a:rPr lang="en-IN" sz="1600" b="0" i="0" dirty="0" err="1">
                <a:solidFill>
                  <a:schemeClr val="tx1"/>
                </a:solidFill>
                <a:effectLst/>
                <a:latin typeface="Times New Roman" panose="02020603050405020304" charset="0"/>
                <a:cs typeface="Times New Roman" panose="02020603050405020304" charset="0"/>
              </a:rPr>
              <a:t>ViT</a:t>
            </a:r>
            <a:r>
              <a:rPr lang="en-IN" sz="1600" b="0" i="0" dirty="0">
                <a:solidFill>
                  <a:schemeClr val="tx1"/>
                </a:solidFill>
                <a:effectLst/>
                <a:latin typeface="Times New Roman" panose="02020603050405020304" charset="0"/>
                <a:cs typeface="Times New Roman" panose="02020603050405020304" charset="0"/>
              </a:rPr>
              <a:t>)</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Analyse limitations of single-modality systems</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3: Problem Statement &amp; Objectives</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system goals</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Multi-modal detection for image, video, audio</a:t>
            </a:r>
            <a:endParaRPr lang="en-IN" sz="1600" b="0" i="0" dirty="0">
              <a:solidFill>
                <a:schemeClr val="tx1"/>
              </a:solidFill>
              <a:effectLst/>
              <a:latin typeface="Times New Roman" panose="02020603050405020304" charset="0"/>
              <a:cs typeface="Times New Roman" panose="02020603050405020304" charset="0"/>
            </a:endParaRPr>
          </a:p>
          <a:p>
            <a:r>
              <a:rPr lang="en-IN" sz="1600" b="1" dirty="0">
                <a:latin typeface="Times New Roman" panose="02020603050405020304" charset="0"/>
                <a:cs typeface="Times New Roman" panose="02020603050405020304" charset="0"/>
              </a:rPr>
              <a:t>Step 4: System Requirements &amp; Packages ⭐</a:t>
            </a:r>
            <a:endParaRPr lang="en-IN" sz="1600" b="1"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Programming Language: Python </a:t>
            </a:r>
            <a:endParaRPr lang="en-I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Libraries: TensorFlow, </a:t>
            </a:r>
            <a:r>
              <a:rPr lang="en-IN" sz="1600" dirty="0" err="1">
                <a:latin typeface="Times New Roman" panose="02020603050405020304" charset="0"/>
                <a:cs typeface="Times New Roman" panose="02020603050405020304" charset="0"/>
              </a:rPr>
              <a:t>PyTorch</a:t>
            </a:r>
            <a:r>
              <a:rPr lang="en-IN" sz="1600" dirty="0">
                <a:latin typeface="Times New Roman" panose="02020603050405020304" charset="0"/>
                <a:cs typeface="Times New Roman" panose="02020603050405020304" charset="0"/>
              </a:rPr>
              <a:t>.</a:t>
            </a:r>
            <a:endParaRPr lang="en-I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Models: EfficientNetV2, MTCNN.</a:t>
            </a:r>
            <a:endParaRPr lang="en-I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Audio Tools: Wav2Vec.</a:t>
            </a:r>
            <a:endParaRPr lang="en-I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Frameworks: Flask , React </a:t>
            </a:r>
            <a:endParaRPr lang="en-IN"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Hardware: GPU (for faster training)</a:t>
            </a:r>
            <a:endParaRPr lang="en-IN" sz="1600" dirty="0">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5: Dataset Identification &amp; Collection</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Select datasets (DFDC, Celeb-DF, </a:t>
            </a:r>
            <a:r>
              <a:rPr lang="en-IN" sz="1600" b="0" i="0" dirty="0" err="1">
                <a:solidFill>
                  <a:schemeClr val="tx1"/>
                </a:solidFill>
                <a:effectLst/>
                <a:latin typeface="Times New Roman" panose="02020603050405020304" charset="0"/>
                <a:cs typeface="Times New Roman" panose="02020603050405020304" charset="0"/>
              </a:rPr>
              <a:t>ASVspoof</a:t>
            </a:r>
            <a:r>
              <a:rPr lang="en-IN" sz="1600" b="0" i="0" dirty="0">
                <a:solidFill>
                  <a:schemeClr val="tx1"/>
                </a:solidFill>
                <a:effectLst/>
                <a:latin typeface="Times New Roman" panose="02020603050405020304" charset="0"/>
                <a:cs typeface="Times New Roman" panose="02020603050405020304" charset="0"/>
              </a:rPr>
              <a:t>)</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Gather real and fake samples</a:t>
            </a:r>
            <a:endParaRPr lang="en-IN" sz="1600" b="0" i="0" dirty="0">
              <a:solidFill>
                <a:schemeClr val="tx1"/>
              </a:solidFill>
              <a:effectLst/>
              <a:latin typeface="Times New Roman" panose="02020603050405020304" charset="0"/>
              <a:cs typeface="Times New Roman" panose="02020603050405020304" charset="0"/>
            </a:endParaRP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a:p>
            <a:pPr algn="just"/>
            <a:endParaRPr lang="en-IN" sz="1600" dirty="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6180992" y="1318846"/>
            <a:ext cx="5495193" cy="4493538"/>
          </a:xfrm>
          <a:prstGeom prst="rect">
            <a:avLst/>
          </a:prstGeom>
          <a:noFill/>
        </p:spPr>
        <p:txBody>
          <a:bodyPr wrap="square" rtlCol="0">
            <a:spAutoFit/>
          </a:bodyPr>
          <a:lstStyle/>
          <a:p>
            <a:pPr algn="just"/>
            <a:r>
              <a:rPr lang="en-IN" sz="1600" b="1" i="0" dirty="0">
                <a:solidFill>
                  <a:schemeClr val="tx1"/>
                </a:solidFill>
                <a:effectLst/>
                <a:latin typeface="Times New Roman" panose="02020603050405020304" charset="0"/>
                <a:cs typeface="Times New Roman" panose="02020603050405020304" charset="0"/>
              </a:rPr>
              <a:t>Step 6: Data Preprocessing</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Face detection (MTCNN)</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Frame extraction (videos)</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spectrogram conversion</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7: Model Development</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Image → EfficientNetV2</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Video → Temporal models</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Wav2Vec</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8: Model Integration</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Combine outputs from all modalities</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Apply fusion technique</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9: Testing &amp; Evaluation</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Evaluate accuracy</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Compare real vs fake predictions</a:t>
            </a:r>
            <a:endParaRPr lang="en-IN" sz="1600" b="0" i="0" dirty="0">
              <a:solidFill>
                <a:schemeClr val="tx1"/>
              </a:solidFill>
              <a:effectLst/>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10: Final Deployment</a:t>
            </a:r>
            <a:endParaRPr lang="en-IN" sz="1600" b="1"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User uploads media</a:t>
            </a:r>
            <a:endParaRPr lang="en-IN" sz="1600" b="0" i="0" dirty="0">
              <a:solidFill>
                <a:schemeClr val="tx1"/>
              </a:solidFill>
              <a:effectLst/>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System outputs result (Real/Fake)</a:t>
            </a:r>
            <a:endParaRPr lang="en-IN" sz="1600" b="0" i="0" dirty="0">
              <a:solidFill>
                <a:schemeClr val="tx1"/>
              </a:solidFill>
              <a:effectLst/>
              <a:latin typeface="Times New Roman" panose="02020603050405020304" charset="0"/>
              <a:cs typeface="Times New Roman" panose="02020603050405020304" charset="0"/>
            </a:endParaRP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4482" y="400879"/>
            <a:ext cx="6136852" cy="869121"/>
          </a:xfrm>
          <a:prstGeom prst="rect">
            <a:avLst/>
          </a:prstGeom>
          <a:noFill/>
        </p:spPr>
        <p:txBody>
          <a:bodyPr wrap="square" rtlCol="0">
            <a:noAutofit/>
          </a:bodyPr>
          <a:lstStyle/>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endPar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PYTHON                                                       PYTORCH                                                                 </a:t>
            </a: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1144482" y="1896081"/>
            <a:ext cx="3757908" cy="3603659"/>
          </a:xfrm>
          <a:prstGeom prst="rect">
            <a:avLst/>
          </a:prstGeom>
        </p:spPr>
      </p:pic>
      <p:pic>
        <p:nvPicPr>
          <p:cNvPr id="6" name="Picture 5"/>
          <p:cNvPicPr>
            <a:picLocks noChangeAspect="1"/>
          </p:cNvPicPr>
          <p:nvPr/>
        </p:nvPicPr>
        <p:blipFill>
          <a:blip r:embed="rId2"/>
          <a:stretch>
            <a:fillRect/>
          </a:stretch>
        </p:blipFill>
        <p:spPr>
          <a:xfrm>
            <a:off x="5890313" y="1896081"/>
            <a:ext cx="3672213" cy="36036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1515" y="324465"/>
            <a:ext cx="9232490" cy="2462213"/>
          </a:xfrm>
          <a:prstGeom prst="rect">
            <a:avLst/>
          </a:prstGeom>
          <a:noFill/>
        </p:spPr>
        <p:txBody>
          <a:bodyPr wrap="square" rtlCol="0">
            <a:spAutoFit/>
          </a:bodyPr>
          <a:lstStyle/>
          <a:p>
            <a:pPr marL="0" lvl="0" indent="0" algn="l" rtl="0">
              <a:spcBef>
                <a:spcPts val="0"/>
              </a:spcBef>
              <a:spcAft>
                <a:spcPts val="0"/>
              </a:spcAft>
              <a:buNone/>
            </a:pPr>
            <a:r>
              <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TENSORFLOW				 FLASK 				</a:t>
            </a: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4"/>
          <p:cNvSpPr txBox="1"/>
          <p:nvPr/>
        </p:nvSpPr>
        <p:spPr>
          <a:xfrm>
            <a:off x="538349" y="4911494"/>
            <a:ext cx="9972333" cy="3542411"/>
          </a:xfrm>
          <a:prstGeom prst="rect">
            <a:avLst/>
          </a:prstGeom>
          <a:noFill/>
        </p:spPr>
        <p:txBody>
          <a:bodyPr wrap="square" rtlCol="0">
            <a:spAutoFit/>
          </a:bodyPr>
          <a:lstStyle/>
          <a:p>
            <a:endParaRPr lang="en-IN" dirty="0"/>
          </a:p>
        </p:txBody>
      </p:sp>
      <p:pic>
        <p:nvPicPr>
          <p:cNvPr id="5" name="Picture 4"/>
          <p:cNvPicPr>
            <a:picLocks noChangeAspect="1"/>
          </p:cNvPicPr>
          <p:nvPr/>
        </p:nvPicPr>
        <p:blipFill>
          <a:blip r:embed="rId1"/>
          <a:stretch>
            <a:fillRect/>
          </a:stretch>
        </p:blipFill>
        <p:spPr>
          <a:xfrm>
            <a:off x="921515" y="1873667"/>
            <a:ext cx="3530434" cy="3707694"/>
          </a:xfrm>
          <a:prstGeom prst="rect">
            <a:avLst/>
          </a:prstGeom>
        </p:spPr>
      </p:pic>
      <p:pic>
        <p:nvPicPr>
          <p:cNvPr id="7" name="Picture 6"/>
          <p:cNvPicPr>
            <a:picLocks noChangeAspect="1"/>
          </p:cNvPicPr>
          <p:nvPr/>
        </p:nvPicPr>
        <p:blipFill>
          <a:blip r:embed="rId2"/>
          <a:stretch>
            <a:fillRect/>
          </a:stretch>
        </p:blipFill>
        <p:spPr>
          <a:xfrm>
            <a:off x="5618179" y="1873667"/>
            <a:ext cx="3726273" cy="365712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3058" y="334296"/>
            <a:ext cx="5102942" cy="553998"/>
          </a:xfrm>
          <a:prstGeom prst="rect">
            <a:avLst/>
          </a:prstGeom>
          <a:noFill/>
        </p:spPr>
        <p:txBody>
          <a:bodyPr wrap="square" rtlCol="0">
            <a:spAutoFit/>
          </a:bodyPr>
          <a:lstStyle/>
          <a:p>
            <a:r>
              <a:rPr lang="en-IN" sz="3000" b="1" dirty="0">
                <a:latin typeface="Times New Roman" panose="02020603050405020304" charset="0"/>
                <a:cs typeface="Times New Roman" panose="02020603050405020304" charset="0"/>
              </a:rPr>
              <a:t>Individual Contribution</a:t>
            </a:r>
            <a:endParaRPr lang="en-IN" sz="3000" b="1" dirty="0">
              <a:latin typeface="Times New Roman" panose="02020603050405020304" charset="0"/>
              <a:cs typeface="Times New Roman" panose="02020603050405020304" charset="0"/>
            </a:endParaRPr>
          </a:p>
        </p:txBody>
      </p:sp>
      <p:sp>
        <p:nvSpPr>
          <p:cNvPr id="4" name="Rectangle: Rounded Corners 3"/>
          <p:cNvSpPr/>
          <p:nvPr/>
        </p:nvSpPr>
        <p:spPr>
          <a:xfrm>
            <a:off x="3342970" y="2058543"/>
            <a:ext cx="2556387" cy="2684208"/>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algn="l" rtl="0">
              <a:spcBef>
                <a:spcPts val="0"/>
              </a:spcBef>
              <a:spcAft>
                <a:spcPts val="0"/>
              </a:spcAft>
            </a:pPr>
            <a:r>
              <a:rPr lang="en-IN" b="1" i="0" dirty="0" err="1">
                <a:solidFill>
                  <a:srgbClr val="0D0D0D"/>
                </a:solidFill>
                <a:effectLst/>
                <a:latin typeface="Arial" panose="020B0604020202020204" pitchFamily="34" charset="0"/>
                <a:ea typeface="+mn-ea"/>
                <a:cs typeface="+mn-cs"/>
              </a:rPr>
              <a:t>Panasa</a:t>
            </a:r>
            <a:r>
              <a:rPr lang="en-IN" b="1" i="0" dirty="0">
                <a:solidFill>
                  <a:srgbClr val="0D0D0D"/>
                </a:solidFill>
                <a:effectLst/>
                <a:latin typeface="Arial" panose="020B0604020202020204" pitchFamily="34" charset="0"/>
                <a:ea typeface="+mn-ea"/>
                <a:cs typeface="+mn-cs"/>
              </a:rPr>
              <a:t> Chandra Kaushik Goud</a:t>
            </a:r>
            <a:endParaRPr lang="en-IN" dirty="0">
              <a:effectLst/>
            </a:endParaRPr>
          </a:p>
          <a:p>
            <a:pPr>
              <a:buFont typeface="Arial" panose="020B0604020202020204" pitchFamily="34" charset="0"/>
              <a:buChar char="•"/>
            </a:pPr>
            <a:r>
              <a:rPr lang="en-US" dirty="0">
                <a:solidFill>
                  <a:schemeClr val="tx1">
                    <a:lumMod val="95000"/>
                    <a:lumOff val="5000"/>
                  </a:schemeClr>
                </a:solidFill>
              </a:rPr>
              <a:t>Collected and curated datasets (DFDC, Celeb-DF) </a:t>
            </a:r>
            <a:endParaRPr lang="en-US" dirty="0">
              <a:solidFill>
                <a:schemeClr val="tx1">
                  <a:lumMod val="95000"/>
                  <a:lumOff val="5000"/>
                </a:schemeClr>
              </a:solidFill>
            </a:endParaRPr>
          </a:p>
          <a:p>
            <a:pPr>
              <a:buFont typeface="Arial" panose="020B0604020202020204" pitchFamily="34" charset="0"/>
              <a:buChar char="•"/>
            </a:pPr>
            <a:r>
              <a:rPr lang="en-US" dirty="0">
                <a:solidFill>
                  <a:schemeClr val="tx1">
                    <a:lumMod val="95000"/>
                    <a:lumOff val="5000"/>
                  </a:schemeClr>
                </a:solidFill>
              </a:rPr>
              <a:t>Performed data cleaning and annotation </a:t>
            </a:r>
            <a:endParaRPr lang="en-US" dirty="0">
              <a:solidFill>
                <a:schemeClr val="tx1">
                  <a:lumMod val="95000"/>
                  <a:lumOff val="5000"/>
                </a:schemeClr>
              </a:solidFill>
            </a:endParaRPr>
          </a:p>
          <a:p>
            <a:pPr>
              <a:buFont typeface="Arial" panose="020B0604020202020204" pitchFamily="34" charset="0"/>
              <a:buChar char="•"/>
            </a:pPr>
            <a:r>
              <a:rPr lang="en-US" dirty="0">
                <a:solidFill>
                  <a:schemeClr val="tx1">
                    <a:lumMod val="95000"/>
                    <a:lumOff val="5000"/>
                  </a:schemeClr>
                </a:solidFill>
              </a:rPr>
              <a:t>Conducted data analysis and visualization </a:t>
            </a:r>
            <a:endParaRPr lang="en-US" dirty="0">
              <a:solidFill>
                <a:schemeClr val="tx1">
                  <a:lumMod val="95000"/>
                  <a:lumOff val="5000"/>
                </a:schemeClr>
              </a:solidFill>
            </a:endParaRPr>
          </a:p>
          <a:p>
            <a:pPr>
              <a:buFont typeface="Arial" panose="020B0604020202020204" pitchFamily="34" charset="0"/>
              <a:buChar char="•"/>
            </a:pPr>
            <a:r>
              <a:rPr lang="en-US" dirty="0">
                <a:solidFill>
                  <a:schemeClr val="tx1">
                    <a:lumMod val="95000"/>
                    <a:lumOff val="5000"/>
                  </a:schemeClr>
                </a:solidFill>
              </a:rPr>
              <a:t>Assisted in model validation</a:t>
            </a:r>
            <a:endParaRPr lang="en-US" dirty="0">
              <a:solidFill>
                <a:schemeClr val="tx1">
                  <a:lumMod val="95000"/>
                  <a:lumOff val="5000"/>
                </a:schemeClr>
              </a:solidFill>
            </a:endParaRPr>
          </a:p>
          <a:p>
            <a:pPr algn="ctr"/>
            <a:endParaRPr lang="en-IN" dirty="0">
              <a:solidFill>
                <a:schemeClr val="tx1">
                  <a:lumMod val="95000"/>
                  <a:lumOff val="5000"/>
                </a:schemeClr>
              </a:solidFill>
            </a:endParaRPr>
          </a:p>
        </p:txBody>
      </p:sp>
      <p:sp>
        <p:nvSpPr>
          <p:cNvPr id="5" name="Rectangle: Rounded Corners 4"/>
          <p:cNvSpPr/>
          <p:nvPr/>
        </p:nvSpPr>
        <p:spPr>
          <a:xfrm>
            <a:off x="6292644" y="2045108"/>
            <a:ext cx="2556388" cy="267077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chemeClr val="tx1">
                    <a:lumMod val="95000"/>
                    <a:lumOff val="5000"/>
                  </a:schemeClr>
                </a:solidFill>
              </a:rPr>
              <a:t>Nallabolam</a:t>
            </a:r>
            <a:r>
              <a:rPr lang="en-US" b="1" dirty="0">
                <a:solidFill>
                  <a:schemeClr val="tx1">
                    <a:lumMod val="95000"/>
                    <a:lumOff val="5000"/>
                  </a:schemeClr>
                </a:solidFill>
              </a:rPr>
              <a:t> Mounika</a:t>
            </a:r>
            <a:endParaRPr lang="en-US" b="1"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Developed backend using Flask APIs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Integrated AI model with server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Managed data flow between frontend &amp; model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Handled file uploads and processing pipeline </a:t>
            </a:r>
            <a:endParaRPr lang="en-IN" dirty="0">
              <a:solidFill>
                <a:schemeClr val="tx1">
                  <a:lumMod val="95000"/>
                  <a:lumOff val="5000"/>
                </a:schemeClr>
              </a:solidFill>
            </a:endParaRPr>
          </a:p>
          <a:p>
            <a:pPr algn="ctr"/>
            <a:endParaRPr lang="en-IN" dirty="0">
              <a:solidFill>
                <a:schemeClr val="tx1">
                  <a:lumMod val="95000"/>
                  <a:lumOff val="5000"/>
                </a:schemeClr>
              </a:solidFill>
            </a:endParaRPr>
          </a:p>
        </p:txBody>
      </p:sp>
      <p:sp>
        <p:nvSpPr>
          <p:cNvPr id="7" name="Rectangle: Rounded Corners 6"/>
          <p:cNvSpPr/>
          <p:nvPr/>
        </p:nvSpPr>
        <p:spPr>
          <a:xfrm>
            <a:off x="9281650" y="2045108"/>
            <a:ext cx="2556387" cy="267077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lumMod val="95000"/>
                    <a:lumOff val="5000"/>
                  </a:schemeClr>
                </a:solidFill>
              </a:rPr>
              <a:t>Patel Nanda Kishore Reddy</a:t>
            </a:r>
            <a:endParaRPr lang="en-IN" b="1"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Designed frontend using React &amp; Tailwind CSS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Developed user interface for media upload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Implemented result visualization (labels, scores)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Improved UI/UX for better user experience</a:t>
            </a:r>
            <a:endParaRPr lang="en-IN" dirty="0">
              <a:solidFill>
                <a:schemeClr val="tx1">
                  <a:lumMod val="95000"/>
                  <a:lumOff val="5000"/>
                </a:schemeClr>
              </a:solidFill>
            </a:endParaRPr>
          </a:p>
          <a:p>
            <a:pPr algn="ctr"/>
            <a:endParaRPr lang="en-IN" dirty="0">
              <a:solidFill>
                <a:schemeClr val="tx1">
                  <a:lumMod val="95000"/>
                  <a:lumOff val="5000"/>
                </a:schemeClr>
              </a:solidFill>
            </a:endParaRPr>
          </a:p>
        </p:txBody>
      </p:sp>
      <p:sp>
        <p:nvSpPr>
          <p:cNvPr id="8" name="Rectangle: Rounded Corners 7"/>
          <p:cNvSpPr/>
          <p:nvPr/>
        </p:nvSpPr>
        <p:spPr>
          <a:xfrm>
            <a:off x="501444" y="2058543"/>
            <a:ext cx="2546556" cy="2670773"/>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lumMod val="95000"/>
                    <a:lumOff val="5000"/>
                  </a:schemeClr>
                </a:solidFill>
              </a:rPr>
              <a:t>Peddina Venkat Kalyan</a:t>
            </a:r>
            <a:endParaRPr lang="en-IN" b="1"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Designed deep learning pipeline (EfficientNetV2)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Implemented preprocessing (frame extraction, MTCNN)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Trained and optimized detection model </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rPr>
              <a:t>Evaluated performance (accuracy, loss metrics)</a:t>
            </a:r>
            <a:endParaRPr lang="en-IN" dirty="0">
              <a:solidFill>
                <a:schemeClr val="tx1">
                  <a:lumMod val="95000"/>
                  <a:lumOff val="5000"/>
                </a:schemeClr>
              </a:solidFill>
            </a:endParaRPr>
          </a:p>
          <a:p>
            <a:pPr algn="ctr"/>
            <a:endParaRPr lang="en-IN" dirty="0">
              <a:solidFill>
                <a:schemeClr val="tx1">
                  <a:lumMod val="95000"/>
                  <a:lumOff val="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33145" y="346075"/>
            <a:ext cx="5480685" cy="59372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Data preprocessing </a:t>
            </a:r>
            <a:endParaRPr lang="en-US" sz="2800"/>
          </a:p>
        </p:txBody>
      </p:sp>
      <p:sp>
        <p:nvSpPr>
          <p:cNvPr id="3" name="Text Box 2"/>
          <p:cNvSpPr txBox="1"/>
          <p:nvPr/>
        </p:nvSpPr>
        <p:spPr>
          <a:xfrm>
            <a:off x="1032510" y="1141095"/>
            <a:ext cx="9200515" cy="4157345"/>
          </a:xfrm>
          <a:prstGeom prst="rect">
            <a:avLst/>
          </a:prstGeom>
          <a:noFill/>
        </p:spPr>
        <p:txBody>
          <a:bodyPr wrap="square" rtlCol="0">
            <a:noAutofit/>
          </a:bodyPr>
          <a:p>
            <a:endParaRPr lang="en-US" altLang="en-US"/>
          </a:p>
          <a:p>
            <a:r>
              <a:rPr lang="en-US" altLang="en-US" sz="2800" b="1"/>
              <a:t>Data Preprocessing Steps</a:t>
            </a:r>
            <a:endParaRPr lang="en-US" altLang="en-US" sz="2800" b="1"/>
          </a:p>
          <a:p>
            <a:endParaRPr lang="en-US" altLang="en-US" sz="2800"/>
          </a:p>
          <a:p>
            <a:r>
              <a:rPr lang="en-IN" altLang="en-US" sz="2000" b="1"/>
              <a:t>1.</a:t>
            </a:r>
            <a:r>
              <a:rPr lang="en-US" altLang="en-US" sz="2000"/>
              <a:t>Collected image, video, and audio datasets</a:t>
            </a:r>
            <a:endParaRPr lang="en-US" altLang="en-US" sz="2000"/>
          </a:p>
          <a:p>
            <a:r>
              <a:rPr lang="en-IN" altLang="en-US" sz="2000" b="1"/>
              <a:t>2</a:t>
            </a:r>
            <a:r>
              <a:rPr lang="en-IN" altLang="en-US" sz="2000"/>
              <a:t>.</a:t>
            </a:r>
            <a:r>
              <a:rPr lang="en-US" altLang="en-US" sz="2000"/>
              <a:t>Removed duplicate and low-quality files</a:t>
            </a:r>
            <a:endParaRPr lang="en-US" altLang="en-US" sz="2000"/>
          </a:p>
          <a:p>
            <a:r>
              <a:rPr lang="en-IN" altLang="en-US" sz="2000" b="1"/>
              <a:t>3.</a:t>
            </a:r>
            <a:r>
              <a:rPr lang="en-US" altLang="en-US" sz="2000"/>
              <a:t>Resized images and extracted faces using MTCNN</a:t>
            </a:r>
            <a:endParaRPr lang="en-US" altLang="en-US" sz="2000"/>
          </a:p>
          <a:p>
            <a:r>
              <a:rPr lang="en-IN" altLang="en-US" sz="2000" b="1"/>
              <a:t>4</a:t>
            </a:r>
            <a:r>
              <a:rPr lang="en-IN" altLang="en-US" sz="2000"/>
              <a:t>.</a:t>
            </a:r>
            <a:r>
              <a:rPr lang="en-US" altLang="en-US" sz="2000"/>
              <a:t>xtracted frames from videos and detected faces</a:t>
            </a:r>
            <a:endParaRPr lang="en-US" altLang="en-US" sz="2000"/>
          </a:p>
          <a:p>
            <a:r>
              <a:rPr lang="en-IN" altLang="en-US" sz="2000" b="1"/>
              <a:t>5</a:t>
            </a:r>
            <a:r>
              <a:rPr lang="en-IN" altLang="en-US" sz="2000"/>
              <a:t>.</a:t>
            </a:r>
            <a:r>
              <a:rPr lang="en-US" altLang="en-US" sz="2000"/>
              <a:t>Removed noise from audio and converted into spectrograms</a:t>
            </a:r>
            <a:endParaRPr lang="en-US" altLang="en-US" sz="2000"/>
          </a:p>
          <a:p>
            <a:r>
              <a:rPr lang="en-IN" altLang="en-US" sz="2000" b="1"/>
              <a:t>6</a:t>
            </a:r>
            <a:r>
              <a:rPr lang="en-IN" altLang="en-US" sz="2000"/>
              <a:t>.</a:t>
            </a:r>
            <a:r>
              <a:rPr lang="en-US" altLang="en-US" sz="2000"/>
              <a:t>Labeled data as Real or Fake</a:t>
            </a:r>
            <a:endParaRPr lang="en-US" altLang="en-US" sz="2000"/>
          </a:p>
          <a:p>
            <a:r>
              <a:rPr lang="en-IN" altLang="en-US" sz="2000" b="1"/>
              <a:t>7</a:t>
            </a:r>
            <a:r>
              <a:rPr lang="en-IN" altLang="en-US" sz="2000"/>
              <a:t>.</a:t>
            </a:r>
            <a:r>
              <a:rPr lang="en-US" altLang="en-US" sz="2000"/>
              <a:t>Split dataset into training and testing data</a:t>
            </a:r>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75995" y="338455"/>
            <a:ext cx="5768975" cy="602615"/>
          </a:xfrm>
          <a:prstGeom prst="rect">
            <a:avLst/>
          </a:prstGeom>
          <a:noFill/>
        </p:spPr>
        <p:txBody>
          <a:bodyPr wrap="square" rtlCol="0">
            <a:noAutofit/>
          </a:bodyPr>
          <a:p>
            <a:r>
              <a:rPr lang="en-IN" sz="2800" b="1" dirty="0">
                <a:latin typeface="Times New Roman" panose="02020603050405020304" charset="0"/>
                <a:cs typeface="Times New Roman" panose="02020603050405020304" charset="0"/>
                <a:sym typeface="+mn-ea"/>
              </a:rPr>
              <a:t>FEATURE ENGINEERING</a:t>
            </a:r>
            <a:endParaRPr lang="en-US" sz="2800" b="1"/>
          </a:p>
        </p:txBody>
      </p:sp>
      <p:sp>
        <p:nvSpPr>
          <p:cNvPr id="6" name="Text Box 5"/>
          <p:cNvSpPr txBox="1"/>
          <p:nvPr/>
        </p:nvSpPr>
        <p:spPr>
          <a:xfrm>
            <a:off x="1079500" y="1129030"/>
            <a:ext cx="9351010" cy="4979670"/>
          </a:xfrm>
          <a:prstGeom prst="rect">
            <a:avLst/>
          </a:prstGeom>
          <a:noFill/>
        </p:spPr>
        <p:txBody>
          <a:bodyPr wrap="square" rtlCol="0">
            <a:noAutofit/>
          </a:bodyPr>
          <a:p>
            <a:r>
              <a:rPr lang="en-US" altLang="en-US" sz="1600"/>
              <a:t>Feature engineering is the process of extracting important information from image, video, and audio data for deepfake detection.</a:t>
            </a:r>
            <a:endParaRPr lang="en-US" altLang="en-US" sz="1600"/>
          </a:p>
          <a:p>
            <a:r>
              <a:rPr lang="en-US" altLang="en-US" sz="1800" b="1"/>
              <a:t>Image Features</a:t>
            </a:r>
            <a:endParaRPr lang="en-US" altLang="en-US" sz="1800" b="1"/>
          </a:p>
          <a:p>
            <a:r>
              <a:rPr lang="en-IN" altLang="en-US" sz="1600"/>
              <a:t> </a:t>
            </a:r>
            <a:r>
              <a:rPr lang="en-US" altLang="en-US" sz="1600"/>
              <a:t>Facial features</a:t>
            </a:r>
            <a:endParaRPr lang="en-US" altLang="en-US" sz="1600"/>
          </a:p>
          <a:p>
            <a:r>
              <a:rPr lang="en-IN" altLang="en-US" sz="1600"/>
              <a:t> </a:t>
            </a:r>
            <a:r>
              <a:rPr lang="en-US" altLang="en-US" sz="1600"/>
              <a:t>Texture patterns</a:t>
            </a:r>
            <a:endParaRPr lang="en-US" altLang="en-US" sz="1600"/>
          </a:p>
          <a:p>
            <a:r>
              <a:rPr lang="en-IN" altLang="en-US" sz="1600"/>
              <a:t> </a:t>
            </a:r>
            <a:r>
              <a:rPr lang="en-US" altLang="en-US" sz="1600"/>
              <a:t>Pixel inconsistencies</a:t>
            </a:r>
            <a:r>
              <a:rPr lang="en-IN" altLang="en-US" sz="1600"/>
              <a:t>  </a:t>
            </a:r>
            <a:endParaRPr lang="en-US" altLang="en-US"/>
          </a:p>
          <a:p>
            <a:r>
              <a:rPr lang="en-US" altLang="en-US" sz="1800" b="1"/>
              <a:t>Video Features</a:t>
            </a:r>
            <a:endParaRPr lang="en-US" altLang="en-US" sz="1800" b="1"/>
          </a:p>
          <a:p>
            <a:r>
              <a:rPr lang="en-IN" altLang="en-US"/>
              <a:t> </a:t>
            </a:r>
            <a:r>
              <a:rPr lang="en-US" altLang="en-US"/>
              <a:t>Frame changes</a:t>
            </a:r>
            <a:endParaRPr lang="en-US" altLang="en-US"/>
          </a:p>
          <a:p>
            <a:r>
              <a:rPr lang="en-IN" altLang="en-US"/>
              <a:t> </a:t>
            </a:r>
            <a:r>
              <a:rPr lang="en-US" altLang="en-US"/>
              <a:t>Facial movement patterns</a:t>
            </a:r>
            <a:endParaRPr lang="en-US" altLang="en-US"/>
          </a:p>
          <a:p>
            <a:r>
              <a:rPr lang="en-IN" altLang="en-US"/>
              <a:t> </a:t>
            </a:r>
            <a:r>
              <a:rPr lang="en-US" altLang="en-US"/>
              <a:t>Lip-sync mismatches</a:t>
            </a:r>
            <a:endParaRPr lang="en-US" altLang="en-US"/>
          </a:p>
          <a:p>
            <a:r>
              <a:rPr lang="en-US" altLang="en-US" sz="1800" b="1"/>
              <a:t>Audio Features</a:t>
            </a:r>
            <a:endParaRPr lang="en-US" altLang="en-US" sz="1800" b="1"/>
          </a:p>
          <a:p>
            <a:r>
              <a:rPr lang="en-IN" altLang="en-US"/>
              <a:t> </a:t>
            </a:r>
            <a:r>
              <a:rPr lang="en-US" altLang="en-US"/>
              <a:t>Voice frequency patterns</a:t>
            </a:r>
            <a:endParaRPr lang="en-US" altLang="en-US"/>
          </a:p>
          <a:p>
            <a:r>
              <a:rPr lang="en-IN" altLang="en-US"/>
              <a:t> </a:t>
            </a:r>
            <a:r>
              <a:rPr lang="en-US" altLang="en-US"/>
              <a:t>Speech irregularities</a:t>
            </a:r>
            <a:endParaRPr lang="en-US" altLang="en-US"/>
          </a:p>
          <a:p>
            <a:r>
              <a:rPr lang="en-IN" altLang="en-US"/>
              <a:t> </a:t>
            </a:r>
            <a:r>
              <a:rPr lang="en-US" altLang="en-US"/>
              <a:t>Spectrogram features</a:t>
            </a:r>
            <a:endParaRPr lang="en-US" altLang="en-US"/>
          </a:p>
          <a:p>
            <a:r>
              <a:rPr lang="en-US" altLang="en-US" sz="1800" b="1"/>
              <a:t>Techniques Used</a:t>
            </a:r>
            <a:endParaRPr lang="en-US" altLang="en-US" sz="1800" b="1"/>
          </a:p>
          <a:p>
            <a:r>
              <a:rPr lang="en-IN" altLang="en-US"/>
              <a:t> </a:t>
            </a:r>
            <a:r>
              <a:rPr lang="en-US" altLang="en-US"/>
              <a:t>MTCNN for face extraction</a:t>
            </a:r>
            <a:endParaRPr lang="en-US" altLang="en-US"/>
          </a:p>
          <a:p>
            <a:r>
              <a:rPr lang="en-IN" altLang="en-US"/>
              <a:t> </a:t>
            </a:r>
            <a:r>
              <a:rPr lang="en-US" altLang="en-US"/>
              <a:t>EfficientNetV2 for image features</a:t>
            </a:r>
            <a:endParaRPr lang="en-US" altLang="en-US"/>
          </a:p>
          <a:p>
            <a:r>
              <a:rPr lang="en-IN" altLang="en-US"/>
              <a:t> </a:t>
            </a:r>
            <a:r>
              <a:rPr lang="en-US" altLang="en-US"/>
              <a:t>Wav2Vec for audio feature extraction</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63930" y="462915"/>
            <a:ext cx="5366385" cy="488315"/>
          </a:xfrm>
          <a:prstGeom prst="rect">
            <a:avLst/>
          </a:prstGeom>
          <a:noFill/>
        </p:spPr>
        <p:txBody>
          <a:bodyPr wrap="square" rtlCol="0">
            <a:noAutofit/>
          </a:bodyPr>
          <a:p>
            <a:r>
              <a:rPr lang="en-IN" sz="2400" b="1" dirty="0">
                <a:latin typeface="Times New Roman" panose="02020603050405020304" charset="0"/>
                <a:cs typeface="Times New Roman" panose="02020603050405020304" charset="0"/>
                <a:sym typeface="+mn-ea"/>
              </a:rPr>
              <a:t>MODEL IMPLEMENTATION</a:t>
            </a:r>
            <a:endParaRPr lang="en-US" sz="2400"/>
          </a:p>
        </p:txBody>
      </p:sp>
      <p:sp>
        <p:nvSpPr>
          <p:cNvPr id="4" name="Text Box 3"/>
          <p:cNvSpPr txBox="1"/>
          <p:nvPr/>
        </p:nvSpPr>
        <p:spPr>
          <a:xfrm>
            <a:off x="963930" y="1117600"/>
            <a:ext cx="4635500" cy="5170805"/>
          </a:xfrm>
          <a:prstGeom prst="rect">
            <a:avLst/>
          </a:prstGeom>
          <a:noFill/>
        </p:spPr>
        <p:txBody>
          <a:bodyPr wrap="square" rtlCol="0">
            <a:noAutofit/>
          </a:bodyPr>
          <a:p>
            <a:r>
              <a:rPr lang="en-US" altLang="en-US" sz="1800" b="1"/>
              <a:t>Model Selection</a:t>
            </a:r>
            <a:endParaRPr lang="en-US" altLang="en-US" sz="1800" b="1"/>
          </a:p>
          <a:p>
            <a:r>
              <a:rPr lang="en-US" altLang="en-US" sz="1600"/>
              <a:t>EfficientNetV2 used for image detection</a:t>
            </a:r>
            <a:endParaRPr lang="en-US" altLang="en-US" sz="1600"/>
          </a:p>
          <a:p>
            <a:r>
              <a:rPr lang="en-US" altLang="en-US" sz="1600"/>
              <a:t>Wav2Vec used for audio detection</a:t>
            </a:r>
            <a:endParaRPr lang="en-US" altLang="en-US" sz="1600"/>
          </a:p>
          <a:p>
            <a:r>
              <a:rPr lang="en-US" altLang="en-US" sz="1600"/>
              <a:t>MTCNN used for face detection</a:t>
            </a:r>
            <a:endParaRPr lang="en-US" altLang="en-US" sz="1600"/>
          </a:p>
          <a:p>
            <a:r>
              <a:rPr lang="en-US" altLang="en-US" sz="1800" b="1"/>
              <a:t>Data Preparation</a:t>
            </a:r>
            <a:endParaRPr lang="en-US" altLang="en-US" sz="1800" b="1"/>
          </a:p>
          <a:p>
            <a:r>
              <a:rPr lang="en-US" altLang="en-US" b="1"/>
              <a:t>Input:</a:t>
            </a:r>
            <a:endParaRPr lang="en-US" altLang="en-US" b="1"/>
          </a:p>
          <a:p>
            <a:r>
              <a:rPr lang="en-US" altLang="en-US" sz="1600"/>
              <a:t>Images</a:t>
            </a:r>
            <a:endParaRPr lang="en-US" altLang="en-US" sz="1600"/>
          </a:p>
          <a:p>
            <a:r>
              <a:rPr lang="en-US" altLang="en-US" sz="1600"/>
              <a:t>Videos</a:t>
            </a:r>
            <a:endParaRPr lang="en-US" altLang="en-US" sz="1600"/>
          </a:p>
          <a:p>
            <a:r>
              <a:rPr lang="en-US" altLang="en-US" sz="1600"/>
              <a:t>Audio files</a:t>
            </a:r>
            <a:endParaRPr lang="en-US" altLang="en-US" sz="1600"/>
          </a:p>
          <a:p>
            <a:r>
              <a:rPr lang="en-US" altLang="en-US" b="1"/>
              <a:t>Output:</a:t>
            </a:r>
            <a:endParaRPr lang="en-US" altLang="en-US" b="1"/>
          </a:p>
          <a:p>
            <a:r>
              <a:rPr lang="en-US" altLang="en-US"/>
              <a:t>Real or Fake result</a:t>
            </a:r>
            <a:endParaRPr lang="en-US" altLang="en-US"/>
          </a:p>
          <a:p>
            <a:r>
              <a:rPr lang="en-US" altLang="en-US" sz="1800" b="1"/>
              <a:t>Training Process</a:t>
            </a:r>
            <a:endParaRPr lang="en-US" altLang="en-US" sz="1800" b="1"/>
          </a:p>
          <a:p>
            <a:r>
              <a:rPr lang="en-US" altLang="en-US" sz="1600"/>
              <a:t>80% data used for training</a:t>
            </a:r>
            <a:endParaRPr lang="en-US" altLang="en-US" sz="1600"/>
          </a:p>
          <a:p>
            <a:r>
              <a:rPr lang="en-US" altLang="en-US" sz="1600"/>
              <a:t>20% data used for testing</a:t>
            </a:r>
            <a:endParaRPr lang="en-US" altLang="en-US" sz="1600"/>
          </a:p>
          <a:p>
            <a:r>
              <a:rPr lang="en-US" altLang="en-US" sz="1600"/>
              <a:t>Models trained using real and fake media samples</a:t>
            </a:r>
            <a:endParaRPr lang="en-US" altLang="en-US" sz="1600"/>
          </a:p>
          <a:p>
            <a:r>
              <a:rPr lang="en-US" altLang="en-US" sz="1800" b="1"/>
              <a:t>Evaluation</a:t>
            </a:r>
            <a:endParaRPr lang="en-US" altLang="en-US" sz="1800" b="1"/>
          </a:p>
          <a:p>
            <a:r>
              <a:rPr lang="en-US" altLang="en-US" sz="1600"/>
              <a:t>Metrics Used:</a:t>
            </a:r>
            <a:endParaRPr lang="en-US" altLang="en-US" sz="1600"/>
          </a:p>
          <a:p>
            <a:r>
              <a:rPr lang="en-US" altLang="en-US" sz="1600"/>
              <a:t>Accuracy</a:t>
            </a:r>
            <a:endParaRPr lang="en-US" altLang="en-US" sz="1600"/>
          </a:p>
          <a:p>
            <a:r>
              <a:rPr lang="en-US" altLang="en-US" sz="1600"/>
              <a:t>Precision</a:t>
            </a:r>
            <a:endParaRPr lang="en-US" altLang="en-US" sz="1600"/>
          </a:p>
          <a:p>
            <a:r>
              <a:rPr lang="en-US" altLang="en-US" sz="1600"/>
              <a:t>Recall</a:t>
            </a:r>
            <a:endParaRPr lang="en-US" altLang="en-US" sz="1600"/>
          </a:p>
          <a:p>
            <a:endParaRPr lang="en-US" altLang="en-US" sz="1600"/>
          </a:p>
        </p:txBody>
      </p:sp>
      <p:sp>
        <p:nvSpPr>
          <p:cNvPr id="6" name="Text Box 5"/>
          <p:cNvSpPr txBox="1"/>
          <p:nvPr/>
        </p:nvSpPr>
        <p:spPr>
          <a:xfrm>
            <a:off x="5815330" y="1279525"/>
            <a:ext cx="4476115" cy="3333115"/>
          </a:xfrm>
          <a:prstGeom prst="rect">
            <a:avLst/>
          </a:prstGeom>
          <a:noFill/>
        </p:spPr>
        <p:txBody>
          <a:bodyPr wrap="square" rtlCol="0">
            <a:noAutofit/>
          </a:bodyPr>
          <a:p>
            <a:r>
              <a:rPr lang="en-US" altLang="en-US" sz="1800" b="1">
                <a:sym typeface="+mn-ea"/>
              </a:rPr>
              <a:t>Result:</a:t>
            </a:r>
            <a:endParaRPr lang="en-US" altLang="en-US" sz="1800" b="1"/>
          </a:p>
          <a:p>
            <a:r>
              <a:rPr lang="en-US" altLang="en-US" sz="1600">
                <a:sym typeface="+mn-ea"/>
              </a:rPr>
              <a:t>Achieved high detection accuracy</a:t>
            </a:r>
            <a:endParaRPr lang="en-US" altLang="en-US" sz="1600"/>
          </a:p>
          <a:p>
            <a:r>
              <a:rPr lang="en-US" altLang="en-US" sz="1800" b="1">
                <a:sym typeface="+mn-ea"/>
              </a:rPr>
              <a:t>Deployment</a:t>
            </a:r>
            <a:endParaRPr lang="en-US" altLang="en-US" sz="1800" b="1"/>
          </a:p>
          <a:p>
            <a:r>
              <a:rPr lang="en-US" altLang="en-US" sz="1600">
                <a:sym typeface="+mn-ea"/>
              </a:rPr>
              <a:t>Model integrated with Flask web application</a:t>
            </a:r>
            <a:endParaRPr lang="en-US" altLang="en-US" sz="1600"/>
          </a:p>
          <a:p>
            <a:r>
              <a:rPr lang="en-US" altLang="en-US" sz="1600">
                <a:sym typeface="+mn-ea"/>
              </a:rPr>
              <a:t>Connected with frontend for user uploads and prediction</a:t>
            </a:r>
            <a:endParaRPr lang="en-US" altLang="en-US" sz="1600"/>
          </a:p>
          <a:p>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81405" y="1161415"/>
            <a:ext cx="9072880" cy="4959985"/>
          </a:xfrm>
          <a:prstGeom prst="rect">
            <a:avLst/>
          </a:prstGeom>
          <a:noFill/>
        </p:spPr>
        <p:txBody>
          <a:bodyPr wrap="square" rtlCol="0">
            <a:noAutofit/>
          </a:bodyPr>
          <a:p>
            <a:r>
              <a:rPr lang="en-US" altLang="en-US" sz="1800" b="1"/>
              <a:t>Performance Evaluation</a:t>
            </a:r>
            <a:endParaRPr lang="en-US" altLang="en-US" sz="1800" b="1"/>
          </a:p>
          <a:p>
            <a:r>
              <a:rPr lang="en-IN" altLang="en-US" sz="1600"/>
              <a:t> </a:t>
            </a:r>
            <a:r>
              <a:rPr lang="en-US" altLang="en-US" sz="1600"/>
              <a:t>The performance of the DeepShield system was evaluated using different testing metrics.</a:t>
            </a:r>
            <a:endParaRPr lang="en-US" altLang="en-US" sz="1600"/>
          </a:p>
          <a:p>
            <a:r>
              <a:rPr lang="en-US" altLang="en-US" sz="1800" b="1"/>
              <a:t>Evaluation Metrics</a:t>
            </a:r>
            <a:endParaRPr lang="en-US" altLang="en-US" sz="1800" b="1"/>
          </a:p>
          <a:p>
            <a:r>
              <a:rPr lang="en-IN" altLang="en-US" sz="1600"/>
              <a:t> </a:t>
            </a:r>
            <a:r>
              <a:rPr lang="en-US" altLang="en-US" sz="1600"/>
              <a:t>Accuracy</a:t>
            </a:r>
            <a:endParaRPr lang="en-US" altLang="en-US" sz="1600"/>
          </a:p>
          <a:p>
            <a:r>
              <a:rPr lang="en-IN" altLang="en-US" sz="1600"/>
              <a:t> </a:t>
            </a:r>
            <a:r>
              <a:rPr lang="en-US" altLang="en-US" sz="1600"/>
              <a:t>Precision</a:t>
            </a:r>
            <a:endParaRPr lang="en-US" altLang="en-US" sz="1600"/>
          </a:p>
          <a:p>
            <a:r>
              <a:rPr lang="en-IN" altLang="en-US" sz="1600"/>
              <a:t> </a:t>
            </a:r>
            <a:r>
              <a:rPr lang="en-US" altLang="en-US" sz="1600"/>
              <a:t>Recall</a:t>
            </a:r>
            <a:endParaRPr lang="en-US" altLang="en-US" sz="1600"/>
          </a:p>
          <a:p>
            <a:r>
              <a:rPr lang="en-IN" altLang="en-US" sz="1600"/>
              <a:t> </a:t>
            </a:r>
            <a:r>
              <a:rPr lang="en-US" altLang="en-US" sz="1600"/>
              <a:t>F1-Score</a:t>
            </a:r>
            <a:endParaRPr lang="en-US" altLang="en-US" sz="1600"/>
          </a:p>
          <a:p>
            <a:r>
              <a:rPr lang="en-US" altLang="en-US" sz="1800" b="1"/>
              <a:t>Performance Results</a:t>
            </a:r>
            <a:endParaRPr lang="en-US" altLang="en-US" sz="1800" b="1"/>
          </a:p>
          <a:p>
            <a:r>
              <a:rPr lang="en-IN" altLang="en-US" sz="1600"/>
              <a:t> </a:t>
            </a:r>
            <a:r>
              <a:rPr lang="en-US" altLang="en-US" sz="1600"/>
              <a:t>Image Detection Accuracy – 94%</a:t>
            </a:r>
            <a:endParaRPr lang="en-US" altLang="en-US" sz="1600"/>
          </a:p>
          <a:p>
            <a:r>
              <a:rPr lang="en-IN" altLang="en-US" sz="1600"/>
              <a:t> </a:t>
            </a:r>
            <a:r>
              <a:rPr lang="en-US" altLang="en-US" sz="1600"/>
              <a:t>Video Detection Accuracy – 92%</a:t>
            </a:r>
            <a:endParaRPr lang="en-US" altLang="en-US" sz="1600"/>
          </a:p>
          <a:p>
            <a:r>
              <a:rPr lang="en-IN" altLang="en-US" sz="1600"/>
              <a:t> </a:t>
            </a:r>
            <a:r>
              <a:rPr lang="en-US" altLang="en-US" sz="1600"/>
              <a:t>Audio Detection Accuracy – 90%</a:t>
            </a:r>
            <a:endParaRPr lang="en-US" altLang="en-US" sz="1600"/>
          </a:p>
          <a:p>
            <a:r>
              <a:rPr lang="en-US" altLang="en-US" sz="1800" b="1"/>
              <a:t>Observations</a:t>
            </a:r>
            <a:endParaRPr lang="en-US" altLang="en-US" sz="1800" b="1"/>
          </a:p>
          <a:p>
            <a:r>
              <a:rPr lang="en-IN" altLang="en-US" sz="1600"/>
              <a:t> </a:t>
            </a:r>
            <a:r>
              <a:rPr lang="en-US" altLang="en-US" sz="1600"/>
              <a:t>The system successfully detected fake images, videos, and audio files</a:t>
            </a:r>
            <a:endParaRPr lang="en-US" altLang="en-US" sz="1600"/>
          </a:p>
          <a:p>
            <a:r>
              <a:rPr lang="en-IN" altLang="en-US" sz="1600"/>
              <a:t> </a:t>
            </a:r>
            <a:r>
              <a:rPr lang="en-US" altLang="en-US" sz="1600"/>
              <a:t>Multi-modal detection improved overall accuracy</a:t>
            </a:r>
            <a:endParaRPr lang="en-US" altLang="en-US" sz="1600"/>
          </a:p>
          <a:p>
            <a:r>
              <a:rPr lang="en-IN" altLang="en-US" sz="1600"/>
              <a:t> </a:t>
            </a:r>
            <a:r>
              <a:rPr lang="en-US" altLang="en-US" sz="1600"/>
              <a:t>The model performed well on real and fake media samples</a:t>
            </a:r>
            <a:endParaRPr lang="en-US" altLang="en-US" sz="1600"/>
          </a:p>
          <a:p>
            <a:r>
              <a:rPr lang="en-US" altLang="en-US" sz="1800" b="1"/>
              <a:t>Outcome</a:t>
            </a:r>
            <a:endParaRPr lang="en-US" altLang="en-US" sz="1800" b="1"/>
          </a:p>
          <a:p>
            <a:r>
              <a:rPr lang="en-IN" altLang="en-US" sz="1600"/>
              <a:t> </a:t>
            </a:r>
            <a:r>
              <a:rPr lang="en-US" altLang="en-US" sz="1600"/>
              <a:t>High detection accuracy achieved</a:t>
            </a:r>
            <a:endParaRPr lang="en-US" altLang="en-US" sz="1600"/>
          </a:p>
          <a:p>
            <a:r>
              <a:rPr lang="en-IN" altLang="en-US" sz="1600"/>
              <a:t> </a:t>
            </a:r>
            <a:r>
              <a:rPr lang="en-US" altLang="en-US" sz="1600"/>
              <a:t>Reliable prediction of deepfake content</a:t>
            </a:r>
            <a:endParaRPr lang="en-US" altLang="en-US" sz="1600"/>
          </a:p>
          <a:p>
            <a:r>
              <a:rPr lang="en-IN" altLang="en-US" sz="1600"/>
              <a:t> </a:t>
            </a:r>
            <a:r>
              <a:rPr lang="en-US" altLang="en-US" sz="1600"/>
              <a:t>Improved performance using AI-based detection models</a:t>
            </a:r>
            <a:endParaRPr lang="en-US" sz="1600"/>
          </a:p>
        </p:txBody>
      </p:sp>
      <p:sp>
        <p:nvSpPr>
          <p:cNvPr id="3" name="Text Box 2"/>
          <p:cNvSpPr txBox="1"/>
          <p:nvPr/>
        </p:nvSpPr>
        <p:spPr>
          <a:xfrm>
            <a:off x="1142365" y="401955"/>
            <a:ext cx="4954270" cy="554990"/>
          </a:xfrm>
          <a:prstGeom prst="rect">
            <a:avLst/>
          </a:prstGeom>
          <a:noFill/>
        </p:spPr>
        <p:txBody>
          <a:bodyPr wrap="square" rtlCol="0">
            <a:noAutofit/>
          </a:bodyPr>
          <a:p>
            <a:pPr>
              <a:buNone/>
            </a:pPr>
            <a:r>
              <a:rPr lang="en-IN" sz="2400" b="1" dirty="0">
                <a:latin typeface="Times New Roman" panose="02020603050405020304" charset="0"/>
                <a:cs typeface="Times New Roman" panose="02020603050405020304" charset="0"/>
                <a:sym typeface="+mn-ea"/>
              </a:rPr>
              <a:t>PERFORMANCE EVALUATION</a:t>
            </a:r>
            <a:endParaRPr lang="en-US" sz="24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48385" y="396875"/>
            <a:ext cx="5107940" cy="554355"/>
          </a:xfrm>
          <a:prstGeom prst="rect">
            <a:avLst/>
          </a:prstGeom>
          <a:noFill/>
        </p:spPr>
        <p:txBody>
          <a:bodyPr wrap="square" rtlCol="0">
            <a:noAutofit/>
          </a:bodyPr>
          <a:p>
            <a:r>
              <a:rPr lang="en-IN" sz="2800" b="1" dirty="0">
                <a:latin typeface="Times New Roman" panose="02020603050405020304" charset="0"/>
                <a:cs typeface="Times New Roman" panose="02020603050405020304" charset="0"/>
                <a:sym typeface="+mn-ea"/>
              </a:rPr>
              <a:t>RESULTS ANALYSIS</a:t>
            </a:r>
            <a:endParaRPr lang="en-US" sz="2800"/>
          </a:p>
        </p:txBody>
      </p:sp>
      <p:sp>
        <p:nvSpPr>
          <p:cNvPr id="4" name="Text Box 3"/>
          <p:cNvSpPr txBox="1"/>
          <p:nvPr/>
        </p:nvSpPr>
        <p:spPr>
          <a:xfrm>
            <a:off x="1048385" y="1097280"/>
            <a:ext cx="9117965" cy="5027295"/>
          </a:xfrm>
          <a:prstGeom prst="rect">
            <a:avLst/>
          </a:prstGeom>
          <a:noFill/>
        </p:spPr>
        <p:txBody>
          <a:bodyPr wrap="square" rtlCol="0">
            <a:noAutofit/>
          </a:bodyPr>
          <a:p>
            <a:r>
              <a:rPr lang="en-US" altLang="en-US" sz="2000" b="1"/>
              <a:t>Results Analysis</a:t>
            </a:r>
            <a:endParaRPr lang="en-US" altLang="en-US" sz="2000" b="1"/>
          </a:p>
          <a:p>
            <a:endParaRPr lang="en-US" altLang="en-US"/>
          </a:p>
          <a:p>
            <a:r>
              <a:rPr lang="en-IN" altLang="en-US" sz="1800"/>
              <a:t> </a:t>
            </a:r>
            <a:r>
              <a:rPr lang="en-US" altLang="en-US" sz="1800"/>
              <a:t>The system successfully detected fake images, videos, and audio files</a:t>
            </a:r>
            <a:endParaRPr lang="en-US" altLang="en-US" sz="1800"/>
          </a:p>
          <a:p>
            <a:r>
              <a:rPr lang="en-IN" altLang="en-US" sz="1800"/>
              <a:t> </a:t>
            </a:r>
            <a:r>
              <a:rPr lang="en-US" altLang="en-US" sz="1800"/>
              <a:t>Multi-modal detection improved overall system accuracy</a:t>
            </a:r>
            <a:endParaRPr lang="en-US" altLang="en-US" sz="1800"/>
          </a:p>
          <a:p>
            <a:r>
              <a:rPr lang="en-IN" altLang="en-US" sz="1800"/>
              <a:t> </a:t>
            </a:r>
            <a:r>
              <a:rPr lang="en-US" altLang="en-US" sz="1800"/>
              <a:t>EfficientNetV2 accurately detected manipulated images</a:t>
            </a:r>
            <a:endParaRPr lang="en-US" altLang="en-US" sz="1800"/>
          </a:p>
          <a:p>
            <a:r>
              <a:rPr lang="en-IN" altLang="en-US" sz="1800"/>
              <a:t> </a:t>
            </a:r>
            <a:r>
              <a:rPr lang="en-US" altLang="en-US" sz="1800"/>
              <a:t>Wav2Vec effectively identified AI-generated voices</a:t>
            </a:r>
            <a:endParaRPr lang="en-US" altLang="en-US" sz="1800"/>
          </a:p>
          <a:p>
            <a:r>
              <a:rPr lang="en-IN" altLang="en-US" sz="1800"/>
              <a:t> </a:t>
            </a:r>
            <a:r>
              <a:rPr lang="en-US" altLang="en-US" sz="1800"/>
              <a:t>Video analysis detected facial and frame inconsistencies</a:t>
            </a:r>
            <a:endParaRPr lang="en-US" altLang="en-US" sz="1800"/>
          </a:p>
          <a:p>
            <a:endParaRPr lang="en-US" altLang="en-US" sz="1800"/>
          </a:p>
          <a:p>
            <a:r>
              <a:rPr lang="en-US" altLang="en-US" sz="2000" b="1"/>
              <a:t> Outcome</a:t>
            </a:r>
            <a:endParaRPr lang="en-US" altLang="en-US" sz="2000" b="1"/>
          </a:p>
          <a:p>
            <a:endParaRPr lang="en-US" altLang="en-US" sz="2000" b="1"/>
          </a:p>
          <a:p>
            <a:r>
              <a:rPr lang="en-IN" altLang="en-US" sz="1600"/>
              <a:t> </a:t>
            </a:r>
            <a:r>
              <a:rPr lang="en-US" altLang="en-US" sz="1600"/>
              <a:t>High accuracy achieved in deepfake detection</a:t>
            </a:r>
            <a:endParaRPr lang="en-US" altLang="en-US" sz="1600"/>
          </a:p>
          <a:p>
            <a:r>
              <a:rPr lang="en-IN" altLang="en-US" sz="1600"/>
              <a:t> </a:t>
            </a:r>
            <a:r>
              <a:rPr lang="en-US" altLang="en-US" sz="1600"/>
              <a:t>System provided reliable Real or Fake predictions</a:t>
            </a:r>
            <a:endParaRPr lang="en-US" altLang="en-US" sz="1600"/>
          </a:p>
          <a:p>
            <a:r>
              <a:rPr lang="en-IN" altLang="en-US" sz="1600"/>
              <a:t> </a:t>
            </a:r>
            <a:r>
              <a:rPr lang="en-US" altLang="en-US" sz="1600"/>
              <a:t>Improved performance across different media types</a:t>
            </a:r>
            <a:endParaRPr lang="en-US" altLang="en-US" sz="1600"/>
          </a:p>
          <a:p>
            <a:endParaRPr lang="en-US" altLang="en-US" sz="1600"/>
          </a:p>
          <a:p>
            <a:endParaRPr 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p:nvPr/>
        </p:nvSpPr>
        <p:spPr>
          <a:xfrm>
            <a:off x="2471394" y="3167390"/>
            <a:ext cx="72492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3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THANK</a:t>
            </a:r>
            <a:r>
              <a:rPr 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YOU</a:t>
            </a:r>
            <a:r>
              <a:rPr lang="en-IN" alt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IN" alt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10882</Words>
  <Application>WPS Presentation</Application>
  <PresentationFormat>Widescreen</PresentationFormat>
  <Paragraphs>560</Paragraphs>
  <Slides>24</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Arial</vt:lpstr>
      <vt:lpstr>Calibri</vt:lpstr>
      <vt:lpstr>Times New Roman</vt:lpstr>
      <vt:lpstr>Courier New</vt:lpstr>
      <vt:lpstr>Times New Roman</vt:lpstr>
      <vt:lpstr>Tahoma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KGRCET</dc:creator>
  <cp:lastModifiedBy>Mounika</cp:lastModifiedBy>
  <cp:revision>42</cp:revision>
  <dcterms:created xsi:type="dcterms:W3CDTF">2025-02-03T15:16:00Z</dcterms:created>
  <dcterms:modified xsi:type="dcterms:W3CDTF">2026-05-05T16:41:06Z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9B8E02D143D04595B64EEA985715BBE8_13</vt:lpwstr>
  </property>
  <property fmtid="{D5CDD505-2E9C-101B-9397-08002B2CF9AE}" pid="3" name="KSOProductBuildVer">
    <vt:lpwstr>1033-12.1.0.25242</vt:lpwstr>
  </property>
</Properties>
</file>