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7"/>
  </p:notesMasterIdLst>
  <p:sldIdLst>
    <p:sldId id="256" r:id="rId2"/>
    <p:sldId id="311" r:id="rId3"/>
    <p:sldId id="312" r:id="rId4"/>
    <p:sldId id="277" r:id="rId5"/>
    <p:sldId id="288" r:id="rId6"/>
    <p:sldId id="269" r:id="rId7"/>
    <p:sldId id="324" r:id="rId8"/>
    <p:sldId id="293" r:id="rId9"/>
    <p:sldId id="300" r:id="rId10"/>
    <p:sldId id="301" r:id="rId11"/>
    <p:sldId id="295" r:id="rId12"/>
    <p:sldId id="302" r:id="rId13"/>
    <p:sldId id="285" r:id="rId14"/>
    <p:sldId id="303" r:id="rId15"/>
    <p:sldId id="298" r:id="rId16"/>
    <p:sldId id="315" r:id="rId17"/>
    <p:sldId id="316" r:id="rId18"/>
    <p:sldId id="320" r:id="rId19"/>
    <p:sldId id="321" r:id="rId20"/>
    <p:sldId id="317" r:id="rId21"/>
    <p:sldId id="318" r:id="rId22"/>
    <p:sldId id="322" r:id="rId23"/>
    <p:sldId id="319" r:id="rId24"/>
    <p:sldId id="323" r:id="rId25"/>
    <p:sldId id="267"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5" autoAdjust="0"/>
    <p:restoredTop sz="94631"/>
  </p:normalViewPr>
  <p:slideViewPr>
    <p:cSldViewPr snapToGrid="0">
      <p:cViewPr varScale="1">
        <p:scale>
          <a:sx n="78" d="100"/>
          <a:sy n="78" d="100"/>
        </p:scale>
        <p:origin x="9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 name="Google Shape;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2" descr="A picture containing text&#10;&#10;Description automatically generated"/>
          <p:cNvPicPr preferRelativeResize="0"/>
          <p:nvPr/>
        </p:nvPicPr>
        <p:blipFill rotWithShape="1">
          <a:blip r:embed="rId2"/>
          <a:srcRect/>
          <a:stretch>
            <a:fill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pic>
        <p:nvPicPr>
          <p:cNvPr id="14" name="Google Shape;14;p23" descr="Chart&#10;&#10;Description automatically generated with medium confidence"/>
          <p:cNvPicPr preferRelativeResize="0"/>
          <p:nvPr/>
        </p:nvPicPr>
        <p:blipFill rotWithShape="1">
          <a:blip r:embed="rId2"/>
          <a:srcRect/>
          <a:stretch>
            <a:fillRect/>
          </a:stretch>
        </p:blipFill>
        <p:spPr>
          <a:xfrm>
            <a:off x="9392" y="0"/>
            <a:ext cx="12182607" cy="68632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0"/>
          <p:cNvSpPr>
            <a:spLocks noGrp="1"/>
          </p:cNvSpPr>
          <p:nvPr>
            <p:ph type="pic" idx="2"/>
          </p:nvPr>
        </p:nvSpPr>
        <p:spPr>
          <a:xfrm>
            <a:off x="5183188" y="987425"/>
            <a:ext cx="6172200" cy="4873625"/>
          </a:xfrm>
          <a:prstGeom prst="rect">
            <a:avLst/>
          </a:prstGeom>
          <a:noFill/>
          <a:ln>
            <a:noFill/>
          </a:ln>
        </p:spPr>
      </p:sp>
      <p:sp>
        <p:nvSpPr>
          <p:cNvPr id="56" name="Google Shape;56;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0"/>
        <p:cNvGrpSpPr/>
        <p:nvPr/>
      </p:nvGrpSpPr>
      <p:grpSpPr>
        <a:xfrm>
          <a:off x="0" y="0"/>
          <a:ext cx="0" cy="0"/>
          <a:chOff x="0" y="0"/>
          <a:chExt cx="0" cy="0"/>
        </a:xfrm>
      </p:grpSpPr>
      <p:sp>
        <p:nvSpPr>
          <p:cNvPr id="61" name="Google Shape;61;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6"/>
        <p:cNvGrpSpPr/>
        <p:nvPr/>
      </p:nvGrpSpPr>
      <p:grpSpPr>
        <a:xfrm>
          <a:off x="0" y="0"/>
          <a:ext cx="0" cy="0"/>
          <a:chOff x="0" y="0"/>
          <a:chExt cx="0" cy="0"/>
        </a:xfrm>
      </p:grpSpPr>
      <p:sp>
        <p:nvSpPr>
          <p:cNvPr id="67" name="Google Shape;67;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ondyari/FaceForensics#access" TargetMode="External"/><Relationship Id="rId2" Type="http://schemas.openxmlformats.org/officeDocument/2006/relationships/hyperlink" Target="https://www.kaggle.com/c/deepfake-detection-challenge" TargetMode="External"/><Relationship Id="rId1" Type="http://schemas.openxmlformats.org/officeDocument/2006/relationships/slideLayout" Target="../slideLayouts/slideLayout2.xml"/><Relationship Id="rId5" Type="http://schemas.openxmlformats.org/officeDocument/2006/relationships/hyperlink" Target="https://conradsanderson.id.au/vidtimit/" TargetMode="External"/><Relationship Id="rId4" Type="http://schemas.openxmlformats.org/officeDocument/2006/relationships/hyperlink" Target="https://github.com/yuezunli/celeb-deepfakeforensic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NVlabs/ffhq-dataset" TargetMode="External"/><Relationship Id="rId2" Type="http://schemas.openxmlformats.org/officeDocument/2006/relationships/hyperlink" Target="https://mmlab.ie.cuhk.edu.hk/projects/CelebA.html" TargetMode="External"/><Relationship Id="rId1" Type="http://schemas.openxmlformats.org/officeDocument/2006/relationships/slideLayout" Target="../slideLayouts/slideLayout2.xml"/><Relationship Id="rId5" Type="http://schemas.openxmlformats.org/officeDocument/2006/relationships/hyperlink" Target="https://www.kaggle.com/c/fake-faces" TargetMode="External"/><Relationship Id="rId4" Type="http://schemas.openxmlformats.org/officeDocument/2006/relationships/hyperlink" Target="https://github.com/NVlabs/stylegan"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mohammedabdeldayem/the-fake-or-real-dataset" TargetMode="External"/><Relationship Id="rId2" Type="http://schemas.openxmlformats.org/officeDocument/2006/relationships/hyperlink" Target="https://zenodo.org/record/4837263" TargetMode="External"/><Relationship Id="rId1" Type="http://schemas.openxmlformats.org/officeDocument/2006/relationships/slideLayout" Target="../slideLayouts/slideLayout2.xml"/><Relationship Id="rId5" Type="http://schemas.openxmlformats.org/officeDocument/2006/relationships/hyperlink" Target="https://www.openslr.org/12" TargetMode="External"/><Relationship Id="rId4" Type="http://schemas.openxmlformats.org/officeDocument/2006/relationships/hyperlink" Target="https://github.com/RUB-SysSec/WaveFak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
          <p:cNvSpPr txBox="1"/>
          <p:nvPr/>
        </p:nvSpPr>
        <p:spPr>
          <a:xfrm>
            <a:off x="817320" y="4115875"/>
            <a:ext cx="5561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1"/>
          <p:cNvSpPr txBox="1"/>
          <p:nvPr/>
        </p:nvSpPr>
        <p:spPr>
          <a:xfrm>
            <a:off x="114963" y="2931057"/>
            <a:ext cx="6966414" cy="2583180"/>
          </a:xfrm>
          <a:prstGeom prst="rect">
            <a:avLst/>
          </a:prstGeom>
          <a:noFill/>
          <a:ln>
            <a:noFill/>
          </a:ln>
        </p:spPr>
        <p:txBody>
          <a:bodyPr spcFirstLastPara="1" wrap="square" lIns="91425" tIns="45700" rIns="91425" bIns="45700" anchor="t" anchorCtr="0">
            <a:spAutoFit/>
          </a:bodyPr>
          <a:lstStyle/>
          <a:p>
            <a:pPr algn="ctr">
              <a:lnSpc>
                <a:spcPct val="150000"/>
              </a:lnSpc>
              <a:buSzPts val="2400"/>
            </a:pPr>
            <a:r>
              <a:rPr lang="en-GB" sz="3600" b="1" dirty="0">
                <a:solidFill>
                  <a:schemeClr val="dk1"/>
                </a:solidFill>
                <a:latin typeface="Times New Roman" panose="02020603050405020304"/>
                <a:ea typeface="Times New Roman" panose="02020603050405020304"/>
                <a:cs typeface="Times New Roman" panose="02020603050405020304"/>
              </a:rPr>
              <a:t>Industry Oriented Mini Project</a:t>
            </a:r>
          </a:p>
          <a:p>
            <a:pPr algn="ctr">
              <a:lnSpc>
                <a:spcPct val="150000"/>
              </a:lnSpc>
              <a:buSzPts val="2400"/>
            </a:pPr>
            <a:r>
              <a:rPr lang="en-GB" sz="3600" b="1" dirty="0">
                <a:solidFill>
                  <a:schemeClr val="dk1"/>
                </a:solidFill>
                <a:latin typeface="Times New Roman" panose="02020603050405020304"/>
                <a:ea typeface="Times New Roman" panose="02020603050405020304"/>
                <a:cs typeface="Times New Roman" panose="02020603050405020304"/>
              </a:rPr>
              <a:t>MID- </a:t>
            </a:r>
            <a:r>
              <a:rPr lang="en-IN" altLang="en-GB" sz="3600" b="1" dirty="0">
                <a:solidFill>
                  <a:schemeClr val="dk1"/>
                </a:solidFill>
                <a:latin typeface="Times New Roman" panose="02020603050405020304"/>
                <a:ea typeface="Times New Roman" panose="02020603050405020304"/>
                <a:cs typeface="Times New Roman" panose="02020603050405020304"/>
              </a:rPr>
              <a:t>2 </a:t>
            </a:r>
            <a:r>
              <a:rPr lang="en-GB" sz="3600" b="1" dirty="0">
                <a:solidFill>
                  <a:schemeClr val="dk1"/>
                </a:solidFill>
                <a:latin typeface="Times New Roman" panose="02020603050405020304"/>
                <a:ea typeface="Times New Roman" panose="02020603050405020304"/>
                <a:cs typeface="Times New Roman" panose="02020603050405020304"/>
              </a:rPr>
              <a:t>REVIEW</a:t>
            </a:r>
          </a:p>
          <a:p>
            <a:pPr algn="ctr">
              <a:lnSpc>
                <a:spcPct val="150000"/>
              </a:lnSpc>
              <a:buSzPts val="2400"/>
            </a:pPr>
            <a:endParaRPr lang="en-GB" sz="3600" b="1" dirty="0">
              <a:solidFill>
                <a:schemeClr val="dk1"/>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479800" y="1340485"/>
            <a:ext cx="4064000" cy="953135"/>
          </a:xfrm>
          <a:prstGeom prst="rect">
            <a:avLst/>
          </a:prstGeom>
          <a:noFill/>
        </p:spPr>
        <p:txBody>
          <a:bodyPr wrap="square" rtlCol="0">
            <a:spAutoFit/>
          </a:bodyPr>
          <a:lstStyle/>
          <a:p>
            <a:r>
              <a:rPr lang="en-IN" altLang="en-US" sz="2800" b="1">
                <a:sym typeface="+mn-ea"/>
              </a:rPr>
              <a:t>           BATCH - 1</a:t>
            </a:r>
            <a:endParaRPr lang="en-IN" altLang="en-US" sz="2800" b="1"/>
          </a:p>
          <a:p>
            <a:endParaRPr lang="en-US" sz="2800" b="1"/>
          </a:p>
        </p:txBody>
      </p:sp>
      <p:sp>
        <p:nvSpPr>
          <p:cNvPr id="4" name="Text Box 3"/>
          <p:cNvSpPr txBox="1"/>
          <p:nvPr/>
        </p:nvSpPr>
        <p:spPr>
          <a:xfrm>
            <a:off x="2667635" y="2221230"/>
            <a:ext cx="6782435" cy="2853690"/>
          </a:xfrm>
          <a:prstGeom prst="rect">
            <a:avLst/>
          </a:prstGeom>
          <a:noFill/>
        </p:spPr>
        <p:txBody>
          <a:bodyPr wrap="square" rtlCol="0">
            <a:noAutofit/>
          </a:bodyPr>
          <a:lstStyle/>
          <a:p>
            <a:pPr marL="457200" marR="0" lvl="1" indent="0" algn="l" rtl="0">
              <a:lnSpc>
                <a:spcPct val="100000"/>
              </a:lnSpc>
              <a:spcBef>
                <a:spcPts val="0"/>
              </a:spcBef>
              <a:spcAft>
                <a:spcPts val="0"/>
              </a:spcAft>
              <a:buClr>
                <a:srgbClr val="000000"/>
              </a:buClr>
              <a:buSzPts val="2400"/>
              <a:buFont typeface="Arial" panose="020B0604020202020204"/>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Number</a:t>
            </a:r>
            <a:r>
              <a:rPr lang="en-IN" alt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Name of the Student</a:t>
            </a:r>
            <a:endParaRPr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1">
              <a:lnSpc>
                <a:spcPct val="150000"/>
              </a:lnSpc>
              <a:buClr>
                <a:schemeClr val="dk1"/>
              </a:buClr>
              <a:buSzPts val="2200"/>
            </a:pPr>
            <a:r>
              <a:rPr lang="en-IN" sz="2000" dirty="0">
                <a:effectLst/>
                <a:latin typeface="Times New Roman" panose="02020603050405020304" charset="0"/>
                <a:sym typeface="+mn-ea"/>
              </a:rPr>
              <a:t>       23QM1A6692              Peddina Venkat Kalyan</a:t>
            </a:r>
            <a:endParaRPr lang="en-IN" sz="2000" b="0" dirty="0">
              <a:effectLst/>
              <a:latin typeface="Times New Roman" panose="02020603050405020304" charset="0"/>
            </a:endParaRPr>
          </a:p>
          <a:p>
            <a:pPr lvl="1">
              <a:lnSpc>
                <a:spcPct val="150000"/>
              </a:lnSpc>
              <a:buClr>
                <a:schemeClr val="dk1"/>
              </a:buClr>
              <a:buSzPts val="2200"/>
            </a:pPr>
            <a:r>
              <a:rPr lang="en-IN" sz="2000" dirty="0">
                <a:effectLst/>
                <a:latin typeface="Times New Roman" panose="02020603050405020304" charset="0"/>
                <a:sym typeface="+mn-ea"/>
              </a:rPr>
              <a:t>       23QM1A6681              </a:t>
            </a:r>
            <a:r>
              <a:rPr lang="en-IN" sz="2000" dirty="0" err="1">
                <a:effectLst/>
                <a:latin typeface="Times New Roman" panose="02020603050405020304" charset="0"/>
                <a:sym typeface="+mn-ea"/>
              </a:rPr>
              <a:t>Nallabolam</a:t>
            </a:r>
            <a:r>
              <a:rPr lang="en-IN" sz="2000" dirty="0">
                <a:effectLst/>
                <a:latin typeface="Times New Roman" panose="02020603050405020304" charset="0"/>
                <a:sym typeface="+mn-ea"/>
              </a:rPr>
              <a:t> Mounika</a:t>
            </a:r>
            <a:endParaRPr lang="en-IN" sz="2000" dirty="0">
              <a:solidFill>
                <a:schemeClr val="dk1"/>
              </a:solidFill>
              <a:effectLst/>
              <a:latin typeface="Calibri" panose="020F0502020204030204"/>
              <a:ea typeface="Calibri" panose="020F0502020204030204"/>
              <a:cs typeface="Calibri" panose="020F0502020204030204"/>
              <a:sym typeface="Calibri" panose="020F0502020204030204"/>
            </a:endParaRPr>
          </a:p>
          <a:p>
            <a:pPr lvl="1">
              <a:lnSpc>
                <a:spcPct val="150000"/>
              </a:lnSpc>
              <a:buClr>
                <a:schemeClr val="dk1"/>
              </a:buClr>
              <a:buSzPts val="2200"/>
            </a:pPr>
            <a:r>
              <a:rPr lang="en-IN" sz="2000" dirty="0">
                <a:effectLst/>
                <a:latin typeface="Times New Roman" panose="02020603050405020304" charset="0"/>
                <a:sym typeface="+mn-ea"/>
              </a:rPr>
              <a:t>       23QM1A6685              </a:t>
            </a:r>
            <a:r>
              <a:rPr lang="en-IN" sz="2000" dirty="0" err="1">
                <a:effectLst/>
                <a:latin typeface="Times New Roman" panose="02020603050405020304" charset="0"/>
                <a:sym typeface="+mn-ea"/>
              </a:rPr>
              <a:t>Panasa</a:t>
            </a:r>
            <a:r>
              <a:rPr lang="en-IN" sz="2000" dirty="0">
                <a:effectLst/>
                <a:latin typeface="Times New Roman" panose="02020603050405020304" charset="0"/>
                <a:sym typeface="+mn-ea"/>
              </a:rPr>
              <a:t> Chandra Kaushik Goud</a:t>
            </a:r>
            <a:endParaRPr lang="en-IN" sz="2000" b="0" dirty="0">
              <a:effectLst/>
              <a:latin typeface="Times New Roman" panose="02020603050405020304" charset="0"/>
            </a:endParaRPr>
          </a:p>
          <a:p>
            <a:pPr lvl="1">
              <a:lnSpc>
                <a:spcPct val="150000"/>
              </a:lnSpc>
              <a:buClr>
                <a:schemeClr val="dk1"/>
              </a:buClr>
              <a:buSzPts val="2200"/>
            </a:pPr>
            <a:r>
              <a:rPr lang="en-IN" sz="2000" dirty="0">
                <a:effectLst/>
                <a:latin typeface="Times New Roman" panose="02020603050405020304" charset="0"/>
                <a:sym typeface="+mn-ea"/>
              </a:rPr>
              <a:t>       23QM1A6689              Patel Nanda Kishore Reddy</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13460" y="1790700"/>
            <a:ext cx="10231755" cy="2422525"/>
          </a:xfrm>
          <a:prstGeom prst="rect">
            <a:avLst/>
          </a:prstGeom>
          <a:noFill/>
        </p:spPr>
        <p:txBody>
          <a:bodyPr wrap="square" rtlCol="0">
            <a:noAutofit/>
          </a:bodyPr>
          <a:lstStyle/>
          <a:p>
            <a:r>
              <a:rPr lang="en-US" sz="3200" b="1" dirty="0" err="1">
                <a:latin typeface="Times New Roman" panose="02020603050405020304" charset="0"/>
                <a:cs typeface="Times New Roman" panose="02020603050405020304" charset="0"/>
                <a:sym typeface="+mn-ea"/>
              </a:rPr>
              <a:t>DeepShield</a:t>
            </a:r>
            <a:r>
              <a:rPr lang="en-US" sz="3200" b="1" dirty="0">
                <a:latin typeface="Times New Roman" panose="02020603050405020304" charset="0"/>
                <a:cs typeface="Times New Roman" panose="02020603050405020304" charset="0"/>
                <a:sym typeface="+mn-ea"/>
              </a:rPr>
              <a:t>: Multi-Modal AI-Based Deepfake Detection System for Identifying Fake Video, Audio, and Image Content</a:t>
            </a:r>
            <a:r>
              <a:rPr lang="en-US" b="1" dirty="0">
                <a:latin typeface="Times New Roman" panose="02020603050405020304" charset="0"/>
                <a:cs typeface="Times New Roman" panose="02020603050405020304" charset="0"/>
                <a:sym typeface="+mn-ea"/>
              </a:rPr>
              <a:t>.</a:t>
            </a:r>
            <a:endParaRPr lang="en-IN" b="1" dirty="0">
              <a:latin typeface="Times New Roman" panose="02020603050405020304" charset="0"/>
              <a:cs typeface="Times New Roman" panose="02020603050405020304" charset="0"/>
            </a:endParaRPr>
          </a:p>
          <a:p>
            <a:endParaRPr lang="en-US"/>
          </a:p>
        </p:txBody>
      </p:sp>
      <p:sp>
        <p:nvSpPr>
          <p:cNvPr id="6" name="Text Box 5"/>
          <p:cNvSpPr txBox="1"/>
          <p:nvPr/>
        </p:nvSpPr>
        <p:spPr>
          <a:xfrm>
            <a:off x="973455" y="433705"/>
            <a:ext cx="4064000" cy="1076325"/>
          </a:xfrm>
          <a:prstGeom prst="rect">
            <a:avLst/>
          </a:prstGeom>
          <a:noFill/>
        </p:spPr>
        <p:txBody>
          <a:bodyPr wrap="square" rtlCol="0">
            <a:spAutoFit/>
          </a:bodyPr>
          <a:lstStyle/>
          <a:p>
            <a:r>
              <a:rPr lang="en-US" sz="3200" b="1" dirty="0">
                <a:latin typeface="Times New Roman" panose="02020603050405020304" charset="0"/>
                <a:cs typeface="Times New Roman" panose="02020603050405020304" charset="0"/>
                <a:sym typeface="+mn-ea"/>
              </a:rPr>
              <a:t>Title</a:t>
            </a:r>
            <a:endParaRPr lang="en-US" sz="3200" b="1" dirty="0">
              <a:latin typeface="Times New Roman" panose="02020603050405020304" charset="0"/>
              <a:cs typeface="Times New Roman" panose="02020603050405020304" charset="0"/>
            </a:endParaRPr>
          </a:p>
          <a:p>
            <a:endParaRPr lang="en-US"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rot="10800000" flipV="1">
            <a:off x="956422" y="1230796"/>
            <a:ext cx="10852120" cy="5001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22" tIns="-7935" rIns="-9522" bIns="-7935" numCol="1" anchor="ctr" anchorCtr="0" compatLnSpc="1">
            <a:spAutoFit/>
          </a:bodyPr>
          <a:lstStyle/>
          <a:p>
            <a:pPr marL="0" indent="0" algn="just">
              <a:lnSpc>
                <a:spcPct val="150000"/>
              </a:lnSpc>
              <a:buNone/>
            </a:pPr>
            <a:r>
              <a:rPr lang="en-US" sz="2200" dirty="0">
                <a:latin typeface="Times New Roman" panose="02020603050405020304" charset="0"/>
                <a:cs typeface="Times New Roman" panose="02020603050405020304" charset="0"/>
              </a:rPr>
              <a:t>We are living in a time where seeing is no longer believing. With the rapid growth of generative AI, it has become easy to create highly realistic fake videos, images, and audio. While this technology has many positive uses, it is also being misused for spreading misinformation, committing fraud, and stealing identities. The main challenge is that humans can no longer reliably distinguish between real and fake content. Therefore, there is a strong need for an automated system to detect such content and restore trust in digital media.</a:t>
            </a:r>
          </a:p>
          <a:p>
            <a:pPr algn="just">
              <a:lnSpc>
                <a:spcPct val="150000"/>
              </a:lnSpc>
            </a:pPr>
            <a:r>
              <a:rPr lang="en-US" sz="2200" b="1" u="sng" dirty="0">
                <a:solidFill>
                  <a:srgbClr val="7030A0"/>
                </a:solidFill>
                <a:latin typeface="Times New Roman" panose="02020603050405020304" charset="0"/>
                <a:cs typeface="Times New Roman" panose="02020603050405020304" charset="0"/>
              </a:rPr>
              <a:t>Core Problem</a:t>
            </a:r>
          </a:p>
          <a:p>
            <a:pPr marL="342900" indent="-342900" algn="just">
              <a:lnSpc>
                <a:spcPct val="150000"/>
              </a:lnSpc>
              <a:buFont typeface="Arial" panose="020B0604020202020204" pitchFamily="34" charset="0"/>
              <a:buChar char="•"/>
            </a:pPr>
            <a:r>
              <a:rPr lang="en-US" sz="2200" dirty="0">
                <a:latin typeface="Times New Roman" panose="02020603050405020304" charset="0"/>
                <a:cs typeface="Times New Roman" panose="02020603050405020304" charset="0"/>
              </a:rPr>
              <a:t>Lack of an intelligent, automated system to detect and classify deepfake content efficiently </a:t>
            </a:r>
          </a:p>
          <a:p>
            <a:pPr marL="342900" indent="-342900" algn="just">
              <a:lnSpc>
                <a:spcPct val="150000"/>
              </a:lnSpc>
              <a:buFont typeface="Arial" panose="020B0604020202020204" pitchFamily="34" charset="0"/>
              <a:buChar char="•"/>
            </a:pPr>
            <a:r>
              <a:rPr lang="en-US" sz="2200" dirty="0">
                <a:latin typeface="Times New Roman" panose="02020603050405020304" charset="0"/>
                <a:cs typeface="Times New Roman" panose="02020603050405020304" charset="0"/>
              </a:rPr>
              <a:t>Absence of a unified solution that can handle </a:t>
            </a:r>
            <a:r>
              <a:rPr lang="en-US" sz="2200" b="1" dirty="0">
                <a:latin typeface="Times New Roman" panose="02020603050405020304" charset="0"/>
                <a:cs typeface="Times New Roman" panose="02020603050405020304" charset="0"/>
              </a:rPr>
              <a:t>multiple media types (video, image, audio)</a:t>
            </a:r>
            <a:endParaRPr lang="en-US" sz="2200" dirty="0">
              <a:latin typeface="Times New Roman" panose="02020603050405020304" charset="0"/>
              <a:cs typeface="Times New Roman" panose="02020603050405020304" charset="0"/>
            </a:endParaRPr>
          </a:p>
          <a:p>
            <a:pPr marL="0" indent="0" algn="just">
              <a:lnSpc>
                <a:spcPct val="150000"/>
              </a:lnSpc>
              <a:buNone/>
            </a:pPr>
            <a:endParaRPr lang="en-US" sz="2200" dirty="0">
              <a:latin typeface="Times New Roman" panose="02020603050405020304" charset="0"/>
              <a:ea typeface="Tahoma" panose="020B0604030504040204" pitchFamily="34" charset="0"/>
              <a:cs typeface="Times New Roman" panose="02020603050405020304" charset="0"/>
            </a:endParaRPr>
          </a:p>
        </p:txBody>
      </p:sp>
      <p:sp>
        <p:nvSpPr>
          <p:cNvPr id="5" name="TextBox 4"/>
          <p:cNvSpPr txBox="1"/>
          <p:nvPr/>
        </p:nvSpPr>
        <p:spPr>
          <a:xfrm>
            <a:off x="865239" y="433157"/>
            <a:ext cx="4359451" cy="584775"/>
          </a:xfrm>
          <a:prstGeom prst="rect">
            <a:avLst/>
          </a:prstGeom>
          <a:noFill/>
        </p:spPr>
        <p:txBody>
          <a:bodyPr wrap="square" rtlCol="0">
            <a:spAutoFit/>
          </a:bodyPr>
          <a:lstStyle/>
          <a:p>
            <a:r>
              <a:rPr lang="en-US" sz="3200" b="1" dirty="0">
                <a:latin typeface="Times New Roman" panose="02020603050405020304" charset="0"/>
                <a:cs typeface="Times New Roman" panose="02020603050405020304" charset="0"/>
              </a:rPr>
              <a:t>Problem Identification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990600" y="1591323"/>
            <a:ext cx="1037590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a:lnSpc>
                <a:spcPct val="150000"/>
              </a:lnSpc>
              <a:buNone/>
            </a:pPr>
            <a:r>
              <a:rPr lang="en-US" sz="2400" dirty="0">
                <a:latin typeface="Times New Roman" panose="02020603050405020304" charset="0"/>
                <a:cs typeface="Times New Roman" panose="02020603050405020304" charset="0"/>
              </a:rPr>
              <a:t>Our goal is to design, train, and deploy an intelligent system that acts as a digital forensic expert. The system will automatically analyze incoming media—whether it's an image, an audio clip, or a video—and determine its authenticity. By examining subtle, invisible artifacts left behind by AI generators, the system will output a definitive "real or fake" confidence score, empowering users to verify media instantly.</a:t>
            </a:r>
          </a:p>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sz="2400" i="0" u="none" strike="noStrike" cap="none" normalizeH="0" baseline="0" dirty="0">
              <a:ln>
                <a:noFill/>
              </a:ln>
              <a:solidFill>
                <a:schemeClr val="tx1"/>
              </a:solidFill>
              <a:effectLst/>
              <a:latin typeface="Times New Roman" panose="02020603050405020304" charset="0"/>
              <a:cs typeface="Times New Roman" panose="02020603050405020304" charset="0"/>
            </a:endParaRPr>
          </a:p>
        </p:txBody>
      </p:sp>
      <p:sp>
        <p:nvSpPr>
          <p:cNvPr id="4" name="TextBox 3"/>
          <p:cNvSpPr txBox="1"/>
          <p:nvPr/>
        </p:nvSpPr>
        <p:spPr>
          <a:xfrm>
            <a:off x="990600" y="440425"/>
            <a:ext cx="2031325" cy="584775"/>
          </a:xfrm>
          <a:prstGeom prst="rect">
            <a:avLst/>
          </a:prstGeom>
          <a:noFill/>
        </p:spPr>
        <p:txBody>
          <a:bodyPr wrap="none" rtlCol="0">
            <a:spAutoFit/>
          </a:bodyPr>
          <a:lstStyle/>
          <a:p>
            <a:r>
              <a:rPr lang="en-US" sz="3200" b="1" dirty="0">
                <a:latin typeface="Times New Roman" panose="02020603050405020304" charset="0"/>
                <a:cs typeface="Times New Roman" panose="02020603050405020304" charset="0"/>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215763" y="442987"/>
            <a:ext cx="4190959" cy="452755"/>
          </a:xfrm>
          <a:prstGeom prst="rect">
            <a:avLst/>
          </a:prstGeom>
          <a:noFill/>
        </p:spPr>
        <p:txBody>
          <a:bodyPr wrap="square" rtlCol="0">
            <a:noAutofit/>
          </a:bodyPr>
          <a:lstStyle/>
          <a:p>
            <a:r>
              <a:rPr lang="en-IN" sz="3200" b="1" dirty="0">
                <a:latin typeface="Times New Roman" panose="02020603050405020304" charset="0"/>
                <a:ea typeface="Tahoma" panose="020B0604030504040204" pitchFamily="34" charset="0"/>
                <a:cs typeface="Times New Roman" panose="02020603050405020304" charset="0"/>
              </a:rPr>
              <a:t>Literature Survey</a:t>
            </a:r>
          </a:p>
          <a:p>
            <a:endParaRPr lang="en-US" sz="2000" b="1"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04058592"/>
              </p:ext>
            </p:extLst>
          </p:nvPr>
        </p:nvGraphicFramePr>
        <p:xfrm>
          <a:off x="864964" y="1140541"/>
          <a:ext cx="10727268" cy="4999981"/>
        </p:xfrm>
        <a:graphic>
          <a:graphicData uri="http://schemas.openxmlformats.org/drawingml/2006/table">
            <a:tbl>
              <a:tblPr firstRow="1" bandRow="1">
                <a:tableStyleId>{5940675A-B579-460E-94D1-54222C63F5DA}</a:tableStyleId>
              </a:tblPr>
              <a:tblGrid>
                <a:gridCol w="521384">
                  <a:extLst>
                    <a:ext uri="{9D8B030D-6E8A-4147-A177-3AD203B41FA5}">
                      <a16:colId xmlns:a16="http://schemas.microsoft.com/office/drawing/2014/main" val="20000"/>
                    </a:ext>
                  </a:extLst>
                </a:gridCol>
                <a:gridCol w="1976284">
                  <a:extLst>
                    <a:ext uri="{9D8B030D-6E8A-4147-A177-3AD203B41FA5}">
                      <a16:colId xmlns:a16="http://schemas.microsoft.com/office/drawing/2014/main" val="20001"/>
                    </a:ext>
                  </a:extLst>
                </a:gridCol>
                <a:gridCol w="826148">
                  <a:extLst>
                    <a:ext uri="{9D8B030D-6E8A-4147-A177-3AD203B41FA5}">
                      <a16:colId xmlns:a16="http://schemas.microsoft.com/office/drawing/2014/main" val="20002"/>
                    </a:ext>
                  </a:extLst>
                </a:gridCol>
                <a:gridCol w="855168">
                  <a:extLst>
                    <a:ext uri="{9D8B030D-6E8A-4147-A177-3AD203B41FA5}">
                      <a16:colId xmlns:a16="http://schemas.microsoft.com/office/drawing/2014/main" val="20003"/>
                    </a:ext>
                  </a:extLst>
                </a:gridCol>
                <a:gridCol w="2212258">
                  <a:extLst>
                    <a:ext uri="{9D8B030D-6E8A-4147-A177-3AD203B41FA5}">
                      <a16:colId xmlns:a16="http://schemas.microsoft.com/office/drawing/2014/main" val="20004"/>
                    </a:ext>
                  </a:extLst>
                </a:gridCol>
                <a:gridCol w="2163097">
                  <a:extLst>
                    <a:ext uri="{9D8B030D-6E8A-4147-A177-3AD203B41FA5}">
                      <a16:colId xmlns:a16="http://schemas.microsoft.com/office/drawing/2014/main" val="20005"/>
                    </a:ext>
                  </a:extLst>
                </a:gridCol>
                <a:gridCol w="2172929">
                  <a:extLst>
                    <a:ext uri="{9D8B030D-6E8A-4147-A177-3AD203B41FA5}">
                      <a16:colId xmlns:a16="http://schemas.microsoft.com/office/drawing/2014/main" val="20006"/>
                    </a:ext>
                  </a:extLst>
                </a:gridCol>
              </a:tblGrid>
              <a:tr h="492226">
                <a:tc>
                  <a:txBody>
                    <a:bodyPr/>
                    <a:lstStyle/>
                    <a:p>
                      <a:pPr algn="l"/>
                      <a:r>
                        <a:rPr lang="en-IN" b="0">
                          <a:effectLst/>
                          <a:latin typeface="Times New Roman" panose="02020603050405020304" pitchFamily="18" charset="0"/>
                          <a:cs typeface="Times New Roman" panose="02020603050405020304" pitchFamily="18" charset="0"/>
                        </a:rPr>
                        <a:t>S.No</a:t>
                      </a:r>
                    </a:p>
                  </a:txBody>
                  <a:tcPr anchor="ctr">
                    <a:solidFill>
                      <a:srgbClr val="7030A0"/>
                    </a:solidFill>
                  </a:tcPr>
                </a:tc>
                <a:tc>
                  <a:txBody>
                    <a:bodyPr/>
                    <a:lstStyle/>
                    <a:p>
                      <a:pPr algn="l"/>
                      <a:r>
                        <a:rPr lang="en-IN" b="0">
                          <a:effectLst/>
                          <a:latin typeface="Times New Roman" panose="02020603050405020304" pitchFamily="18" charset="0"/>
                          <a:cs typeface="Times New Roman" panose="02020603050405020304" pitchFamily="18" charset="0"/>
                        </a:rPr>
                        <a:t>Paper Title</a:t>
                      </a:r>
                    </a:p>
                  </a:txBody>
                  <a:tcPr anchor="ctr">
                    <a:solidFill>
                      <a:srgbClr val="7030A0"/>
                    </a:solidFill>
                  </a:tcPr>
                </a:tc>
                <a:tc>
                  <a:txBody>
                    <a:bodyPr/>
                    <a:lstStyle/>
                    <a:p>
                      <a:pPr algn="l"/>
                      <a:r>
                        <a:rPr lang="en-IN" b="0">
                          <a:effectLst/>
                          <a:latin typeface="Times New Roman" panose="02020603050405020304" pitchFamily="18" charset="0"/>
                          <a:cs typeface="Times New Roman" panose="02020603050405020304" pitchFamily="18" charset="0"/>
                        </a:rPr>
                        <a:t>Year</a:t>
                      </a:r>
                    </a:p>
                  </a:txBody>
                  <a:tcPr anchor="ctr">
                    <a:solidFill>
                      <a:srgbClr val="7030A0"/>
                    </a:solidFill>
                  </a:tcPr>
                </a:tc>
                <a:tc>
                  <a:txBody>
                    <a:bodyPr/>
                    <a:lstStyle/>
                    <a:p>
                      <a:pPr algn="l"/>
                      <a:r>
                        <a:rPr lang="en-IN" b="0">
                          <a:effectLst/>
                          <a:latin typeface="Times New Roman" panose="02020603050405020304" pitchFamily="18" charset="0"/>
                          <a:cs typeface="Times New Roman" panose="02020603050405020304" pitchFamily="18" charset="0"/>
                        </a:rPr>
                        <a:t>Journal</a:t>
                      </a:r>
                    </a:p>
                  </a:txBody>
                  <a:tcPr anchor="ctr">
                    <a:solidFill>
                      <a:srgbClr val="7030A0"/>
                    </a:solidFill>
                  </a:tcPr>
                </a:tc>
                <a:tc>
                  <a:txBody>
                    <a:bodyPr/>
                    <a:lstStyle/>
                    <a:p>
                      <a:pPr algn="l"/>
                      <a:r>
                        <a:rPr lang="en-IN" b="0">
                          <a:effectLst/>
                          <a:latin typeface="Times New Roman" panose="02020603050405020304" pitchFamily="18" charset="0"/>
                          <a:cs typeface="Times New Roman" panose="02020603050405020304" pitchFamily="18" charset="0"/>
                        </a:rPr>
                        <a:t>Methodology/Algorithm</a:t>
                      </a:r>
                    </a:p>
                  </a:txBody>
                  <a:tcPr anchor="ctr">
                    <a:solidFill>
                      <a:srgbClr val="7030A0"/>
                    </a:solidFill>
                  </a:tcPr>
                </a:tc>
                <a:tc>
                  <a:txBody>
                    <a:bodyPr/>
                    <a:lstStyle/>
                    <a:p>
                      <a:pPr algn="l"/>
                      <a:r>
                        <a:rPr lang="en-IN" b="0">
                          <a:effectLst/>
                          <a:latin typeface="Times New Roman" panose="02020603050405020304" pitchFamily="18" charset="0"/>
                          <a:cs typeface="Times New Roman" panose="02020603050405020304" pitchFamily="18" charset="0"/>
                        </a:rPr>
                        <a:t>Finding</a:t>
                      </a:r>
                    </a:p>
                  </a:txBody>
                  <a:tcPr anchor="ctr">
                    <a:solidFill>
                      <a:srgbClr val="7030A0"/>
                    </a:solidFill>
                  </a:tcPr>
                </a:tc>
                <a:tc>
                  <a:txBody>
                    <a:bodyPr/>
                    <a:lstStyle/>
                    <a:p>
                      <a:pPr algn="l"/>
                      <a:r>
                        <a:rPr lang="en-IN" b="0">
                          <a:effectLst/>
                          <a:latin typeface="Times New Roman" panose="02020603050405020304" pitchFamily="18" charset="0"/>
                          <a:cs typeface="Times New Roman" panose="02020603050405020304" pitchFamily="18" charset="0"/>
                        </a:rPr>
                        <a:t>Drawback</a:t>
                      </a:r>
                    </a:p>
                  </a:txBody>
                  <a:tcPr anchor="ctr">
                    <a:solidFill>
                      <a:srgbClr val="7030A0"/>
                    </a:solidFill>
                  </a:tcPr>
                </a:tc>
                <a:extLst>
                  <a:ext uri="{0D108BD9-81ED-4DB2-BD59-A6C34878D82A}">
                    <a16:rowId xmlns:a16="http://schemas.microsoft.com/office/drawing/2014/main" val="10000"/>
                  </a:ext>
                </a:extLst>
              </a:tr>
              <a:tr h="1525261">
                <a:tc>
                  <a:txBody>
                    <a:bodyPr/>
                    <a:lstStyle/>
                    <a:p>
                      <a:pPr algn="l"/>
                      <a:r>
                        <a:rPr lang="en-IN" b="1">
                          <a:effectLst/>
                          <a:latin typeface="Times New Roman" panose="02020603050405020304" pitchFamily="18" charset="0"/>
                          <a:cs typeface="Times New Roman" panose="02020603050405020304" pitchFamily="18" charset="0"/>
                        </a:rPr>
                        <a:t>1</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l"/>
                      <a:r>
                        <a:rPr lang="en-US">
                          <a:effectLst/>
                          <a:latin typeface="Times New Roman" panose="02020603050405020304" pitchFamily="18" charset="0"/>
                          <a:cs typeface="Times New Roman" panose="02020603050405020304" pitchFamily="18" charset="0"/>
                        </a:rPr>
                        <a:t>Exploring autonomous methods for deepfake detection: A detailed survey on techniques and evaluation</a:t>
                      </a:r>
                    </a:p>
                  </a:txBody>
                  <a:tcPr anchor="ctr"/>
                </a:tc>
                <a:tc>
                  <a:txBody>
                    <a:bodyPr/>
                    <a:lstStyle/>
                    <a:p>
                      <a:pPr algn="l"/>
                      <a:r>
                        <a:rPr lang="en-IN" dirty="0">
                          <a:effectLst/>
                          <a:latin typeface="Times New Roman" panose="02020603050405020304" pitchFamily="18" charset="0"/>
                          <a:cs typeface="Times New Roman" panose="02020603050405020304" pitchFamily="18" charset="0"/>
                        </a:rPr>
                        <a:t>2025</a:t>
                      </a:r>
                    </a:p>
                  </a:txBody>
                  <a:tcPr anchor="ctr"/>
                </a:tc>
                <a:tc>
                  <a:txBody>
                    <a:bodyPr/>
                    <a:lstStyle/>
                    <a:p>
                      <a:pPr algn="l"/>
                      <a:r>
                        <a:rPr lang="en-IN">
                          <a:effectLst/>
                          <a:latin typeface="Times New Roman" panose="02020603050405020304" pitchFamily="18" charset="0"/>
                          <a:cs typeface="Times New Roman" panose="02020603050405020304" pitchFamily="18" charset="0"/>
                        </a:rPr>
                        <a:t>Heliyon (Elsevier / Cell Press)</a:t>
                      </a:r>
                    </a:p>
                  </a:txBody>
                  <a:tcPr anchor="ctr"/>
                </a:tc>
                <a:tc>
                  <a:txBody>
                    <a:bodyPr/>
                    <a:lstStyle/>
                    <a:p>
                      <a:pPr algn="l"/>
                      <a:r>
                        <a:rPr lang="en-US">
                          <a:effectLst/>
                          <a:latin typeface="Times New Roman" panose="02020603050405020304" pitchFamily="18" charset="0"/>
                          <a:cs typeface="Times New Roman" panose="02020603050405020304" pitchFamily="18" charset="0"/>
                        </a:rPr>
                        <a:t>Reviewed different ways models like CNNs and GANs catch deepfakes across images, video, and audio.</a:t>
                      </a:r>
                    </a:p>
                  </a:txBody>
                  <a:tcPr anchor="ctr"/>
                </a:tc>
                <a:tc>
                  <a:txBody>
                    <a:bodyPr/>
                    <a:lstStyle/>
                    <a:p>
                      <a:pPr algn="l"/>
                      <a:r>
                        <a:rPr lang="en-US">
                          <a:effectLst/>
                          <a:latin typeface="Times New Roman" panose="02020603050405020304" pitchFamily="18" charset="0"/>
                          <a:cs typeface="Times New Roman" panose="02020603050405020304" pitchFamily="18" charset="0"/>
                        </a:rPr>
                        <a:t>Proved that looking at audio and video together works way better than just checking one at a time.</a:t>
                      </a:r>
                    </a:p>
                  </a:txBody>
                  <a:tcPr anchor="ctr"/>
                </a:tc>
                <a:tc>
                  <a:txBody>
                    <a:bodyPr/>
                    <a:lstStyle/>
                    <a:p>
                      <a:pPr algn="l"/>
                      <a:r>
                        <a:rPr lang="en-US">
                          <a:effectLst/>
                          <a:latin typeface="Times New Roman" panose="02020603050405020304" pitchFamily="18" charset="0"/>
                          <a:cs typeface="Times New Roman" panose="02020603050405020304" pitchFamily="18" charset="0"/>
                        </a:rPr>
                        <a:t>It’s just a review paper, so it doesn't offer a new model. It also points out that current detectors still struggle when tested on new, unseen data.</a:t>
                      </a:r>
                    </a:p>
                  </a:txBody>
                  <a:tcPr anchor="ctr"/>
                </a:tc>
                <a:extLst>
                  <a:ext uri="{0D108BD9-81ED-4DB2-BD59-A6C34878D82A}">
                    <a16:rowId xmlns:a16="http://schemas.microsoft.com/office/drawing/2014/main" val="10001"/>
                  </a:ext>
                </a:extLst>
              </a:tr>
              <a:tr h="1338576">
                <a:tc>
                  <a:txBody>
                    <a:bodyPr/>
                    <a:lstStyle/>
                    <a:p>
                      <a:pPr algn="l"/>
                      <a:r>
                        <a:rPr lang="en-IN" b="1">
                          <a:effectLst/>
                          <a:latin typeface="Times New Roman" panose="02020603050405020304" pitchFamily="18" charset="0"/>
                          <a:cs typeface="Times New Roman" panose="02020603050405020304" pitchFamily="18" charset="0"/>
                        </a:rPr>
                        <a:t>2</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l"/>
                      <a:r>
                        <a:rPr lang="en-US">
                          <a:effectLst/>
                          <a:latin typeface="Times New Roman" panose="02020603050405020304" pitchFamily="18" charset="0"/>
                          <a:cs typeface="Times New Roman" panose="02020603050405020304" pitchFamily="18" charset="0"/>
                        </a:rPr>
                        <a:t>From Single-modal to Multi-modal Facial Deepfake Detection: Progress and Challenges</a:t>
                      </a:r>
                    </a:p>
                  </a:txBody>
                  <a:tcPr anchor="ctr"/>
                </a:tc>
                <a:tc>
                  <a:txBody>
                    <a:bodyPr/>
                    <a:lstStyle/>
                    <a:p>
                      <a:pPr algn="l"/>
                      <a:r>
                        <a:rPr lang="en-IN">
                          <a:effectLst/>
                          <a:latin typeface="Times New Roman" panose="02020603050405020304" pitchFamily="18" charset="0"/>
                          <a:cs typeface="Times New Roman" panose="02020603050405020304" pitchFamily="18" charset="0"/>
                        </a:rPr>
                        <a:t>2025</a:t>
                      </a:r>
                    </a:p>
                  </a:txBody>
                  <a:tcPr anchor="ctr"/>
                </a:tc>
                <a:tc>
                  <a:txBody>
                    <a:bodyPr/>
                    <a:lstStyle/>
                    <a:p>
                      <a:pPr algn="l"/>
                      <a:r>
                        <a:rPr lang="en-IN">
                          <a:effectLst/>
                          <a:latin typeface="Times New Roman" panose="02020603050405020304" pitchFamily="18" charset="0"/>
                          <a:cs typeface="Times New Roman" panose="02020603050405020304" pitchFamily="18" charset="0"/>
                        </a:rPr>
                        <a:t>arXiv Preprint</a:t>
                      </a:r>
                    </a:p>
                  </a:txBody>
                  <a:tcPr anchor="ctr"/>
                </a:tc>
                <a:tc>
                  <a:txBody>
                    <a:bodyPr/>
                    <a:lstStyle/>
                    <a:p>
                      <a:pPr algn="l"/>
                      <a:r>
                        <a:rPr lang="en-US">
                          <a:effectLst/>
                          <a:latin typeface="Times New Roman" panose="02020603050405020304" pitchFamily="18" charset="0"/>
                          <a:cs typeface="Times New Roman" panose="02020603050405020304" pitchFamily="18" charset="0"/>
                        </a:rPr>
                        <a:t>Looked at the shift from simple image-only detectors to complex models that analyze video, audio, and text together using modern AI.</a:t>
                      </a:r>
                    </a:p>
                  </a:txBody>
                  <a:tcPr anchor="ctr"/>
                </a:tc>
                <a:tc>
                  <a:txBody>
                    <a:bodyPr/>
                    <a:lstStyle/>
                    <a:p>
                      <a:pPr algn="l"/>
                      <a:r>
                        <a:rPr lang="en-US">
                          <a:effectLst/>
                          <a:latin typeface="Times New Roman" panose="02020603050405020304" pitchFamily="18" charset="0"/>
                          <a:cs typeface="Times New Roman" panose="02020603050405020304" pitchFamily="18" charset="0"/>
                        </a:rPr>
                        <a:t>Combining different media types is great for catching tiny mistakes, like when a person's lip movements don't perfectly match the audio.</a:t>
                      </a:r>
                    </a:p>
                  </a:txBody>
                  <a:tcPr anchor="ctr"/>
                </a:tc>
                <a:tc>
                  <a:txBody>
                    <a:bodyPr/>
                    <a:lstStyle/>
                    <a:p>
                      <a:pPr algn="l"/>
                      <a:r>
                        <a:rPr lang="en-US">
                          <a:effectLst/>
                          <a:latin typeface="Times New Roman" panose="02020603050405020304" pitchFamily="18" charset="0"/>
                          <a:cs typeface="Times New Roman" panose="02020603050405020304" pitchFamily="18" charset="0"/>
                        </a:rPr>
                        <a:t>Running these complex, multi-layered models takes a ton of computing power and requires perfectly synced data to work right.</a:t>
                      </a:r>
                    </a:p>
                  </a:txBody>
                  <a:tcPr anchor="ctr"/>
                </a:tc>
                <a:extLst>
                  <a:ext uri="{0D108BD9-81ED-4DB2-BD59-A6C34878D82A}">
                    <a16:rowId xmlns:a16="http://schemas.microsoft.com/office/drawing/2014/main" val="10002"/>
                  </a:ext>
                </a:extLst>
              </a:tr>
              <a:tr h="1525261">
                <a:tc>
                  <a:txBody>
                    <a:bodyPr/>
                    <a:lstStyle/>
                    <a:p>
                      <a:pPr algn="l"/>
                      <a:r>
                        <a:rPr lang="en-IN" b="1">
                          <a:effectLst/>
                          <a:latin typeface="Times New Roman" panose="02020603050405020304" pitchFamily="18" charset="0"/>
                          <a:cs typeface="Times New Roman" panose="02020603050405020304" pitchFamily="18" charset="0"/>
                        </a:rPr>
                        <a:t>3</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l"/>
                      <a:r>
                        <a:rPr lang="en-US">
                          <a:effectLst/>
                          <a:latin typeface="Times New Roman" panose="02020603050405020304" pitchFamily="18" charset="0"/>
                          <a:cs typeface="Times New Roman" panose="02020603050405020304" pitchFamily="18" charset="0"/>
                        </a:rPr>
                        <a:t>Deepfake Detection via Spatial-Frequency Attention Network (SFANet)</a:t>
                      </a:r>
                    </a:p>
                  </a:txBody>
                  <a:tcPr anchor="ctr"/>
                </a:tc>
                <a:tc>
                  <a:txBody>
                    <a:bodyPr/>
                    <a:lstStyle/>
                    <a:p>
                      <a:pPr algn="l"/>
                      <a:r>
                        <a:rPr lang="en-IN">
                          <a:effectLst/>
                          <a:latin typeface="Times New Roman" panose="02020603050405020304" pitchFamily="18" charset="0"/>
                          <a:cs typeface="Times New Roman" panose="02020603050405020304" pitchFamily="18" charset="0"/>
                        </a:rPr>
                        <a:t>2025</a:t>
                      </a:r>
                    </a:p>
                  </a:txBody>
                  <a:tcPr anchor="ctr"/>
                </a:tc>
                <a:tc>
                  <a:txBody>
                    <a:bodyPr/>
                    <a:lstStyle/>
                    <a:p>
                      <a:pPr algn="l"/>
                      <a:r>
                        <a:rPr lang="en-IN">
                          <a:effectLst/>
                          <a:latin typeface="Times New Roman" panose="02020603050405020304" pitchFamily="18" charset="0"/>
                          <a:cs typeface="Times New Roman" panose="02020603050405020304" pitchFamily="18" charset="0"/>
                        </a:rPr>
                        <a:t>IEEE Transactions on Consumer Electronics</a:t>
                      </a:r>
                    </a:p>
                  </a:txBody>
                  <a:tcPr anchor="ctr"/>
                </a:tc>
                <a:tc>
                  <a:txBody>
                    <a:bodyPr/>
                    <a:lstStyle/>
                    <a:p>
                      <a:pPr algn="l"/>
                      <a:r>
                        <a:rPr lang="en-US">
                          <a:effectLst/>
                          <a:latin typeface="Times New Roman" panose="02020603050405020304" pitchFamily="18" charset="0"/>
                          <a:cs typeface="Times New Roman" panose="02020603050405020304" pitchFamily="18" charset="0"/>
                        </a:rPr>
                        <a:t>Built a dual-branch network that uses wavelet transforms to look at both the normal image pixels and the hidden frequency patterns.</a:t>
                      </a:r>
                    </a:p>
                  </a:txBody>
                  <a:tcPr anchor="ctr"/>
                </a:tc>
                <a:tc>
                  <a:txBody>
                    <a:bodyPr/>
                    <a:lstStyle/>
                    <a:p>
                      <a:pPr algn="l"/>
                      <a:r>
                        <a:rPr lang="en-US">
                          <a:effectLst/>
                          <a:latin typeface="Times New Roman" panose="02020603050405020304" pitchFamily="18" charset="0"/>
                          <a:cs typeface="Times New Roman" panose="02020603050405020304" pitchFamily="18" charset="0"/>
                        </a:rPr>
                        <a:t>Got excellent results on major datasets by catching weird frequency glitches that are completely invisible to the naked eye.</a:t>
                      </a:r>
                    </a:p>
                  </a:txBody>
                  <a:tcPr anchor="ctr"/>
                </a:tc>
                <a:tc>
                  <a:txBody>
                    <a:bodyPr/>
                    <a:lstStyle/>
                    <a:p>
                      <a:pPr algn="l"/>
                      <a:r>
                        <a:rPr lang="en-US" dirty="0">
                          <a:effectLst/>
                          <a:latin typeface="Times New Roman" panose="02020603050405020304" pitchFamily="18" charset="0"/>
                          <a:cs typeface="Times New Roman" panose="02020603050405020304" pitchFamily="18" charset="0"/>
                        </a:rPr>
                        <a:t>If a video gets heavily compressed (like when uploaded to social media), those frequency glitches disappear, making the model less accurate.</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215763" y="442987"/>
            <a:ext cx="4190959" cy="452755"/>
          </a:xfrm>
          <a:prstGeom prst="rect">
            <a:avLst/>
          </a:prstGeom>
          <a:noFill/>
        </p:spPr>
        <p:txBody>
          <a:bodyPr wrap="square" rtlCol="0">
            <a:noAutofit/>
          </a:bodyPr>
          <a:lstStyle/>
          <a:p>
            <a:endParaRPr lang="en-US" sz="2000" b="1"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676687873"/>
              </p:ext>
            </p:extLst>
          </p:nvPr>
        </p:nvGraphicFramePr>
        <p:xfrm>
          <a:off x="894461" y="1366683"/>
          <a:ext cx="10727268" cy="4422122"/>
        </p:xfrm>
        <a:graphic>
          <a:graphicData uri="http://schemas.openxmlformats.org/drawingml/2006/table">
            <a:tbl>
              <a:tblPr firstRow="1" bandRow="1">
                <a:tableStyleId>{5940675A-B579-460E-94D1-54222C63F5DA}</a:tableStyleId>
              </a:tblPr>
              <a:tblGrid>
                <a:gridCol w="521384">
                  <a:extLst>
                    <a:ext uri="{9D8B030D-6E8A-4147-A177-3AD203B41FA5}">
                      <a16:colId xmlns:a16="http://schemas.microsoft.com/office/drawing/2014/main" val="20000"/>
                    </a:ext>
                  </a:extLst>
                </a:gridCol>
                <a:gridCol w="1976284">
                  <a:extLst>
                    <a:ext uri="{9D8B030D-6E8A-4147-A177-3AD203B41FA5}">
                      <a16:colId xmlns:a16="http://schemas.microsoft.com/office/drawing/2014/main" val="20001"/>
                    </a:ext>
                  </a:extLst>
                </a:gridCol>
                <a:gridCol w="826148">
                  <a:extLst>
                    <a:ext uri="{9D8B030D-6E8A-4147-A177-3AD203B41FA5}">
                      <a16:colId xmlns:a16="http://schemas.microsoft.com/office/drawing/2014/main" val="20002"/>
                    </a:ext>
                  </a:extLst>
                </a:gridCol>
                <a:gridCol w="855168">
                  <a:extLst>
                    <a:ext uri="{9D8B030D-6E8A-4147-A177-3AD203B41FA5}">
                      <a16:colId xmlns:a16="http://schemas.microsoft.com/office/drawing/2014/main" val="20003"/>
                    </a:ext>
                  </a:extLst>
                </a:gridCol>
                <a:gridCol w="2212258">
                  <a:extLst>
                    <a:ext uri="{9D8B030D-6E8A-4147-A177-3AD203B41FA5}">
                      <a16:colId xmlns:a16="http://schemas.microsoft.com/office/drawing/2014/main" val="20004"/>
                    </a:ext>
                  </a:extLst>
                </a:gridCol>
                <a:gridCol w="2163097">
                  <a:extLst>
                    <a:ext uri="{9D8B030D-6E8A-4147-A177-3AD203B41FA5}">
                      <a16:colId xmlns:a16="http://schemas.microsoft.com/office/drawing/2014/main" val="20005"/>
                    </a:ext>
                  </a:extLst>
                </a:gridCol>
                <a:gridCol w="2172929">
                  <a:extLst>
                    <a:ext uri="{9D8B030D-6E8A-4147-A177-3AD203B41FA5}">
                      <a16:colId xmlns:a16="http://schemas.microsoft.com/office/drawing/2014/main" val="20006"/>
                    </a:ext>
                  </a:extLst>
                </a:gridCol>
              </a:tblGrid>
              <a:tr h="1525261">
                <a:tc>
                  <a:txBody>
                    <a:bodyPr/>
                    <a:lstStyle/>
                    <a:p>
                      <a:pPr algn="l"/>
                      <a:r>
                        <a:rPr lang="en-IN" b="1">
                          <a:effectLst/>
                          <a:latin typeface="Times New Roman" panose="02020603050405020304" pitchFamily="18" charset="0"/>
                          <a:cs typeface="Times New Roman" panose="02020603050405020304" pitchFamily="18" charset="0"/>
                        </a:rPr>
                        <a:t>4</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l"/>
                      <a:r>
                        <a:rPr lang="en-IN">
                          <a:effectLst/>
                          <a:latin typeface="Times New Roman" panose="02020603050405020304" pitchFamily="18" charset="0"/>
                          <a:cs typeface="Times New Roman" panose="02020603050405020304" pitchFamily="18" charset="0"/>
                        </a:rPr>
                        <a:t>WaViT-CDC: Wavelet Vision Transformer With Central Difference Convolutions</a:t>
                      </a:r>
                    </a:p>
                  </a:txBody>
                  <a:tcPr anchor="ctr"/>
                </a:tc>
                <a:tc>
                  <a:txBody>
                    <a:bodyPr/>
                    <a:lstStyle/>
                    <a:p>
                      <a:pPr algn="l"/>
                      <a:r>
                        <a:rPr lang="en-IN">
                          <a:effectLst/>
                          <a:latin typeface="Times New Roman" panose="02020603050405020304" pitchFamily="18" charset="0"/>
                          <a:cs typeface="Times New Roman" panose="02020603050405020304" pitchFamily="18" charset="0"/>
                        </a:rPr>
                        <a:t>2025</a:t>
                      </a:r>
                    </a:p>
                  </a:txBody>
                  <a:tcPr anchor="ctr"/>
                </a:tc>
                <a:tc>
                  <a:txBody>
                    <a:bodyPr/>
                    <a:lstStyle/>
                    <a:p>
                      <a:pPr algn="l"/>
                      <a:r>
                        <a:rPr lang="en-US">
                          <a:effectLst/>
                          <a:latin typeface="Times New Roman" panose="02020603050405020304" pitchFamily="18" charset="0"/>
                          <a:cs typeface="Times New Roman" panose="02020603050405020304" pitchFamily="18" charset="0"/>
                        </a:rPr>
                        <a:t>IEEE Open Journal of Signal Processing</a:t>
                      </a:r>
                    </a:p>
                  </a:txBody>
                  <a:tcPr anchor="ctr"/>
                </a:tc>
                <a:tc>
                  <a:txBody>
                    <a:bodyPr/>
                    <a:lstStyle/>
                    <a:p>
                      <a:pPr algn="l"/>
                      <a:r>
                        <a:rPr lang="en-US">
                          <a:effectLst/>
                          <a:latin typeface="Times New Roman" panose="02020603050405020304" pitchFamily="18" charset="0"/>
                          <a:cs typeface="Times New Roman" panose="02020603050405020304" pitchFamily="18" charset="0"/>
                        </a:rPr>
                        <a:t>Combined the power of Vision Transformers with standard convolution techniques to spot deepfakes in both spatial and frequency domains.</a:t>
                      </a:r>
                    </a:p>
                  </a:txBody>
                  <a:tcPr anchor="ctr"/>
                </a:tc>
                <a:tc>
                  <a:txBody>
                    <a:bodyPr/>
                    <a:lstStyle/>
                    <a:p>
                      <a:pPr algn="l"/>
                      <a:r>
                        <a:rPr lang="en-US">
                          <a:effectLst/>
                          <a:latin typeface="Times New Roman" panose="02020603050405020304" pitchFamily="18" charset="0"/>
                          <a:cs typeface="Times New Roman" panose="02020603050405020304" pitchFamily="18" charset="0"/>
                        </a:rPr>
                        <a:t>This hybrid setup is really good at noticing both obvious visual mistakes and subtle, global frequency issues.</a:t>
                      </a:r>
                    </a:p>
                  </a:txBody>
                  <a:tcPr anchor="ctr"/>
                </a:tc>
                <a:tc>
                  <a:txBody>
                    <a:bodyPr/>
                    <a:lstStyle/>
                    <a:p>
                      <a:pPr algn="l"/>
                      <a:r>
                        <a:rPr lang="en-US">
                          <a:effectLst/>
                          <a:latin typeface="Times New Roman" panose="02020603050405020304" pitchFamily="18" charset="0"/>
                          <a:cs typeface="Times New Roman" panose="02020603050405020304" pitchFamily="18" charset="0"/>
                        </a:rPr>
                        <a:t>Because it uses Transformers, the model is pretty heavy and requires a lot of memory, making it tough to run on basic hardware or phones.</a:t>
                      </a:r>
                    </a:p>
                  </a:txBody>
                  <a:tcPr anchor="ctr"/>
                </a:tc>
                <a:extLst>
                  <a:ext uri="{0D108BD9-81ED-4DB2-BD59-A6C34878D82A}">
                    <a16:rowId xmlns:a16="http://schemas.microsoft.com/office/drawing/2014/main" val="10001"/>
                  </a:ext>
                </a:extLst>
              </a:tr>
              <a:tr h="1338576">
                <a:tc>
                  <a:txBody>
                    <a:bodyPr/>
                    <a:lstStyle/>
                    <a:p>
                      <a:pPr algn="l"/>
                      <a:r>
                        <a:rPr lang="en-IN" b="1">
                          <a:effectLst/>
                          <a:latin typeface="Times New Roman" panose="02020603050405020304" pitchFamily="18" charset="0"/>
                          <a:cs typeface="Times New Roman" panose="02020603050405020304" pitchFamily="18" charset="0"/>
                        </a:rPr>
                        <a:t>5</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l"/>
                      <a:r>
                        <a:rPr lang="en-US">
                          <a:effectLst/>
                          <a:latin typeface="Times New Roman" panose="02020603050405020304" pitchFamily="18" charset="0"/>
                          <a:cs typeface="Times New Roman" panose="02020603050405020304" pitchFamily="18" charset="0"/>
                        </a:rPr>
                        <a:t>Deepfake-Eval-2024: A Multi-Modal In-the-Wild Benchmark of Deepfakes</a:t>
                      </a:r>
                    </a:p>
                  </a:txBody>
                  <a:tcPr anchor="ctr"/>
                </a:tc>
                <a:tc>
                  <a:txBody>
                    <a:bodyPr/>
                    <a:lstStyle/>
                    <a:p>
                      <a:pPr algn="l"/>
                      <a:r>
                        <a:rPr lang="en-IN">
                          <a:effectLst/>
                          <a:latin typeface="Times New Roman" panose="02020603050405020304" pitchFamily="18" charset="0"/>
                          <a:cs typeface="Times New Roman" panose="02020603050405020304" pitchFamily="18" charset="0"/>
                        </a:rPr>
                        <a:t>2025</a:t>
                      </a:r>
                    </a:p>
                  </a:txBody>
                  <a:tcPr anchor="ctr"/>
                </a:tc>
                <a:tc>
                  <a:txBody>
                    <a:bodyPr/>
                    <a:lstStyle/>
                    <a:p>
                      <a:pPr algn="l"/>
                      <a:r>
                        <a:rPr lang="en-IN">
                          <a:effectLst/>
                          <a:latin typeface="Times New Roman" panose="02020603050405020304" pitchFamily="18" charset="0"/>
                          <a:cs typeface="Times New Roman" panose="02020603050405020304" pitchFamily="18" charset="0"/>
                        </a:rPr>
                        <a:t>arXiv Preprint</a:t>
                      </a:r>
                    </a:p>
                  </a:txBody>
                  <a:tcPr anchor="ctr"/>
                </a:tc>
                <a:tc>
                  <a:txBody>
                    <a:bodyPr/>
                    <a:lstStyle/>
                    <a:p>
                      <a:pPr algn="l"/>
                      <a:r>
                        <a:rPr lang="en-US" dirty="0">
                          <a:effectLst/>
                          <a:latin typeface="Times New Roman" panose="02020603050405020304" pitchFamily="18" charset="0"/>
                          <a:cs typeface="Times New Roman" panose="02020603050405020304" pitchFamily="18" charset="0"/>
                        </a:rPr>
                        <a:t>Tested the best current deepfake detectors against thousands of hours of brand-new, real-world deepfakes from 2024/2025.</a:t>
                      </a:r>
                    </a:p>
                  </a:txBody>
                  <a:tcPr anchor="ctr"/>
                </a:tc>
                <a:tc>
                  <a:txBody>
                    <a:bodyPr/>
                    <a:lstStyle/>
                    <a:p>
                      <a:pPr algn="l"/>
                      <a:r>
                        <a:rPr lang="en-US">
                          <a:effectLst/>
                          <a:latin typeface="Times New Roman" panose="02020603050405020304" pitchFamily="18" charset="0"/>
                          <a:cs typeface="Times New Roman" panose="02020603050405020304" pitchFamily="18" charset="0"/>
                        </a:rPr>
                        <a:t>Showed that even top-tier models fail miserably (up to a 50% drop in accuracy) when dealing with new types of deepfakes found on the internet.</a:t>
                      </a:r>
                    </a:p>
                  </a:txBody>
                  <a:tcPr anchor="ctr"/>
                </a:tc>
                <a:tc>
                  <a:txBody>
                    <a:bodyPr/>
                    <a:lstStyle/>
                    <a:p>
                      <a:pPr algn="l"/>
                      <a:r>
                        <a:rPr lang="en-US">
                          <a:effectLst/>
                          <a:latin typeface="Times New Roman" panose="02020603050405020304" pitchFamily="18" charset="0"/>
                          <a:cs typeface="Times New Roman" panose="02020603050405020304" pitchFamily="18" charset="0"/>
                        </a:rPr>
                        <a:t>It's only a testing benchmark. It proves that current models are failing but doesn't actually provide a fix for the problem.</a:t>
                      </a:r>
                    </a:p>
                  </a:txBody>
                  <a:tcPr anchor="ctr"/>
                </a:tc>
                <a:extLst>
                  <a:ext uri="{0D108BD9-81ED-4DB2-BD59-A6C34878D82A}">
                    <a16:rowId xmlns:a16="http://schemas.microsoft.com/office/drawing/2014/main" val="10002"/>
                  </a:ext>
                </a:extLst>
              </a:tr>
              <a:tr h="1525261">
                <a:tc>
                  <a:txBody>
                    <a:bodyPr/>
                    <a:lstStyle/>
                    <a:p>
                      <a:pPr algn="l"/>
                      <a:r>
                        <a:rPr lang="en-IN" b="1">
                          <a:effectLst/>
                          <a:latin typeface="Times New Roman" panose="02020603050405020304" pitchFamily="18" charset="0"/>
                          <a:cs typeface="Times New Roman" panose="02020603050405020304" pitchFamily="18" charset="0"/>
                        </a:rPr>
                        <a:t>6</a:t>
                      </a:r>
                      <a:endParaRPr lang="en-IN">
                        <a:effectLst/>
                        <a:latin typeface="Times New Roman" panose="02020603050405020304" pitchFamily="18" charset="0"/>
                        <a:cs typeface="Times New Roman" panose="02020603050405020304" pitchFamily="18" charset="0"/>
                      </a:endParaRPr>
                    </a:p>
                  </a:txBody>
                  <a:tcPr anchor="ctr"/>
                </a:tc>
                <a:tc>
                  <a:txBody>
                    <a:bodyPr/>
                    <a:lstStyle/>
                    <a:p>
                      <a:pPr algn="l"/>
                      <a:r>
                        <a:rPr lang="en-US">
                          <a:effectLst/>
                          <a:latin typeface="Times New Roman" panose="02020603050405020304" pitchFamily="18" charset="0"/>
                          <a:cs typeface="Times New Roman" panose="02020603050405020304" pitchFamily="18" charset="0"/>
                        </a:rPr>
                        <a:t>A Survey on Multimodal Deepfake Detection System</a:t>
                      </a:r>
                    </a:p>
                  </a:txBody>
                  <a:tcPr anchor="ctr"/>
                </a:tc>
                <a:tc>
                  <a:txBody>
                    <a:bodyPr/>
                    <a:lstStyle/>
                    <a:p>
                      <a:pPr algn="l"/>
                      <a:r>
                        <a:rPr lang="en-IN">
                          <a:effectLst/>
                          <a:latin typeface="Times New Roman" panose="02020603050405020304" pitchFamily="18" charset="0"/>
                          <a:cs typeface="Times New Roman" panose="02020603050405020304" pitchFamily="18" charset="0"/>
                        </a:rPr>
                        <a:t>2026</a:t>
                      </a:r>
                    </a:p>
                  </a:txBody>
                  <a:tcPr anchor="ctr"/>
                </a:tc>
                <a:tc>
                  <a:txBody>
                    <a:bodyPr/>
                    <a:lstStyle/>
                    <a:p>
                      <a:pPr algn="l"/>
                      <a:r>
                        <a:rPr lang="en-IN">
                          <a:effectLst/>
                          <a:latin typeface="Times New Roman" panose="02020603050405020304" pitchFamily="18" charset="0"/>
                          <a:cs typeface="Times New Roman" panose="02020603050405020304" pitchFamily="18" charset="0"/>
                        </a:rPr>
                        <a:t>Atlantis Press (Springer)</a:t>
                      </a:r>
                    </a:p>
                  </a:txBody>
                  <a:tcPr anchor="ctr"/>
                </a:tc>
                <a:tc>
                  <a:txBody>
                    <a:bodyPr/>
                    <a:lstStyle/>
                    <a:p>
                      <a:pPr algn="l"/>
                      <a:r>
                        <a:rPr lang="en-US">
                          <a:effectLst/>
                          <a:latin typeface="Times New Roman" panose="02020603050405020304" pitchFamily="18" charset="0"/>
                          <a:cs typeface="Times New Roman" panose="02020603050405020304" pitchFamily="18" charset="0"/>
                        </a:rPr>
                        <a:t>Discussed the theory behind how we should combine (or "fuse") audio, video, and image data to build better detectors.</a:t>
                      </a:r>
                    </a:p>
                  </a:txBody>
                  <a:tcPr anchor="ctr"/>
                </a:tc>
                <a:tc>
                  <a:txBody>
                    <a:bodyPr/>
                    <a:lstStyle/>
                    <a:p>
                      <a:pPr algn="l"/>
                      <a:r>
                        <a:rPr lang="en-US">
                          <a:effectLst/>
                          <a:latin typeface="Times New Roman" panose="02020603050405020304" pitchFamily="18" charset="0"/>
                          <a:cs typeface="Times New Roman" panose="02020603050405020304" pitchFamily="18" charset="0"/>
                        </a:rPr>
                        <a:t>Found that the hardest part of building these systems is getting the audio and video perfectly synced and finding enough good data to train on.</a:t>
                      </a:r>
                    </a:p>
                  </a:txBody>
                  <a:tcPr anchor="ctr"/>
                </a:tc>
                <a:tc>
                  <a:txBody>
                    <a:bodyPr/>
                    <a:lstStyle/>
                    <a:p>
                      <a:pPr algn="l"/>
                      <a:r>
                        <a:rPr lang="en-US" dirty="0">
                          <a:effectLst/>
                          <a:latin typeface="Times New Roman" panose="02020603050405020304" pitchFamily="18" charset="0"/>
                          <a:cs typeface="Times New Roman" panose="02020603050405020304" pitchFamily="18" charset="0"/>
                        </a:rPr>
                        <a:t>Mostly focuses on theory and discussion rather than actual testing or providing solid benchmark numbers.</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06096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84775"/>
          </a:xfrm>
          <a:prstGeom prst="rect">
            <a:avLst/>
          </a:prstGeom>
          <a:noFill/>
        </p:spPr>
        <p:txBody>
          <a:bodyPr wrap="square" rtlCol="0">
            <a:spAutoFit/>
          </a:bodyPr>
          <a:lstStyle/>
          <a:p>
            <a:r>
              <a:rPr lang="en-IN" sz="3200" b="1" dirty="0">
                <a:latin typeface="Times New Roman" panose="02020603050405020304" charset="0"/>
                <a:cs typeface="Times New Roman" panose="02020603050405020304" charset="0"/>
              </a:rPr>
              <a:t>Dataset Identification (Video Datasets)</a:t>
            </a:r>
            <a:endParaRPr lang="en-IN" sz="3200" b="1" dirty="0"/>
          </a:p>
        </p:txBody>
      </p:sp>
      <p:graphicFrame>
        <p:nvGraphicFramePr>
          <p:cNvPr id="3" name="Table 2"/>
          <p:cNvGraphicFramePr>
            <a:graphicFrameLocks noGrp="1"/>
          </p:cNvGraphicFramePr>
          <p:nvPr/>
        </p:nvGraphicFramePr>
        <p:xfrm>
          <a:off x="975946" y="1172585"/>
          <a:ext cx="10409809" cy="4868688"/>
        </p:xfrm>
        <a:graphic>
          <a:graphicData uri="http://schemas.openxmlformats.org/drawingml/2006/table">
            <a:tbl>
              <a:tblPr firstRow="1" bandRow="1">
                <a:tableStyleId>{5940675A-B579-460E-94D1-54222C63F5DA}</a:tableStyleId>
              </a:tblPr>
              <a:tblGrid>
                <a:gridCol w="1812193">
                  <a:extLst>
                    <a:ext uri="{9D8B030D-6E8A-4147-A177-3AD203B41FA5}">
                      <a16:colId xmlns:a16="http://schemas.microsoft.com/office/drawing/2014/main" val="20000"/>
                    </a:ext>
                  </a:extLst>
                </a:gridCol>
                <a:gridCol w="1570501">
                  <a:extLst>
                    <a:ext uri="{9D8B030D-6E8A-4147-A177-3AD203B41FA5}">
                      <a16:colId xmlns:a16="http://schemas.microsoft.com/office/drawing/2014/main" val="20001"/>
                    </a:ext>
                  </a:extLst>
                </a:gridCol>
                <a:gridCol w="2580640">
                  <a:extLst>
                    <a:ext uri="{9D8B030D-6E8A-4147-A177-3AD203B41FA5}">
                      <a16:colId xmlns:a16="http://schemas.microsoft.com/office/drawing/2014/main" val="20002"/>
                    </a:ext>
                  </a:extLst>
                </a:gridCol>
                <a:gridCol w="2245360">
                  <a:extLst>
                    <a:ext uri="{9D8B030D-6E8A-4147-A177-3AD203B41FA5}">
                      <a16:colId xmlns:a16="http://schemas.microsoft.com/office/drawing/2014/main" val="20003"/>
                    </a:ext>
                  </a:extLst>
                </a:gridCol>
                <a:gridCol w="2201115">
                  <a:extLst>
                    <a:ext uri="{9D8B030D-6E8A-4147-A177-3AD203B41FA5}">
                      <a16:colId xmlns:a16="http://schemas.microsoft.com/office/drawing/2014/main" val="20004"/>
                    </a:ext>
                  </a:extLst>
                </a:gridCol>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p>
                  </a:txBody>
                  <a:tcPr anchor="ctr">
                    <a:solidFill>
                      <a:srgbClr val="7030A0"/>
                    </a:solidFill>
                  </a:tcPr>
                </a:tc>
                <a:extLst>
                  <a:ext uri="{0D108BD9-81ED-4DB2-BD59-A6C34878D82A}">
                    <a16:rowId xmlns:a16="http://schemas.microsoft.com/office/drawing/2014/main" val="10000"/>
                  </a:ext>
                </a:extLst>
              </a:tr>
              <a:tr h="934165">
                <a:tc>
                  <a:txBody>
                    <a:bodyPr/>
                    <a:lstStyle/>
                    <a:p>
                      <a:r>
                        <a:rPr lang="en-IN" sz="1600" b="1" dirty="0">
                          <a:latin typeface="Times New Roman" panose="02020603050405020304" charset="0"/>
                          <a:cs typeface="Times New Roman" panose="02020603050405020304" charset="0"/>
                        </a:rPr>
                        <a:t>DFDC (Video)</a:t>
                      </a:r>
                      <a:endParaRPr lang="en-IN"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Kaggle</a:t>
                      </a:r>
                    </a:p>
                  </a:txBody>
                  <a:tcPr anchor="ctr"/>
                </a:tc>
                <a:tc>
                  <a:txBody>
                    <a:bodyPr/>
                    <a:lstStyle/>
                    <a:p>
                      <a:r>
                        <a:rPr lang="en-US" sz="1600" dirty="0">
                          <a:latin typeface="Times New Roman" panose="02020603050405020304" charset="0"/>
                          <a:cs typeface="Times New Roman" panose="02020603050405020304" charset="0"/>
                        </a:rPr>
                        <a:t>Large-scale dataset containing real and deepfake videos; considered a gold standard benchmark</a:t>
                      </a:r>
                    </a:p>
                  </a:txBody>
                  <a:tcPr anchor="ctr"/>
                </a:tc>
                <a:tc>
                  <a:txBody>
                    <a:bodyPr/>
                    <a:lstStyle/>
                    <a:p>
                      <a:r>
                        <a:rPr lang="en-US" sz="1600" dirty="0">
                          <a:latin typeface="Times New Roman" panose="02020603050405020304" charset="0"/>
                          <a:cs typeface="Times New Roman" panose="02020603050405020304" charset="0"/>
                        </a:rPr>
                        <a:t>Train and evaluate deepfake detection models on diverse, real-world data</a:t>
                      </a:r>
                    </a:p>
                  </a:txBody>
                  <a:tcPr anchor="ctr"/>
                </a:tc>
                <a:tc>
                  <a:txBody>
                    <a:bodyPr/>
                    <a:lstStyle/>
                    <a:p>
                      <a:r>
                        <a:rPr lang="en-IN" sz="1600" dirty="0">
                          <a:latin typeface="Times New Roman" panose="02020603050405020304" charset="0"/>
                          <a:cs typeface="Times New Roman" panose="02020603050405020304" charset="0"/>
                          <a:hlinkClick r:id="rId2"/>
                        </a:rPr>
                        <a:t>https://www.kaggle.com/c/deepfake-detection-challenge</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1"/>
                  </a:ext>
                </a:extLst>
              </a:tr>
              <a:tr h="1417815">
                <a:tc>
                  <a:txBody>
                    <a:bodyPr/>
                    <a:lstStyle/>
                    <a:p>
                      <a:r>
                        <a:rPr lang="en-IN" sz="1600" b="1" dirty="0" err="1">
                          <a:latin typeface="Times New Roman" panose="02020603050405020304" charset="0"/>
                          <a:cs typeface="Times New Roman" panose="02020603050405020304" charset="0"/>
                        </a:rPr>
                        <a:t>FaceForensics</a:t>
                      </a:r>
                      <a:r>
                        <a:rPr lang="en-IN" sz="1600" b="1" dirty="0">
                          <a:latin typeface="Times New Roman" panose="02020603050405020304" charset="0"/>
                          <a:cs typeface="Times New Roman" panose="02020603050405020304" charset="0"/>
                        </a:rPr>
                        <a:t>++ (Video)</a:t>
                      </a:r>
                      <a:endParaRPr lang="en-IN" sz="1600" dirty="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Technical University of Munich</a:t>
                      </a:r>
                    </a:p>
                  </a:txBody>
                  <a:tcPr anchor="ctr"/>
                </a:tc>
                <a:tc>
                  <a:txBody>
                    <a:bodyPr/>
                    <a:lstStyle/>
                    <a:p>
                      <a:r>
                        <a:rPr lang="en-US" sz="1600">
                          <a:latin typeface="Times New Roman" panose="02020603050405020304" charset="0"/>
                          <a:cs typeface="Times New Roman" panose="02020603050405020304" charset="0"/>
                        </a:rPr>
                        <a:t>Dataset with multiple types of facial manipulations (Deepfakes, FaceSwap, Face2Face, NeuralTextures)</a:t>
                      </a:r>
                    </a:p>
                  </a:txBody>
                  <a:tcPr anchor="ctr"/>
                </a:tc>
                <a:tc>
                  <a:txBody>
                    <a:bodyPr/>
                    <a:lstStyle/>
                    <a:p>
                      <a:r>
                        <a:rPr lang="en-IN" sz="1600" dirty="0">
                          <a:latin typeface="Times New Roman" panose="02020603050405020304" charset="0"/>
                          <a:cs typeface="Times New Roman" panose="02020603050405020304" charset="0"/>
                        </a:rPr>
                        <a:t>Test and benchmark face manipulation detection techniques</a:t>
                      </a:r>
                    </a:p>
                  </a:txBody>
                  <a:tcPr anchor="ctr"/>
                </a:tc>
                <a:tc>
                  <a:txBody>
                    <a:bodyPr/>
                    <a:lstStyle/>
                    <a:p>
                      <a:r>
                        <a:rPr lang="en-IN" sz="1600" dirty="0">
                          <a:latin typeface="Times New Roman" panose="02020603050405020304" charset="0"/>
                          <a:cs typeface="Times New Roman" panose="02020603050405020304" charset="0"/>
                          <a:hlinkClick r:id="rId3"/>
                        </a:rPr>
                        <a:t>https://github.com/ondyari/FaceForensics#access</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2"/>
                  </a:ext>
                </a:extLst>
              </a:tr>
              <a:tr h="845236">
                <a:tc>
                  <a:txBody>
                    <a:bodyPr/>
                    <a:lstStyle/>
                    <a:p>
                      <a:r>
                        <a:rPr lang="en-IN" sz="1600" b="1">
                          <a:latin typeface="Times New Roman" panose="02020603050405020304" charset="0"/>
                          <a:cs typeface="Times New Roman" panose="02020603050405020304" charset="0"/>
                        </a:rPr>
                        <a:t>Celeb-DF (Video)</a:t>
                      </a:r>
                      <a:endParaRPr lang="en-IN" sz="1600">
                        <a:latin typeface="Times New Roman" panose="0202060305040502030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University at Buffalo</a:t>
                      </a:r>
                    </a:p>
                  </a:txBody>
                  <a:tcPr anchor="ctr"/>
                </a:tc>
                <a:tc>
                  <a:txBody>
                    <a:bodyPr/>
                    <a:lstStyle/>
                    <a:p>
                      <a:r>
                        <a:rPr lang="en-US" sz="1600">
                          <a:latin typeface="Times New Roman" panose="02020603050405020304" charset="0"/>
                          <a:cs typeface="Times New Roman" panose="02020603050405020304" charset="0"/>
                        </a:rPr>
                        <a:t>High-quality deepfake videos with minimal visible artifacts</a:t>
                      </a:r>
                    </a:p>
                  </a:txBody>
                  <a:tcPr anchor="ctr"/>
                </a:tc>
                <a:tc>
                  <a:txBody>
                    <a:bodyPr/>
                    <a:lstStyle/>
                    <a:p>
                      <a:r>
                        <a:rPr lang="en-US" sz="1600" dirty="0">
                          <a:latin typeface="Times New Roman" panose="02020603050405020304" charset="0"/>
                          <a:cs typeface="Times New Roman" panose="02020603050405020304" charset="0"/>
                        </a:rPr>
                        <a:t>Evaluate model performance on realistic and hard-to-detect deepfakes</a:t>
                      </a:r>
                    </a:p>
                  </a:txBody>
                  <a:tcPr anchor="ctr"/>
                </a:tc>
                <a:tc>
                  <a:txBody>
                    <a:bodyPr/>
                    <a:lstStyle/>
                    <a:p>
                      <a:r>
                        <a:rPr lang="en-IN" sz="1600">
                          <a:latin typeface="Times New Roman" panose="02020603050405020304" charset="0"/>
                          <a:cs typeface="Times New Roman" panose="02020603050405020304" charset="0"/>
                          <a:hlinkClick r:id="rId4"/>
                        </a:rPr>
                        <a:t>https://github.com/yuezunli/celeb-deepfakeforensics</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3"/>
                  </a:ext>
                </a:extLst>
              </a:tr>
              <a:tr h="941312">
                <a:tc>
                  <a:txBody>
                    <a:bodyPr/>
                    <a:lstStyle/>
                    <a:p>
                      <a:r>
                        <a:rPr lang="en-IN" sz="1600">
                          <a:latin typeface="Times New Roman" panose="02020603050405020304" charset="0"/>
                          <a:cs typeface="Times New Roman" panose="02020603050405020304" charset="0"/>
                        </a:rPr>
                        <a:t>DeepFakeTIMIT</a:t>
                      </a:r>
                    </a:p>
                  </a:txBody>
                  <a:tcPr anchor="ctr"/>
                </a:tc>
                <a:tc>
                  <a:txBody>
                    <a:bodyPr/>
                    <a:lstStyle/>
                    <a:p>
                      <a:r>
                        <a:rPr lang="en-IN" sz="1600">
                          <a:latin typeface="Times New Roman" panose="02020603050405020304" charset="0"/>
                          <a:cs typeface="Times New Roman" panose="02020603050405020304" charset="0"/>
                        </a:rPr>
                        <a:t>University of Naples</a:t>
                      </a:r>
                    </a:p>
                  </a:txBody>
                  <a:tcPr anchor="ctr"/>
                </a:tc>
                <a:tc>
                  <a:txBody>
                    <a:bodyPr/>
                    <a:lstStyle/>
                    <a:p>
                      <a:r>
                        <a:rPr lang="en-IN" sz="1600">
                          <a:latin typeface="Times New Roman" panose="02020603050405020304" charset="0"/>
                          <a:cs typeface="Times New Roman" panose="02020603050405020304" charset="0"/>
                        </a:rPr>
                        <a:t>Low &amp; high-quality deepfake videos</a:t>
                      </a:r>
                    </a:p>
                  </a:txBody>
                  <a:tcPr anchor="ctr"/>
                </a:tc>
                <a:tc>
                  <a:txBody>
                    <a:bodyPr/>
                    <a:lstStyle/>
                    <a:p>
                      <a:r>
                        <a:rPr lang="en-IN" sz="1600">
                          <a:latin typeface="Times New Roman" panose="02020603050405020304" charset="0"/>
                          <a:cs typeface="Times New Roman" panose="02020603050405020304" charset="0"/>
                        </a:rPr>
                        <a:t>Evaluate model robustness</a:t>
                      </a:r>
                    </a:p>
                  </a:txBody>
                  <a:tcPr anchor="ctr"/>
                </a:tc>
                <a:tc>
                  <a:txBody>
                    <a:bodyPr/>
                    <a:lstStyle/>
                    <a:p>
                      <a:r>
                        <a:rPr lang="en-IN" sz="1600" dirty="0">
                          <a:latin typeface="Times New Roman" panose="02020603050405020304" charset="0"/>
                          <a:cs typeface="Times New Roman" panose="02020603050405020304" charset="0"/>
                          <a:hlinkClick r:id="rId5"/>
                        </a:rPr>
                        <a:t>https://conradsanderson.id.au/vidtimit/</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23220"/>
          </a:xfrm>
          <a:prstGeom prst="rect">
            <a:avLst/>
          </a:prstGeom>
          <a:noFill/>
        </p:spPr>
        <p:txBody>
          <a:bodyPr wrap="square" rtlCol="0">
            <a:spAutoFit/>
          </a:bodyPr>
          <a:lstStyle/>
          <a:p>
            <a:r>
              <a:rPr lang="en-IN" sz="2800" b="1" dirty="0">
                <a:latin typeface="Times New Roman" panose="02020603050405020304" charset="0"/>
                <a:cs typeface="Times New Roman" panose="02020603050405020304" charset="0"/>
              </a:rPr>
              <a:t>Dataset Identification(Image Datasets)</a:t>
            </a:r>
          </a:p>
        </p:txBody>
      </p:sp>
      <p:graphicFrame>
        <p:nvGraphicFramePr>
          <p:cNvPr id="3" name="Table 2"/>
          <p:cNvGraphicFramePr>
            <a:graphicFrameLocks noGrp="1"/>
          </p:cNvGraphicFramePr>
          <p:nvPr/>
        </p:nvGraphicFramePr>
        <p:xfrm>
          <a:off x="1004854" y="1172585"/>
          <a:ext cx="10380901" cy="4514489"/>
        </p:xfrm>
        <a:graphic>
          <a:graphicData uri="http://schemas.openxmlformats.org/drawingml/2006/table">
            <a:tbl>
              <a:tblPr firstRow="1" bandRow="1">
                <a:tableStyleId>{5940675A-B579-460E-94D1-54222C63F5DA}</a:tableStyleId>
              </a:tblPr>
              <a:tblGrid>
                <a:gridCol w="1879023">
                  <a:extLst>
                    <a:ext uri="{9D8B030D-6E8A-4147-A177-3AD203B41FA5}">
                      <a16:colId xmlns:a16="http://schemas.microsoft.com/office/drawing/2014/main" val="20000"/>
                    </a:ext>
                  </a:extLst>
                </a:gridCol>
                <a:gridCol w="1474763">
                  <a:extLst>
                    <a:ext uri="{9D8B030D-6E8A-4147-A177-3AD203B41FA5}">
                      <a16:colId xmlns:a16="http://schemas.microsoft.com/office/drawing/2014/main" val="20001"/>
                    </a:ext>
                  </a:extLst>
                </a:gridCol>
                <a:gridCol w="2580640">
                  <a:extLst>
                    <a:ext uri="{9D8B030D-6E8A-4147-A177-3AD203B41FA5}">
                      <a16:colId xmlns:a16="http://schemas.microsoft.com/office/drawing/2014/main" val="20002"/>
                    </a:ext>
                  </a:extLst>
                </a:gridCol>
                <a:gridCol w="2245360">
                  <a:extLst>
                    <a:ext uri="{9D8B030D-6E8A-4147-A177-3AD203B41FA5}">
                      <a16:colId xmlns:a16="http://schemas.microsoft.com/office/drawing/2014/main" val="20003"/>
                    </a:ext>
                  </a:extLst>
                </a:gridCol>
                <a:gridCol w="2201115">
                  <a:extLst>
                    <a:ext uri="{9D8B030D-6E8A-4147-A177-3AD203B41FA5}">
                      <a16:colId xmlns:a16="http://schemas.microsoft.com/office/drawing/2014/main" val="20004"/>
                    </a:ext>
                  </a:extLst>
                </a:gridCol>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endParaRPr lang="en-IN" sz="1600" b="1" dirty="0">
                        <a:solidFill>
                          <a:schemeClr val="bg1"/>
                        </a:solidFill>
                        <a:latin typeface="Times New Roman" panose="02020603050405020304" charset="0"/>
                        <a:ea typeface="Tahoma" panose="020B0604030504040204" pitchFamily="34" charset="0"/>
                        <a:cs typeface="Times New Roman" panose="02020603050405020304" charset="0"/>
                      </a:endParaRPr>
                    </a:p>
                  </a:txBody>
                  <a:tcPr anchor="ctr">
                    <a:solidFill>
                      <a:srgbClr val="7030A0"/>
                    </a:solidFill>
                  </a:tcPr>
                </a:tc>
                <a:extLst>
                  <a:ext uri="{0D108BD9-81ED-4DB2-BD59-A6C34878D82A}">
                    <a16:rowId xmlns:a16="http://schemas.microsoft.com/office/drawing/2014/main" val="10000"/>
                  </a:ext>
                </a:extLst>
              </a:tr>
              <a:tr h="934165">
                <a:tc>
                  <a:txBody>
                    <a:bodyPr/>
                    <a:lstStyle/>
                    <a:p>
                      <a:r>
                        <a:rPr lang="en-IN" sz="1600" dirty="0" err="1">
                          <a:latin typeface="Times New Roman" panose="02020603050405020304" charset="0"/>
                          <a:cs typeface="Times New Roman" panose="02020603050405020304" charset="0"/>
                        </a:rPr>
                        <a:t>CelebA</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Google / CUHK</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US" sz="1600" dirty="0">
                          <a:latin typeface="Times New Roman" panose="02020603050405020304" charset="0"/>
                          <a:cs typeface="Times New Roman" panose="02020603050405020304" charset="0"/>
                        </a:rPr>
                        <a:t>Large dataset of celebrity faces</a:t>
                      </a:r>
                      <a:endParaRPr lang="en-US"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Train face-based models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2"/>
                        </a:rPr>
                        <a:t>https://mmlab.ie.cuhk.edu.hk/projects/CelebA.html</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1"/>
                  </a:ext>
                </a:extLst>
              </a:tr>
              <a:tr h="1417815">
                <a:tc>
                  <a:txBody>
                    <a:bodyPr/>
                    <a:lstStyle/>
                    <a:p>
                      <a:r>
                        <a:rPr lang="en-IN" sz="1600" dirty="0">
                          <a:latin typeface="Times New Roman" panose="02020603050405020304" charset="0"/>
                          <a:cs typeface="Times New Roman" panose="02020603050405020304" charset="0"/>
                        </a:rPr>
                        <a:t>FFHQ (Flickr-Faces-HQ)</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NVIDIA</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High-quality human face images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Train GAN detection models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3"/>
                        </a:rPr>
                        <a:t>https://github.com/NVlabs/ffhq-dataset</a:t>
                      </a:r>
                      <a:endParaRPr lang="en-IN" sz="160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2"/>
                  </a:ext>
                </a:extLst>
              </a:tr>
              <a:tr h="845236">
                <a:tc>
                  <a:txBody>
                    <a:bodyPr/>
                    <a:lstStyle/>
                    <a:p>
                      <a:r>
                        <a:rPr lang="en-IN" sz="1600">
                          <a:latin typeface="Times New Roman" panose="02020603050405020304" charset="0"/>
                          <a:cs typeface="Times New Roman" panose="02020603050405020304" charset="0"/>
                        </a:rPr>
                        <a:t>StyleGAN Generated Dataset</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NVIDIA</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AI-generated fake faces</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rPr>
                        <a:t>Detect synthetic images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hlinkClick r:id="rId4"/>
                        </a:rPr>
                        <a:t>https://github.com/NVlabs/stylegan</a:t>
                      </a:r>
                      <a:endParaRPr lang="en-IN" sz="160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3"/>
                  </a:ext>
                </a:extLst>
              </a:tr>
              <a:tr h="941312">
                <a:tc>
                  <a:txBody>
                    <a:bodyPr/>
                    <a:lstStyle/>
                    <a:p>
                      <a:r>
                        <a:rPr lang="en-US" sz="1600">
                          <a:latin typeface="Times New Roman" panose="02020603050405020304" charset="0"/>
                          <a:cs typeface="Times New Roman" panose="02020603050405020304" charset="0"/>
                        </a:rPr>
                        <a:t>Real vs Fake Face Dataset</a:t>
                      </a:r>
                      <a:endParaRPr lang="en-US"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Kaggle</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US" sz="1600">
                          <a:latin typeface="Times New Roman" panose="02020603050405020304" charset="0"/>
                          <a:cs typeface="Times New Roman" panose="02020603050405020304" charset="0"/>
                        </a:rPr>
                        <a:t>Mix of real and fake face images</a:t>
                      </a:r>
                      <a:endParaRPr lang="en-US"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Binary classification (real/fake)</a:t>
                      </a:r>
                      <a:endParaRPr lang="en-IN" sz="1600">
                        <a:latin typeface="Times New Roman" panose="02020603050405020304" charset="0"/>
                        <a:ea typeface="Tahoma" panose="020B0604030504040204" pitchFamily="34" charset="0"/>
                        <a:cs typeface="Times New Roman" panose="02020603050405020304" charset="0"/>
                      </a:endParaRPr>
                    </a:p>
                  </a:txBody>
                  <a:tcPr anchor="ctr"/>
                </a:tc>
                <a:tc>
                  <a:txBody>
                    <a:bodyPr/>
                    <a:lstStyle/>
                    <a:p>
                      <a:r>
                        <a:rPr lang="en-IN" sz="1600" dirty="0">
                          <a:latin typeface="Times New Roman" panose="02020603050405020304" charset="0"/>
                          <a:cs typeface="Times New Roman" panose="02020603050405020304" charset="0"/>
                          <a:hlinkClick r:id="rId5"/>
                        </a:rPr>
                        <a:t>https://www.kaggle.com/c/fake-faces</a:t>
                      </a:r>
                      <a:endParaRPr lang="en-IN" sz="1600" dirty="0">
                        <a:latin typeface="Times New Roman" panose="02020603050405020304" charset="0"/>
                        <a:ea typeface="Tahoma" panose="020B0604030504040204" pitchFamily="34" charset="0"/>
                        <a:cs typeface="Times New Roman" panose="02020603050405020304"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6245" y="1042221"/>
            <a:ext cx="11041626" cy="496996"/>
          </a:xfrm>
          <a:prstGeom prst="rect">
            <a:avLst/>
          </a:prstGeom>
          <a:noFill/>
        </p:spPr>
        <p:txBody>
          <a:bodyPr wrap="square">
            <a:spAutoFit/>
          </a:bodyPr>
          <a:lstStyle/>
          <a:p>
            <a:pPr algn="just">
              <a:lnSpc>
                <a:spcPct val="150000"/>
              </a:lnSpc>
            </a:pPr>
            <a:endParaRPr lang="en-IN" sz="2000" dirty="0"/>
          </a:p>
        </p:txBody>
      </p:sp>
      <p:sp>
        <p:nvSpPr>
          <p:cNvPr id="6" name="TextBox 5"/>
          <p:cNvSpPr txBox="1"/>
          <p:nvPr/>
        </p:nvSpPr>
        <p:spPr>
          <a:xfrm>
            <a:off x="806245" y="230241"/>
            <a:ext cx="8303888" cy="523220"/>
          </a:xfrm>
          <a:prstGeom prst="rect">
            <a:avLst/>
          </a:prstGeom>
          <a:noFill/>
        </p:spPr>
        <p:txBody>
          <a:bodyPr wrap="square" rtlCol="0">
            <a:spAutoFit/>
          </a:bodyPr>
          <a:lstStyle/>
          <a:p>
            <a:r>
              <a:rPr lang="en-IN" sz="2800" b="1" dirty="0">
                <a:latin typeface="Times New Roman" panose="02020603050405020304" charset="0"/>
                <a:cs typeface="Times New Roman" panose="02020603050405020304" charset="0"/>
              </a:rPr>
              <a:t>Dataset Identification(Audio Datasets)</a:t>
            </a:r>
          </a:p>
        </p:txBody>
      </p:sp>
      <p:graphicFrame>
        <p:nvGraphicFramePr>
          <p:cNvPr id="3" name="Table 2"/>
          <p:cNvGraphicFramePr>
            <a:graphicFrameLocks noGrp="1"/>
          </p:cNvGraphicFramePr>
          <p:nvPr/>
        </p:nvGraphicFramePr>
        <p:xfrm>
          <a:off x="984738" y="1172585"/>
          <a:ext cx="10401017" cy="4514489"/>
        </p:xfrm>
        <a:graphic>
          <a:graphicData uri="http://schemas.openxmlformats.org/drawingml/2006/table">
            <a:tbl>
              <a:tblPr firstRow="1" bandRow="1">
                <a:tableStyleId>{5940675A-B579-460E-94D1-54222C63F5DA}</a:tableStyleId>
              </a:tblPr>
              <a:tblGrid>
                <a:gridCol w="1803401">
                  <a:extLst>
                    <a:ext uri="{9D8B030D-6E8A-4147-A177-3AD203B41FA5}">
                      <a16:colId xmlns:a16="http://schemas.microsoft.com/office/drawing/2014/main" val="20000"/>
                    </a:ext>
                  </a:extLst>
                </a:gridCol>
                <a:gridCol w="1570501">
                  <a:extLst>
                    <a:ext uri="{9D8B030D-6E8A-4147-A177-3AD203B41FA5}">
                      <a16:colId xmlns:a16="http://schemas.microsoft.com/office/drawing/2014/main" val="20001"/>
                    </a:ext>
                  </a:extLst>
                </a:gridCol>
                <a:gridCol w="2580640">
                  <a:extLst>
                    <a:ext uri="{9D8B030D-6E8A-4147-A177-3AD203B41FA5}">
                      <a16:colId xmlns:a16="http://schemas.microsoft.com/office/drawing/2014/main" val="20002"/>
                    </a:ext>
                  </a:extLst>
                </a:gridCol>
                <a:gridCol w="2245360">
                  <a:extLst>
                    <a:ext uri="{9D8B030D-6E8A-4147-A177-3AD203B41FA5}">
                      <a16:colId xmlns:a16="http://schemas.microsoft.com/office/drawing/2014/main" val="20003"/>
                    </a:ext>
                  </a:extLst>
                </a:gridCol>
                <a:gridCol w="2201115">
                  <a:extLst>
                    <a:ext uri="{9D8B030D-6E8A-4147-A177-3AD203B41FA5}">
                      <a16:colId xmlns:a16="http://schemas.microsoft.com/office/drawing/2014/main" val="20004"/>
                    </a:ext>
                  </a:extLst>
                </a:gridCol>
              </a:tblGrid>
              <a:tr h="375961">
                <a:tc>
                  <a:txBody>
                    <a:bodyPr/>
                    <a:lstStyle/>
                    <a:p>
                      <a:r>
                        <a:rPr lang="en-IN" sz="1600" b="1" dirty="0">
                          <a:solidFill>
                            <a:schemeClr val="bg1"/>
                          </a:solidFill>
                          <a:latin typeface="Times New Roman" panose="02020603050405020304" charset="0"/>
                          <a:cs typeface="Times New Roman" panose="02020603050405020304" charset="0"/>
                        </a:rPr>
                        <a:t>Dataset Category</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Source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Description</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Purpose</a:t>
                      </a:r>
                    </a:p>
                  </a:txBody>
                  <a:tcPr anchor="ctr">
                    <a:solidFill>
                      <a:srgbClr val="7030A0"/>
                    </a:solidFill>
                  </a:tcPr>
                </a:tc>
                <a:tc>
                  <a:txBody>
                    <a:bodyPr/>
                    <a:lstStyle/>
                    <a:p>
                      <a:r>
                        <a:rPr lang="en-IN" sz="1600" b="1" dirty="0">
                          <a:solidFill>
                            <a:schemeClr val="bg1"/>
                          </a:solidFill>
                          <a:latin typeface="Times New Roman" panose="02020603050405020304" charset="0"/>
                          <a:cs typeface="Times New Roman" panose="02020603050405020304" charset="0"/>
                        </a:rPr>
                        <a:t>Link</a:t>
                      </a:r>
                    </a:p>
                  </a:txBody>
                  <a:tcPr anchor="ctr">
                    <a:solidFill>
                      <a:srgbClr val="7030A0"/>
                    </a:solidFill>
                  </a:tcPr>
                </a:tc>
                <a:extLst>
                  <a:ext uri="{0D108BD9-81ED-4DB2-BD59-A6C34878D82A}">
                    <a16:rowId xmlns:a16="http://schemas.microsoft.com/office/drawing/2014/main" val="10000"/>
                  </a:ext>
                </a:extLst>
              </a:tr>
              <a:tr h="934165">
                <a:tc>
                  <a:txBody>
                    <a:bodyPr/>
                    <a:lstStyle/>
                    <a:p>
                      <a:r>
                        <a:rPr lang="en-IN" sz="1600">
                          <a:latin typeface="Times New Roman" panose="02020603050405020304" charset="0"/>
                          <a:cs typeface="Times New Roman" panose="02020603050405020304" charset="0"/>
                        </a:rPr>
                        <a:t>ASVspoof 2021</a:t>
                      </a:r>
                    </a:p>
                  </a:txBody>
                  <a:tcPr anchor="ctr"/>
                </a:tc>
                <a:tc>
                  <a:txBody>
                    <a:bodyPr/>
                    <a:lstStyle/>
                    <a:p>
                      <a:r>
                        <a:rPr lang="en-IN" sz="1600">
                          <a:latin typeface="Times New Roman" panose="02020603050405020304" charset="0"/>
                          <a:cs typeface="Times New Roman" panose="02020603050405020304" charset="0"/>
                        </a:rPr>
                        <a:t>Zenodo</a:t>
                      </a:r>
                    </a:p>
                  </a:txBody>
                  <a:tcPr anchor="ctr"/>
                </a:tc>
                <a:tc>
                  <a:txBody>
                    <a:bodyPr/>
                    <a:lstStyle/>
                    <a:p>
                      <a:r>
                        <a:rPr lang="en-IN" sz="1600">
                          <a:latin typeface="Times New Roman" panose="02020603050405020304" charset="0"/>
                          <a:cs typeface="Times New Roman" panose="02020603050405020304" charset="0"/>
                        </a:rPr>
                        <a:t>Synthetic &amp; spoofed speech dataset</a:t>
                      </a:r>
                    </a:p>
                  </a:txBody>
                  <a:tcPr anchor="ctr"/>
                </a:tc>
                <a:tc>
                  <a:txBody>
                    <a:bodyPr/>
                    <a:lstStyle/>
                    <a:p>
                      <a:r>
                        <a:rPr lang="en-IN" sz="1600">
                          <a:latin typeface="Times New Roman" panose="02020603050405020304" charset="0"/>
                          <a:cs typeface="Times New Roman" panose="02020603050405020304" charset="0"/>
                        </a:rPr>
                        <a:t>Train audio deepfake detection</a:t>
                      </a:r>
                    </a:p>
                  </a:txBody>
                  <a:tcPr anchor="ctr"/>
                </a:tc>
                <a:tc>
                  <a:txBody>
                    <a:bodyPr/>
                    <a:lstStyle/>
                    <a:p>
                      <a:r>
                        <a:rPr lang="en-IN" sz="1600">
                          <a:latin typeface="Times New Roman" panose="02020603050405020304" charset="0"/>
                          <a:cs typeface="Times New Roman" panose="02020603050405020304" charset="0"/>
                          <a:hlinkClick r:id="rId2"/>
                        </a:rPr>
                        <a:t>https://zenodo.org/record/4837263</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1"/>
                  </a:ext>
                </a:extLst>
              </a:tr>
              <a:tr h="1417815">
                <a:tc>
                  <a:txBody>
                    <a:bodyPr/>
                    <a:lstStyle/>
                    <a:p>
                      <a:r>
                        <a:rPr lang="en-IN" sz="1600">
                          <a:latin typeface="Times New Roman" panose="02020603050405020304" charset="0"/>
                          <a:cs typeface="Times New Roman" panose="02020603050405020304" charset="0"/>
                        </a:rPr>
                        <a:t>Fake-or-Real (FoR)</a:t>
                      </a:r>
                    </a:p>
                  </a:txBody>
                  <a:tcPr anchor="ctr"/>
                </a:tc>
                <a:tc>
                  <a:txBody>
                    <a:bodyPr/>
                    <a:lstStyle/>
                    <a:p>
                      <a:r>
                        <a:rPr lang="en-IN" sz="1600">
                          <a:latin typeface="Times New Roman" panose="02020603050405020304" charset="0"/>
                          <a:cs typeface="Times New Roman" panose="02020603050405020304" charset="0"/>
                        </a:rPr>
                        <a:t>Kaggle</a:t>
                      </a:r>
                    </a:p>
                  </a:txBody>
                  <a:tcPr anchor="ctr"/>
                </a:tc>
                <a:tc>
                  <a:txBody>
                    <a:bodyPr/>
                    <a:lstStyle/>
                    <a:p>
                      <a:r>
                        <a:rPr lang="en-US" sz="1600">
                          <a:latin typeface="Times New Roman" panose="02020603050405020304" charset="0"/>
                          <a:cs typeface="Times New Roman" panose="02020603050405020304" charset="0"/>
                        </a:rPr>
                        <a:t>Real and AI-generated voice samples</a:t>
                      </a:r>
                    </a:p>
                  </a:txBody>
                  <a:tcPr anchor="ctr"/>
                </a:tc>
                <a:tc>
                  <a:txBody>
                    <a:bodyPr/>
                    <a:lstStyle/>
                    <a:p>
                      <a:r>
                        <a:rPr lang="en-IN" sz="1600">
                          <a:latin typeface="Times New Roman" panose="02020603050405020304" charset="0"/>
                          <a:cs typeface="Times New Roman" panose="02020603050405020304" charset="0"/>
                        </a:rPr>
                        <a:t>Binary classification</a:t>
                      </a:r>
                    </a:p>
                  </a:txBody>
                  <a:tcPr anchor="ctr"/>
                </a:tc>
                <a:tc>
                  <a:txBody>
                    <a:bodyPr/>
                    <a:lstStyle/>
                    <a:p>
                      <a:r>
                        <a:rPr lang="en-IN" sz="1600">
                          <a:latin typeface="Times New Roman" panose="02020603050405020304" charset="0"/>
                          <a:cs typeface="Times New Roman" panose="02020603050405020304" charset="0"/>
                          <a:hlinkClick r:id="rId3"/>
                        </a:rPr>
                        <a:t>https://www.kaggle.com/datasets/mohammedabdeldayem/the-fake-or-real-dataset</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2"/>
                  </a:ext>
                </a:extLst>
              </a:tr>
              <a:tr h="845236">
                <a:tc>
                  <a:txBody>
                    <a:bodyPr/>
                    <a:lstStyle/>
                    <a:p>
                      <a:r>
                        <a:rPr lang="en-IN" sz="1600" dirty="0" err="1">
                          <a:latin typeface="Times New Roman" panose="02020603050405020304" charset="0"/>
                          <a:cs typeface="Times New Roman" panose="02020603050405020304" charset="0"/>
                        </a:rPr>
                        <a:t>WaveFake</a:t>
                      </a:r>
                      <a:endParaRPr lang="en-IN" sz="1600" dirty="0">
                        <a:latin typeface="Times New Roman" panose="02020603050405020304" charset="0"/>
                        <a:cs typeface="Times New Roman" panose="02020603050405020304" charset="0"/>
                      </a:endParaRPr>
                    </a:p>
                  </a:txBody>
                  <a:tcPr anchor="ctr"/>
                </a:tc>
                <a:tc>
                  <a:txBody>
                    <a:bodyPr/>
                    <a:lstStyle/>
                    <a:p>
                      <a:r>
                        <a:rPr lang="en-IN" sz="1600">
                          <a:latin typeface="Times New Roman" panose="02020603050405020304" charset="0"/>
                          <a:cs typeface="Times New Roman" panose="02020603050405020304" charset="0"/>
                        </a:rPr>
                        <a:t>University of Edinburgh</a:t>
                      </a:r>
                    </a:p>
                  </a:txBody>
                  <a:tcPr anchor="ctr"/>
                </a:tc>
                <a:tc>
                  <a:txBody>
                    <a:bodyPr/>
                    <a:lstStyle/>
                    <a:p>
                      <a:r>
                        <a:rPr lang="en-US" sz="1600">
                          <a:latin typeface="Times New Roman" panose="02020603050405020304" charset="0"/>
                          <a:cs typeface="Times New Roman" panose="02020603050405020304" charset="0"/>
                        </a:rPr>
                        <a:t>Fake audio generated using TTS models</a:t>
                      </a:r>
                    </a:p>
                  </a:txBody>
                  <a:tcPr anchor="ctr"/>
                </a:tc>
                <a:tc>
                  <a:txBody>
                    <a:bodyPr/>
                    <a:lstStyle/>
                    <a:p>
                      <a:r>
                        <a:rPr lang="en-IN" sz="1600">
                          <a:latin typeface="Times New Roman" panose="02020603050405020304" charset="0"/>
                          <a:cs typeface="Times New Roman" panose="02020603050405020304" charset="0"/>
                        </a:rPr>
                        <a:t>Detect AI-generated voices</a:t>
                      </a:r>
                    </a:p>
                  </a:txBody>
                  <a:tcPr anchor="ctr"/>
                </a:tc>
                <a:tc>
                  <a:txBody>
                    <a:bodyPr/>
                    <a:lstStyle/>
                    <a:p>
                      <a:r>
                        <a:rPr lang="en-IN" sz="1600">
                          <a:latin typeface="Times New Roman" panose="02020603050405020304" charset="0"/>
                          <a:cs typeface="Times New Roman" panose="02020603050405020304" charset="0"/>
                          <a:hlinkClick r:id="rId4"/>
                        </a:rPr>
                        <a:t>https://github.com/RUB-SysSec/WaveFake</a:t>
                      </a:r>
                      <a:endParaRPr lang="en-IN" sz="160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3"/>
                  </a:ext>
                </a:extLst>
              </a:tr>
              <a:tr h="941312">
                <a:tc>
                  <a:txBody>
                    <a:bodyPr/>
                    <a:lstStyle/>
                    <a:p>
                      <a:r>
                        <a:rPr lang="en-IN" sz="1600">
                          <a:latin typeface="Times New Roman" panose="02020603050405020304" charset="0"/>
                          <a:cs typeface="Times New Roman" panose="02020603050405020304" charset="0"/>
                        </a:rPr>
                        <a:t>LibriSpeech + Fake Audio</a:t>
                      </a:r>
                    </a:p>
                  </a:txBody>
                  <a:tcPr anchor="ctr"/>
                </a:tc>
                <a:tc>
                  <a:txBody>
                    <a:bodyPr/>
                    <a:lstStyle/>
                    <a:p>
                      <a:r>
                        <a:rPr lang="en-IN" sz="1600">
                          <a:latin typeface="Times New Roman" panose="02020603050405020304" charset="0"/>
                          <a:cs typeface="Times New Roman" panose="02020603050405020304" charset="0"/>
                        </a:rPr>
                        <a:t>OpenSLR</a:t>
                      </a:r>
                    </a:p>
                  </a:txBody>
                  <a:tcPr anchor="ctr"/>
                </a:tc>
                <a:tc>
                  <a:txBody>
                    <a:bodyPr/>
                    <a:lstStyle/>
                    <a:p>
                      <a:r>
                        <a:rPr lang="en-IN" sz="1600">
                          <a:latin typeface="Times New Roman" panose="02020603050405020304" charset="0"/>
                          <a:cs typeface="Times New Roman" panose="02020603050405020304" charset="0"/>
                        </a:rPr>
                        <a:t>Real speech dataset (baseline)</a:t>
                      </a:r>
                    </a:p>
                  </a:txBody>
                  <a:tcPr anchor="ctr"/>
                </a:tc>
                <a:tc>
                  <a:txBody>
                    <a:bodyPr/>
                    <a:lstStyle/>
                    <a:p>
                      <a:r>
                        <a:rPr lang="en-IN" sz="1600">
                          <a:latin typeface="Times New Roman" panose="02020603050405020304" charset="0"/>
                          <a:cs typeface="Times New Roman" panose="02020603050405020304" charset="0"/>
                        </a:rPr>
                        <a:t>Compare real vs fake audio</a:t>
                      </a:r>
                    </a:p>
                  </a:txBody>
                  <a:tcPr anchor="ctr"/>
                </a:tc>
                <a:tc>
                  <a:txBody>
                    <a:bodyPr/>
                    <a:lstStyle/>
                    <a:p>
                      <a:r>
                        <a:rPr lang="en-IN" sz="1600" dirty="0">
                          <a:latin typeface="Times New Roman" panose="02020603050405020304" charset="0"/>
                          <a:cs typeface="Times New Roman" panose="02020603050405020304" charset="0"/>
                          <a:hlinkClick r:id="rId5"/>
                        </a:rPr>
                        <a:t>https://www.openslr.org/12</a:t>
                      </a:r>
                      <a:endParaRPr lang="en-IN" sz="1600" dirty="0">
                        <a:latin typeface="Times New Roman" panose="02020603050405020304" charset="0"/>
                        <a:cs typeface="Times New Roman" panose="02020603050405020304" charset="0"/>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1122" y="1228397"/>
            <a:ext cx="11633114" cy="5324535"/>
          </a:xfrm>
          <a:prstGeom prst="rect">
            <a:avLst/>
          </a:prstGeom>
          <a:noFill/>
        </p:spPr>
        <p:txBody>
          <a:bodyPr wrap="square">
            <a:spAutoFit/>
          </a:bodyPr>
          <a:lstStyle/>
          <a:p>
            <a:pPr lvl="1"/>
            <a:r>
              <a:rPr lang="en-US" sz="2000" b="1" i="0" u="sng" dirty="0">
                <a:solidFill>
                  <a:srgbClr val="7030A0"/>
                </a:solidFill>
                <a:effectLst/>
                <a:latin typeface="Times New Roman" panose="02020603050405020304" charset="0"/>
                <a:cs typeface="Times New Roman" panose="02020603050405020304" charset="0"/>
              </a:rPr>
              <a:t>AI/ML Stack</a:t>
            </a:r>
          </a:p>
          <a:p>
            <a:pPr lvl="1"/>
            <a:r>
              <a:rPr lang="en-US" sz="2000" b="1" i="0" dirty="0">
                <a:solidFill>
                  <a:schemeClr val="tx1"/>
                </a:solidFill>
                <a:effectLst/>
                <a:latin typeface="Times New Roman" panose="02020603050405020304" charset="0"/>
                <a:cs typeface="Times New Roman" panose="02020603050405020304" charset="0"/>
              </a:rPr>
              <a:t>Python:</a:t>
            </a:r>
          </a:p>
          <a:p>
            <a:pPr marL="342900" lvl="7"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rPr>
              <a:t>Main programming language used for AI development</a:t>
            </a:r>
            <a:endParaRPr lang="en-IN" sz="2000" b="1" dirty="0">
              <a:solidFill>
                <a:schemeClr val="tx1"/>
              </a:solidFill>
              <a:latin typeface="Times New Roman" panose="02020603050405020304" charset="0"/>
              <a:cs typeface="Times New Roman" panose="02020603050405020304" charset="0"/>
            </a:endParaRPr>
          </a:p>
          <a:p>
            <a:pPr marL="342900" lvl="1" indent="-342900">
              <a:buFont typeface="Arial" panose="020B0604020202020204" pitchFamily="34" charset="0"/>
              <a:buChar char="•"/>
            </a:pPr>
            <a:r>
              <a:rPr lang="en-US" sz="2000" b="0" i="0" dirty="0">
                <a:solidFill>
                  <a:schemeClr val="tx1"/>
                </a:solidFill>
                <a:effectLst/>
                <a:latin typeface="Times New Roman" panose="02020603050405020304" charset="0"/>
                <a:cs typeface="Times New Roman" panose="02020603050405020304" charset="0"/>
              </a:rPr>
              <a:t>Easy integration with ML libraries</a:t>
            </a:r>
            <a:endParaRPr lang="en-US" sz="2000" dirty="0">
              <a:solidFill>
                <a:schemeClr val="tx1"/>
              </a:solidFill>
              <a:latin typeface="Times New Roman" panose="02020603050405020304" charset="0"/>
              <a:cs typeface="Times New Roman" panose="02020603050405020304" charset="0"/>
            </a:endParaRPr>
          </a:p>
          <a:p>
            <a:pPr lvl="1"/>
            <a:r>
              <a:rPr lang="en-US" sz="2000" b="1" i="0" dirty="0" err="1">
                <a:solidFill>
                  <a:schemeClr val="tx1"/>
                </a:solidFill>
                <a:effectLst/>
                <a:latin typeface="Times New Roman" panose="02020603050405020304" charset="0"/>
                <a:cs typeface="Times New Roman" panose="02020603050405020304" charset="0"/>
              </a:rPr>
              <a:t>PyTorch</a:t>
            </a:r>
            <a:r>
              <a:rPr lang="en-US" sz="2000" b="1" i="0" dirty="0">
                <a:solidFill>
                  <a:schemeClr val="tx1"/>
                </a:solidFill>
                <a:effectLst/>
                <a:latin typeface="Times New Roman" panose="02020603050405020304" charset="0"/>
                <a:cs typeface="Times New Roman" panose="02020603050405020304" charset="0"/>
              </a:rPr>
              <a:t> :</a:t>
            </a:r>
          </a:p>
          <a:p>
            <a:pPr marL="342900" lvl="3" indent="-342900">
              <a:buFont typeface="Arial" panose="020B0604020202020204" pitchFamily="34" charset="0"/>
              <a:buChar char="•"/>
            </a:pPr>
            <a:r>
              <a:rPr lang="en-US" sz="2000" i="0" dirty="0">
                <a:solidFill>
                  <a:schemeClr val="tx1"/>
                </a:solidFill>
                <a:effectLst/>
                <a:latin typeface="Times New Roman" panose="02020603050405020304" charset="0"/>
                <a:cs typeface="Times New Roman" panose="02020603050405020304" charset="0"/>
              </a:rPr>
              <a:t>Frameworks used to build, train, and test deep learning models</a:t>
            </a: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rPr>
              <a:t>Provide GPU support for faster computation</a:t>
            </a:r>
          </a:p>
          <a:p>
            <a:pPr lvl="3"/>
            <a:r>
              <a:rPr lang="en-US" sz="2000" b="1" i="0" dirty="0">
                <a:solidFill>
                  <a:schemeClr val="tx1"/>
                </a:solidFill>
                <a:effectLst/>
                <a:latin typeface="Times New Roman" panose="02020603050405020304" charset="0"/>
                <a:cs typeface="Times New Roman" panose="02020603050405020304" charset="0"/>
              </a:rPr>
              <a:t>Effi</a:t>
            </a:r>
            <a:r>
              <a:rPr lang="en-US" sz="2000" b="1" dirty="0">
                <a:solidFill>
                  <a:schemeClr val="tx1"/>
                </a:solidFill>
                <a:latin typeface="Times New Roman" panose="02020603050405020304" charset="0"/>
                <a:cs typeface="Times New Roman" panose="02020603050405020304" charset="0"/>
              </a:rPr>
              <a:t>cientNetV2 </a:t>
            </a:r>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(local details):</a:t>
            </a: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Used for image classification</a:t>
            </a:r>
          </a:p>
          <a:p>
            <a:pPr marL="342900" lvl="3"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Detects fake images by analyzing</a:t>
            </a:r>
          </a:p>
          <a:p>
            <a:pPr lvl="4"/>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Facial inconsistencies</a:t>
            </a:r>
          </a:p>
          <a:p>
            <a:pPr lvl="4"/>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Texture and pixel-level artifacts </a:t>
            </a:r>
          </a:p>
          <a:p>
            <a:pPr lvl="1"/>
            <a:r>
              <a:rPr lang="en-US" sz="2000" b="1" i="0" dirty="0">
                <a:solidFill>
                  <a:schemeClr val="tx1"/>
                </a:solidFill>
                <a:effectLst/>
                <a:latin typeface="Times New Roman" panose="02020603050405020304" charset="0"/>
                <a:cs typeface="Times New Roman" panose="02020603050405020304" charset="0"/>
              </a:rPr>
              <a:t>MTCNN ( Multi-task Cascaded Convolutional Network):</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Used for face detection</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Extracts faces from images/videos</a:t>
            </a:r>
          </a:p>
          <a:p>
            <a:pPr lvl="4"/>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3"/>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endParaRPr lang="en-US" sz="2000" dirty="0">
              <a:solidFill>
                <a:schemeClr val="tx1"/>
              </a:solidFill>
              <a:latin typeface="Times New Roman" panose="02020603050405020304" charset="0"/>
              <a:cs typeface="Times New Roman" panose="02020603050405020304" charset="0"/>
            </a:endParaRPr>
          </a:p>
        </p:txBody>
      </p:sp>
      <p:sp>
        <p:nvSpPr>
          <p:cNvPr id="4" name="TextBox 3"/>
          <p:cNvSpPr txBox="1"/>
          <p:nvPr/>
        </p:nvSpPr>
        <p:spPr>
          <a:xfrm>
            <a:off x="1016000" y="444500"/>
            <a:ext cx="5234125" cy="584775"/>
          </a:xfrm>
          <a:prstGeom prst="rect">
            <a:avLst/>
          </a:prstGeom>
          <a:noFill/>
        </p:spPr>
        <p:txBody>
          <a:bodyPr wrap="none" rtlCol="0">
            <a:spAutoFit/>
          </a:bodyPr>
          <a:lstStyle/>
          <a:p>
            <a:r>
              <a:rPr lang="en-IN" sz="3200" b="1" dirty="0">
                <a:latin typeface="Times New Roman" panose="02020603050405020304" charset="0"/>
                <a:cs typeface="Times New Roman" panose="02020603050405020304" charset="0"/>
              </a:rPr>
              <a:t>Tool &amp; Technology Selection</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1122" y="1029275"/>
            <a:ext cx="11051844" cy="6217087"/>
          </a:xfrm>
          <a:prstGeom prst="rect">
            <a:avLst/>
          </a:prstGeom>
          <a:noFill/>
        </p:spPr>
        <p:txBody>
          <a:bodyPr wrap="square">
            <a:spAutoFit/>
          </a:bodyPr>
          <a:lstStyle/>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Wav2Vec:</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Processes raw audio signals</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Extracts deep audio features</a:t>
            </a:r>
          </a:p>
          <a:p>
            <a:pPr marL="342900" lvl="1" indent="-342900">
              <a:buFont typeface="Arial" panose="020B0604020202020204" pitchFamily="34" charset="0"/>
              <a:buChar char="•"/>
            </a:pPr>
            <a:r>
              <a:rPr lang="en-US" sz="1800" dirty="0">
                <a:latin typeface="Times New Roman" panose="02020603050405020304" charset="0"/>
                <a:ea typeface="Tahoma" panose="020B0604030504040204" pitchFamily="34" charset="0"/>
                <a:cs typeface="Times New Roman" panose="02020603050405020304" charset="0"/>
              </a:rPr>
              <a:t>Helps detect AI-generated or cloned voices</a:t>
            </a:r>
            <a:endParaRPr lang="en-US" sz="1800" dirty="0">
              <a:solidFill>
                <a:schemeClr val="tx1"/>
              </a:solidFill>
              <a:latin typeface="Times New Roman" panose="02020603050405020304" charset="0"/>
              <a:ea typeface="Tahoma" panose="020B0604030504040204" pitchFamily="34" charset="0"/>
              <a:cs typeface="Times New Roman" panose="02020603050405020304" charset="0"/>
              <a:sym typeface="Wingdings" panose="05000000000000000000" pitchFamily="2" charset="2"/>
            </a:endParaRPr>
          </a:p>
          <a:p>
            <a:pPr lvl="1"/>
            <a:endParaRPr lang="en-US" sz="2000"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b="1" u="sng" dirty="0">
                <a:solidFill>
                  <a:srgbClr val="7030A0"/>
                </a:solidFill>
                <a:latin typeface="Times New Roman" panose="02020603050405020304" charset="0"/>
                <a:cs typeface="Times New Roman" panose="02020603050405020304" charset="0"/>
                <a:sym typeface="Wingdings" panose="05000000000000000000" pitchFamily="2" charset="2"/>
              </a:rPr>
              <a:t>Full-stack Development:</a:t>
            </a: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React + tailwind CSS:</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Builds user interface</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Provides responsive and clean design</a:t>
            </a: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Flask:</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Backend framework</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For API requests</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Model execution</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Communication between frontend and AI</a:t>
            </a:r>
          </a:p>
          <a:p>
            <a:pPr lvl="1"/>
            <a:r>
              <a:rPr lang="en-US" sz="2000" b="1" dirty="0">
                <a:solidFill>
                  <a:schemeClr val="tx1"/>
                </a:solidFill>
                <a:latin typeface="Times New Roman" panose="02020603050405020304" charset="0"/>
                <a:cs typeface="Times New Roman" panose="02020603050405020304" charset="0"/>
                <a:sym typeface="Wingdings" panose="05000000000000000000" pitchFamily="2" charset="2"/>
              </a:rPr>
              <a:t>MongoDB:</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NoSQL database</a:t>
            </a:r>
          </a:p>
          <a:p>
            <a:pPr marL="342900" lvl="1" indent="-342900">
              <a:buFont typeface="Arial" panose="020B0604020202020204" pitchFamily="34" charset="0"/>
              <a:buChar char="•"/>
            </a:pPr>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Stores: User uploads, Detection Results, logs</a:t>
            </a:r>
          </a:p>
          <a:p>
            <a:pPr lvl="1"/>
            <a:endParaRPr lang="en-US" sz="2000" b="1" dirty="0">
              <a:solidFill>
                <a:schemeClr val="tx1"/>
              </a:solidFill>
              <a:latin typeface="Times New Roman" panose="02020603050405020304" charset="0"/>
              <a:cs typeface="Times New Roman" panose="02020603050405020304" charset="0"/>
              <a:sym typeface="Wingdings" panose="05000000000000000000" pitchFamily="2" charset="2"/>
            </a:endParaRP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p>
          <a:p>
            <a:pPr lvl="1"/>
            <a:r>
              <a:rPr lang="en-US" sz="2000" dirty="0">
                <a:solidFill>
                  <a:schemeClr val="tx1"/>
                </a:solidFill>
                <a:latin typeface="Times New Roman" panose="02020603050405020304" charset="0"/>
                <a:cs typeface="Times New Roman" panose="02020603050405020304" charset="0"/>
                <a:sym typeface="Wingdings" panose="05000000000000000000" pitchFamily="2" charset="2"/>
              </a:rPr>
              <a:t>	</a:t>
            </a:r>
            <a:endParaRPr lang="en-US" sz="2000" dirty="0">
              <a:solidFill>
                <a:schemeClr val="tx1"/>
              </a:solidFill>
              <a:latin typeface="Times New Roman" panose="02020603050405020304" charset="0"/>
              <a:cs typeface="Times New Roman" panose="02020603050405020304" charset="0"/>
            </a:endParaRPr>
          </a:p>
        </p:txBody>
      </p:sp>
      <p:sp>
        <p:nvSpPr>
          <p:cNvPr id="4" name="TextBox 3"/>
          <p:cNvSpPr txBox="1"/>
          <p:nvPr/>
        </p:nvSpPr>
        <p:spPr>
          <a:xfrm>
            <a:off x="1016000" y="444500"/>
            <a:ext cx="5234125" cy="584775"/>
          </a:xfrm>
          <a:prstGeom prst="rect">
            <a:avLst/>
          </a:prstGeom>
          <a:noFill/>
        </p:spPr>
        <p:txBody>
          <a:bodyPr wrap="none" rtlCol="0">
            <a:spAutoFit/>
          </a:bodyPr>
          <a:lstStyle/>
          <a:p>
            <a:r>
              <a:rPr lang="en-IN" sz="3200" b="1" dirty="0">
                <a:latin typeface="Times New Roman" panose="02020603050405020304" charset="0"/>
                <a:cs typeface="Times New Roman" panose="02020603050405020304" charset="0"/>
              </a:rPr>
              <a:t>Tool &amp; Technology Selection</a:t>
            </a:r>
            <a:endParaRPr lang="en-US" sz="3200" b="1" dirty="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09015" y="448457"/>
            <a:ext cx="3514090" cy="452755"/>
          </a:xfrm>
          <a:prstGeom prst="rect">
            <a:avLst/>
          </a:prstGeom>
          <a:noFill/>
        </p:spPr>
        <p:txBody>
          <a:bodyPr wrap="square" rtlCol="0">
            <a:noAutofit/>
          </a:bodyPr>
          <a:lstStyle/>
          <a:p>
            <a:r>
              <a:rPr lang="en-US" sz="3200" b="1" dirty="0">
                <a:latin typeface="Times New Roman" panose="02020603050405020304" charset="0"/>
                <a:cs typeface="Times New Roman" panose="02020603050405020304" charset="0"/>
              </a:rPr>
              <a:t>Project Planning</a:t>
            </a:r>
          </a:p>
        </p:txBody>
      </p:sp>
      <p:sp>
        <p:nvSpPr>
          <p:cNvPr id="2" name="TextBox 1"/>
          <p:cNvSpPr txBox="1"/>
          <p:nvPr/>
        </p:nvSpPr>
        <p:spPr>
          <a:xfrm>
            <a:off x="1009015" y="1024304"/>
            <a:ext cx="4793908" cy="5755422"/>
          </a:xfrm>
          <a:prstGeom prst="rect">
            <a:avLst/>
          </a:prstGeom>
          <a:noFill/>
        </p:spPr>
        <p:txBody>
          <a:bodyPr wrap="square" rtlCol="0">
            <a:spAutoFit/>
          </a:bodyPr>
          <a:lstStyle/>
          <a:p>
            <a:pPr algn="just"/>
            <a:r>
              <a:rPr lang="en-IN" sz="1600" b="1" dirty="0">
                <a:solidFill>
                  <a:schemeClr val="tx1"/>
                </a:solidFill>
                <a:latin typeface="Times New Roman" panose="02020603050405020304" charset="0"/>
                <a:cs typeface="Times New Roman" panose="02020603050405020304" charset="0"/>
              </a:rPr>
              <a:t>Workflow:</a:t>
            </a:r>
            <a:endParaRPr lang="en-IN" sz="1600" dirty="0">
              <a:solidFill>
                <a:schemeClr val="tx1"/>
              </a:solidFill>
              <a:latin typeface="Times New Roman" panose="02020603050405020304" charset="0"/>
              <a:cs typeface="Times New Roman" panose="02020603050405020304" charset="0"/>
            </a:endParaRPr>
          </a:p>
          <a:p>
            <a:pPr algn="just"/>
            <a:r>
              <a:rPr lang="en-IN" sz="1600" b="1" i="0" dirty="0">
                <a:solidFill>
                  <a:schemeClr val="tx1"/>
                </a:solidFill>
                <a:effectLst/>
                <a:latin typeface="Times New Roman" panose="02020603050405020304" charset="0"/>
                <a:cs typeface="Times New Roman" panose="02020603050405020304" charset="0"/>
              </a:rPr>
              <a:t>Step 1: Problem Identification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Identify issue of increasing deepfake misuse</a:t>
            </a:r>
          </a:p>
          <a:p>
            <a:pPr marL="285750" indent="-285750">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Define need for multi-modal detection</a:t>
            </a:r>
          </a:p>
          <a:p>
            <a:pPr algn="just"/>
            <a:r>
              <a:rPr lang="en-IN" sz="1600" b="1" i="0" dirty="0">
                <a:solidFill>
                  <a:schemeClr val="tx1"/>
                </a:solidFill>
                <a:effectLst/>
                <a:latin typeface="Times New Roman" panose="02020603050405020304" charset="0"/>
                <a:cs typeface="Times New Roman" panose="02020603050405020304" charset="0"/>
              </a:rPr>
              <a:t>Step 2</a:t>
            </a:r>
            <a:r>
              <a:rPr lang="en-IN" sz="1600" b="0" i="0" dirty="0">
                <a:solidFill>
                  <a:schemeClr val="tx1"/>
                </a:solidFill>
                <a:effectLst/>
                <a:latin typeface="Times New Roman" panose="02020603050405020304" charset="0"/>
                <a:cs typeface="Times New Roman" panose="02020603050405020304" charset="0"/>
              </a:rPr>
              <a:t>: </a:t>
            </a:r>
            <a:r>
              <a:rPr lang="en-IN" sz="1600" b="1" i="0" dirty="0">
                <a:solidFill>
                  <a:schemeClr val="tx1"/>
                </a:solidFill>
                <a:effectLst/>
                <a:latin typeface="Times New Roman" panose="02020603050405020304" charset="0"/>
                <a:cs typeface="Times New Roman" panose="02020603050405020304" charset="0"/>
              </a:rPr>
              <a:t>Literature Survey</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Study existing models (CNN, RNN, </a:t>
            </a:r>
            <a:r>
              <a:rPr lang="en-IN" sz="1600" b="0" i="0" dirty="0" err="1">
                <a:solidFill>
                  <a:schemeClr val="tx1"/>
                </a:solidFill>
                <a:effectLst/>
                <a:latin typeface="Times New Roman" panose="02020603050405020304" charset="0"/>
                <a:cs typeface="Times New Roman" panose="02020603050405020304" charset="0"/>
              </a:rPr>
              <a:t>ViT</a:t>
            </a:r>
            <a:r>
              <a:rPr lang="en-IN" sz="1600" b="0" i="0" dirty="0">
                <a:solidFill>
                  <a:schemeClr val="tx1"/>
                </a:solidFill>
                <a:effectLst/>
                <a:latin typeface="Times New Roman" panose="02020603050405020304" charset="0"/>
                <a:cs typeface="Times New Roman" panose="02020603050405020304" charset="0"/>
              </a:rPr>
              <a: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Analyse limitations of single-modality systems</a:t>
            </a:r>
          </a:p>
          <a:p>
            <a:pPr algn="just"/>
            <a:r>
              <a:rPr lang="en-IN" sz="1600" b="1" i="0" dirty="0">
                <a:solidFill>
                  <a:schemeClr val="tx1"/>
                </a:solidFill>
                <a:effectLst/>
                <a:latin typeface="Times New Roman" panose="02020603050405020304" charset="0"/>
                <a:cs typeface="Times New Roman" panose="02020603050405020304" charset="0"/>
              </a:rPr>
              <a:t>Step 3: Problem Statement &amp; Objectives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Define system goals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Multi-modal detection for image, video, audio</a:t>
            </a:r>
          </a:p>
          <a:p>
            <a:r>
              <a:rPr lang="en-IN" sz="1600" b="1" dirty="0">
                <a:latin typeface="Times New Roman" panose="02020603050405020304" charset="0"/>
                <a:cs typeface="Times New Roman" panose="02020603050405020304" charset="0"/>
              </a:rPr>
              <a:t>Step 4: System Requirements &amp; Packages ⭐</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Programming Language: Python </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Libraries: TensorFlow, </a:t>
            </a:r>
            <a:r>
              <a:rPr lang="en-IN" sz="1600" dirty="0" err="1">
                <a:latin typeface="Times New Roman" panose="02020603050405020304" charset="0"/>
                <a:cs typeface="Times New Roman" panose="02020603050405020304" charset="0"/>
              </a:rPr>
              <a:t>PyTorch</a:t>
            </a:r>
            <a:r>
              <a:rPr lang="en-IN" sz="1600" dirty="0">
                <a:latin typeface="Times New Roman" panose="02020603050405020304" charset="0"/>
                <a:cs typeface="Times New Roman" panose="02020603050405020304" charset="0"/>
              </a:rPr>
              <a:t>.</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Models: EfficientNetV2, MTCNN.</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Audio Tools: Wav2Vec.</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Frameworks: Flask , React </a:t>
            </a:r>
          </a:p>
          <a:p>
            <a:pPr marL="285750" indent="-285750">
              <a:buFont typeface="Arial" panose="020B0604020202020204" pitchFamily="34" charset="0"/>
              <a:buChar char="•"/>
            </a:pPr>
            <a:r>
              <a:rPr lang="en-IN" sz="1600" dirty="0">
                <a:latin typeface="Times New Roman" panose="02020603050405020304" charset="0"/>
                <a:cs typeface="Times New Roman" panose="02020603050405020304" charset="0"/>
              </a:rPr>
              <a:t>Hardware: GPU (for faster training)</a:t>
            </a:r>
          </a:p>
          <a:p>
            <a:pPr algn="just"/>
            <a:r>
              <a:rPr lang="en-IN" sz="1600" b="1" i="0" dirty="0">
                <a:solidFill>
                  <a:schemeClr val="tx1"/>
                </a:solidFill>
                <a:effectLst/>
                <a:latin typeface="Times New Roman" panose="02020603050405020304" charset="0"/>
                <a:cs typeface="Times New Roman" panose="02020603050405020304" charset="0"/>
              </a:rPr>
              <a:t>Step 5: Dataset Identification &amp; Collection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Select datasets (DFDC, Celeb-DF, </a:t>
            </a:r>
            <a:r>
              <a:rPr lang="en-IN" sz="1600" b="0" i="0" dirty="0" err="1">
                <a:solidFill>
                  <a:schemeClr val="tx1"/>
                </a:solidFill>
                <a:effectLst/>
                <a:latin typeface="Times New Roman" panose="02020603050405020304" charset="0"/>
                <a:cs typeface="Times New Roman" panose="02020603050405020304" charset="0"/>
              </a:rPr>
              <a:t>ASVspoof</a:t>
            </a:r>
            <a:r>
              <a:rPr lang="en-IN" sz="1600" b="0" i="0" dirty="0">
                <a:solidFill>
                  <a:schemeClr val="tx1"/>
                </a:solidFill>
                <a:effectLst/>
                <a:latin typeface="Times New Roman" panose="02020603050405020304" charset="0"/>
                <a:cs typeface="Times New Roman" panose="02020603050405020304" charset="0"/>
              </a:rPr>
              <a: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Gather real and fake samples</a:t>
            </a:r>
          </a:p>
          <a:p>
            <a:pPr algn="just">
              <a:buFont typeface="Arial" panose="020B0604020202020204" pitchFamily="34" charset="0"/>
              <a:buChar char="•"/>
            </a:pPr>
            <a:endParaRPr lang="en-IN" sz="1600" dirty="0">
              <a:solidFill>
                <a:schemeClr val="tx1"/>
              </a:solidFill>
              <a:latin typeface="Times New Roman" panose="02020603050405020304" charset="0"/>
              <a:cs typeface="Times New Roman" panose="02020603050405020304" charset="0"/>
            </a:endParaRPr>
          </a:p>
          <a:p>
            <a:pPr algn="just"/>
            <a:endParaRPr lang="en-IN" sz="1600" dirty="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endParaRPr lang="en-IN" sz="1600" dirty="0">
              <a:solidFill>
                <a:schemeClr val="tx1"/>
              </a:solidFill>
              <a:latin typeface="Times New Roman" panose="02020603050405020304" charset="0"/>
              <a:cs typeface="Times New Roman" panose="02020603050405020304" charset="0"/>
            </a:endParaRPr>
          </a:p>
        </p:txBody>
      </p:sp>
      <p:sp>
        <p:nvSpPr>
          <p:cNvPr id="9" name="TextBox 8"/>
          <p:cNvSpPr txBox="1"/>
          <p:nvPr/>
        </p:nvSpPr>
        <p:spPr>
          <a:xfrm>
            <a:off x="6180992" y="1318846"/>
            <a:ext cx="5495193" cy="4493538"/>
          </a:xfrm>
          <a:prstGeom prst="rect">
            <a:avLst/>
          </a:prstGeom>
          <a:noFill/>
        </p:spPr>
        <p:txBody>
          <a:bodyPr wrap="square" rtlCol="0">
            <a:spAutoFit/>
          </a:bodyPr>
          <a:lstStyle/>
          <a:p>
            <a:pPr algn="just"/>
            <a:r>
              <a:rPr lang="en-IN" sz="1600" b="1" i="0" dirty="0">
                <a:solidFill>
                  <a:schemeClr val="tx1"/>
                </a:solidFill>
                <a:effectLst/>
                <a:latin typeface="Times New Roman" panose="02020603050405020304" charset="0"/>
                <a:cs typeface="Times New Roman" panose="02020603050405020304" charset="0"/>
              </a:rPr>
              <a:t>Step 6: Data Preprocessing</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Face detection (MTCNN)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Frame extraction (videos)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Audio → spectrogram conversion</a:t>
            </a:r>
          </a:p>
          <a:p>
            <a:pPr algn="just"/>
            <a:r>
              <a:rPr lang="en-IN" sz="1600" b="1" i="0" dirty="0">
                <a:solidFill>
                  <a:schemeClr val="tx1"/>
                </a:solidFill>
                <a:effectLst/>
                <a:latin typeface="Times New Roman" panose="02020603050405020304" charset="0"/>
                <a:cs typeface="Times New Roman" panose="02020603050405020304" charset="0"/>
              </a:rPr>
              <a:t>Step 7: Model Development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Image → EfficientNetV2</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Video → Temporal models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Audio → Wav2Vec</a:t>
            </a:r>
          </a:p>
          <a:p>
            <a:pPr algn="just"/>
            <a:r>
              <a:rPr lang="en-IN" sz="1600" b="1" i="0" dirty="0">
                <a:solidFill>
                  <a:schemeClr val="tx1"/>
                </a:solidFill>
                <a:effectLst/>
                <a:latin typeface="Times New Roman" panose="02020603050405020304" charset="0"/>
                <a:cs typeface="Times New Roman" panose="02020603050405020304" charset="0"/>
              </a:rPr>
              <a:t>Step 8: Model Integration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Combine outputs from all modalities</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Apply fusion technique</a:t>
            </a:r>
          </a:p>
          <a:p>
            <a:pPr algn="just"/>
            <a:r>
              <a:rPr lang="en-IN" sz="1600" b="1" i="0" dirty="0">
                <a:solidFill>
                  <a:schemeClr val="tx1"/>
                </a:solidFill>
                <a:effectLst/>
                <a:latin typeface="Times New Roman" panose="02020603050405020304" charset="0"/>
                <a:cs typeface="Times New Roman" panose="02020603050405020304" charset="0"/>
              </a:rPr>
              <a:t>Step 9: Testing &amp; Evaluation</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Evaluate accuracy</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Compare real vs fake predictions</a:t>
            </a:r>
          </a:p>
          <a:p>
            <a:pPr algn="just"/>
            <a:r>
              <a:rPr lang="en-IN" sz="1600" b="1" i="0" dirty="0">
                <a:solidFill>
                  <a:schemeClr val="tx1"/>
                </a:solidFill>
                <a:effectLst/>
                <a:latin typeface="Times New Roman" panose="02020603050405020304" charset="0"/>
                <a:cs typeface="Times New Roman" panose="02020603050405020304" charset="0"/>
              </a:rPr>
              <a:t>Step 10: Final Deployment</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User uploads media</a:t>
            </a:r>
          </a:p>
          <a:p>
            <a:pPr marL="285750" indent="-285750" algn="just">
              <a:buFont typeface="Arial" panose="020B0604020202020204" pitchFamily="34" charset="0"/>
              <a:buChar char="•"/>
            </a:pPr>
            <a:r>
              <a:rPr lang="en-IN" sz="1600" b="0" i="0" dirty="0">
                <a:solidFill>
                  <a:schemeClr val="tx1"/>
                </a:solidFill>
                <a:effectLst/>
                <a:latin typeface="Times New Roman" panose="02020603050405020304" charset="0"/>
                <a:cs typeface="Times New Roman" panose="02020603050405020304" charset="0"/>
              </a:rPr>
              <a:t>System outputs result (Real/Fake)</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144482" y="400879"/>
            <a:ext cx="6136852" cy="869121"/>
          </a:xfrm>
          <a:prstGeom prst="rect">
            <a:avLst/>
          </a:prstGeom>
          <a:noFill/>
        </p:spPr>
        <p:txBody>
          <a:bodyPr wrap="square" rtlCol="0">
            <a:noAutofit/>
          </a:bodyPr>
          <a:lstStyle/>
          <a:p>
            <a:pPr marL="0" lvl="0" indent="0" algn="l" rtl="0">
              <a:spcBef>
                <a:spcPts val="0"/>
              </a:spcBef>
              <a:spcAft>
                <a:spcPts val="0"/>
              </a:spcAft>
              <a:buNone/>
            </a:pPr>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IMPLEMENTATION PROCESS</a:t>
            </a:r>
          </a:p>
          <a:p>
            <a:pPr marL="0" lvl="0" indent="0" algn="l" rtl="0">
              <a:spcBef>
                <a:spcPts val="0"/>
              </a:spcBef>
              <a:spcAft>
                <a:spcPts val="0"/>
              </a:spcAft>
              <a:buNone/>
            </a:pPr>
            <a:r>
              <a:rPr lang="en-US" sz="32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p>
          <a:p>
            <a:pPr marL="0" lvl="0" indent="0" algn="l" rtl="0">
              <a:spcBef>
                <a:spcPts val="0"/>
              </a:spcBef>
              <a:spcAft>
                <a:spcPts val="0"/>
              </a:spcAft>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PYTHON                                                       PYTORCH                                                                 </a:t>
            </a: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2"/>
          <a:stretch>
            <a:fillRect/>
          </a:stretch>
        </p:blipFill>
        <p:spPr>
          <a:xfrm>
            <a:off x="1144482" y="1896081"/>
            <a:ext cx="3757908" cy="3603659"/>
          </a:xfrm>
          <a:prstGeom prst="rect">
            <a:avLst/>
          </a:prstGeom>
        </p:spPr>
      </p:pic>
      <p:pic>
        <p:nvPicPr>
          <p:cNvPr id="6" name="Picture 5"/>
          <p:cNvPicPr>
            <a:picLocks noChangeAspect="1"/>
          </p:cNvPicPr>
          <p:nvPr/>
        </p:nvPicPr>
        <p:blipFill>
          <a:blip r:embed="rId3"/>
          <a:stretch>
            <a:fillRect/>
          </a:stretch>
        </p:blipFill>
        <p:spPr>
          <a:xfrm>
            <a:off x="5890313" y="1896081"/>
            <a:ext cx="3672213" cy="36036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1515" y="324465"/>
            <a:ext cx="9232490" cy="2462213"/>
          </a:xfrm>
          <a:prstGeom prst="rect">
            <a:avLst/>
          </a:prstGeom>
          <a:noFill/>
        </p:spPr>
        <p:txBody>
          <a:bodyPr wrap="square" rtlCol="0">
            <a:spAutoFit/>
          </a:bodyPr>
          <a:lstStyle/>
          <a:p>
            <a:pPr marL="0" lvl="0" indent="0" algn="l" rtl="0">
              <a:spcBef>
                <a:spcPts val="0"/>
              </a:spcBef>
              <a:spcAft>
                <a:spcPts val="0"/>
              </a:spcAft>
              <a:buNone/>
            </a:pPr>
            <a:r>
              <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IMPLEMENTATION PROCESS</a:t>
            </a:r>
          </a:p>
          <a:p>
            <a:pPr marL="0" lvl="0" indent="0" algn="l" rtl="0">
              <a:spcBef>
                <a:spcPts val="0"/>
              </a:spcBef>
              <a:spcAft>
                <a:spcPts val="0"/>
              </a:spcAft>
              <a:buNone/>
            </a:pP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TENSORFLOW				 FLASK 				</a:t>
            </a:r>
            <a:endPar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TextBox 14"/>
          <p:cNvSpPr txBox="1"/>
          <p:nvPr/>
        </p:nvSpPr>
        <p:spPr>
          <a:xfrm>
            <a:off x="538349" y="4911494"/>
            <a:ext cx="9972333" cy="3542411"/>
          </a:xfrm>
          <a:prstGeom prst="rect">
            <a:avLst/>
          </a:prstGeom>
          <a:noFill/>
        </p:spPr>
        <p:txBody>
          <a:bodyPr wrap="square" rtlCol="0">
            <a:spAutoFit/>
          </a:bodyPr>
          <a:lstStyle/>
          <a:p>
            <a:endParaRPr lang="en-IN" dirty="0"/>
          </a:p>
        </p:txBody>
      </p:sp>
      <p:pic>
        <p:nvPicPr>
          <p:cNvPr id="5" name="Picture 4"/>
          <p:cNvPicPr>
            <a:picLocks noChangeAspect="1"/>
          </p:cNvPicPr>
          <p:nvPr/>
        </p:nvPicPr>
        <p:blipFill>
          <a:blip r:embed="rId2"/>
          <a:stretch>
            <a:fillRect/>
          </a:stretch>
        </p:blipFill>
        <p:spPr>
          <a:xfrm>
            <a:off x="921515" y="1873667"/>
            <a:ext cx="3530434" cy="3707694"/>
          </a:xfrm>
          <a:prstGeom prst="rect">
            <a:avLst/>
          </a:prstGeom>
        </p:spPr>
      </p:pic>
      <p:pic>
        <p:nvPicPr>
          <p:cNvPr id="7" name="Picture 6"/>
          <p:cNvPicPr>
            <a:picLocks noChangeAspect="1"/>
          </p:cNvPicPr>
          <p:nvPr/>
        </p:nvPicPr>
        <p:blipFill>
          <a:blip r:embed="rId3"/>
          <a:stretch>
            <a:fillRect/>
          </a:stretch>
        </p:blipFill>
        <p:spPr>
          <a:xfrm>
            <a:off x="5618179" y="1873667"/>
            <a:ext cx="3726273" cy="365712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33145" y="346075"/>
            <a:ext cx="5480685" cy="593725"/>
          </a:xfrm>
          <a:prstGeom prst="rect">
            <a:avLst/>
          </a:prstGeom>
          <a:noFill/>
        </p:spPr>
        <p:txBody>
          <a:bodyPr wrap="square" rtlCol="0">
            <a:noAutofit/>
          </a:bodyPr>
          <a:lstStyle/>
          <a:p>
            <a:r>
              <a:rPr lang="en-US" sz="2800" b="1" dirty="0">
                <a:latin typeface="Times New Roman" panose="02020603050405020304" charset="0"/>
                <a:cs typeface="Times New Roman" panose="02020603050405020304" charset="0"/>
                <a:sym typeface="+mn-ea"/>
              </a:rPr>
              <a:t>Data preprocessing </a:t>
            </a:r>
            <a:endParaRPr lang="en-US" sz="2800"/>
          </a:p>
        </p:txBody>
      </p:sp>
      <p:sp>
        <p:nvSpPr>
          <p:cNvPr id="5" name="Rectangle 2">
            <a:extLst>
              <a:ext uri="{FF2B5EF4-FFF2-40B4-BE49-F238E27FC236}">
                <a16:creationId xmlns:a16="http://schemas.microsoft.com/office/drawing/2014/main" id="{24803609-3052-FF8F-5C31-C4EF3E4D1AD3}"/>
              </a:ext>
            </a:extLst>
          </p:cNvPr>
          <p:cNvSpPr>
            <a:spLocks noChangeArrowheads="1"/>
          </p:cNvSpPr>
          <p:nvPr/>
        </p:nvSpPr>
        <p:spPr bwMode="auto">
          <a:xfrm>
            <a:off x="1033145" y="1234181"/>
            <a:ext cx="9595526"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real and AI-generated image, video, and audio datasets from multiple sources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Removed duplicate, corrupted, blurred, and low-quality media files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Resized images and extracted facial regions using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MTCNN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face detection</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Extracted frames from videos at regular intervals for frame-level analysis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Detected and cropped faces from video frames to focus on manipulated regions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audio using noise reduction and normalization techniques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audio signals into spectrograms for frequency pattern analysis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Labeled all samples as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Fake (AI-Generated)</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data augmentation techniques such as rotation, flipping, zooming, and brightness adjustment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Normalized extracted features for stable and efficient model training</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Split dataset into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80% training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 testing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for evaluation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75995" y="338455"/>
            <a:ext cx="5768975" cy="602615"/>
          </a:xfrm>
          <a:prstGeom prst="rect">
            <a:avLst/>
          </a:prstGeom>
          <a:noFill/>
        </p:spPr>
        <p:txBody>
          <a:bodyPr wrap="square" rtlCol="0">
            <a:noAutofit/>
          </a:bodyPr>
          <a:lstStyle/>
          <a:p>
            <a:r>
              <a:rPr lang="en-IN" sz="2800" b="1" dirty="0">
                <a:latin typeface="Times New Roman" panose="02020603050405020304" charset="0"/>
                <a:cs typeface="Times New Roman" panose="02020603050405020304" charset="0"/>
                <a:sym typeface="+mn-ea"/>
              </a:rPr>
              <a:t>FEATURE ENGINEERING</a:t>
            </a:r>
            <a:endParaRPr lang="en-US" sz="2800" b="1" dirty="0"/>
          </a:p>
        </p:txBody>
      </p:sp>
      <p:sp>
        <p:nvSpPr>
          <p:cNvPr id="6" name="Text Box 5"/>
          <p:cNvSpPr txBox="1"/>
          <p:nvPr/>
        </p:nvSpPr>
        <p:spPr>
          <a:xfrm>
            <a:off x="975995" y="1040540"/>
            <a:ext cx="9351010" cy="4979670"/>
          </a:xfrm>
          <a:prstGeom prst="rect">
            <a:avLst/>
          </a:prstGeom>
          <a:noFill/>
        </p:spPr>
        <p:txBody>
          <a:bodyPr wrap="square" rtlCol="0">
            <a:noAutofit/>
          </a:bodyPr>
          <a:lstStyle/>
          <a:p>
            <a:r>
              <a:rPr lang="en-US" sz="1600" b="1" dirty="0"/>
              <a:t>Image Features (MTCNN + EfficientNetV2)</a:t>
            </a:r>
          </a:p>
          <a:p>
            <a:pPr>
              <a:buFont typeface="Arial" panose="020B0604020202020204" pitchFamily="34" charset="0"/>
              <a:buChar char="•"/>
            </a:pPr>
            <a:r>
              <a:rPr lang="en-US" sz="1600" dirty="0"/>
              <a:t>Faces extracted from images using </a:t>
            </a:r>
            <a:r>
              <a:rPr lang="en-US" sz="1600" b="1" dirty="0"/>
              <a:t>MTCNN</a:t>
            </a:r>
            <a:r>
              <a:rPr lang="en-US" sz="1600" dirty="0"/>
              <a:t> face detection </a:t>
            </a:r>
          </a:p>
          <a:p>
            <a:pPr>
              <a:buFont typeface="Arial" panose="020B0604020202020204" pitchFamily="34" charset="0"/>
              <a:buChar char="•"/>
            </a:pPr>
            <a:r>
              <a:rPr lang="en-US" sz="1600" dirty="0"/>
              <a:t>Images resized and normalized before feature extraction </a:t>
            </a:r>
          </a:p>
          <a:p>
            <a:pPr>
              <a:buFont typeface="Arial" panose="020B0604020202020204" pitchFamily="34" charset="0"/>
              <a:buChar char="•"/>
            </a:pPr>
            <a:r>
              <a:rPr lang="en-US" sz="1600" dirty="0"/>
              <a:t>EfficientNetV2 used to learn deep visual patterns from facial regions </a:t>
            </a:r>
          </a:p>
          <a:p>
            <a:pPr>
              <a:buFont typeface="Arial" panose="020B0604020202020204" pitchFamily="34" charset="0"/>
              <a:buChar char="•"/>
            </a:pPr>
            <a:r>
              <a:rPr lang="en-US" sz="1600" dirty="0"/>
              <a:t>Detects inconsistencies such as: </a:t>
            </a:r>
          </a:p>
          <a:p>
            <a:pPr marL="742950" lvl="1" indent="-285750">
              <a:buFont typeface="Arial" panose="020B0604020202020204" pitchFamily="34" charset="0"/>
              <a:buChar char="•"/>
            </a:pPr>
            <a:r>
              <a:rPr lang="en-US" sz="1600" dirty="0"/>
              <a:t>Blurred facial boundaries </a:t>
            </a:r>
          </a:p>
          <a:p>
            <a:pPr marL="742950" lvl="1" indent="-285750">
              <a:buFont typeface="Arial" panose="020B0604020202020204" pitchFamily="34" charset="0"/>
              <a:buChar char="•"/>
            </a:pPr>
            <a:r>
              <a:rPr lang="en-US" sz="1600" dirty="0"/>
              <a:t>Artificial skin textures </a:t>
            </a:r>
          </a:p>
          <a:p>
            <a:pPr marL="742950" lvl="1" indent="-285750">
              <a:buFont typeface="Arial" panose="020B0604020202020204" pitchFamily="34" charset="0"/>
              <a:buChar char="•"/>
            </a:pPr>
            <a:r>
              <a:rPr lang="en-US" sz="1600" dirty="0"/>
              <a:t>Lighting mismatches </a:t>
            </a:r>
          </a:p>
          <a:p>
            <a:pPr marL="742950" lvl="1" indent="-285750">
              <a:buFont typeface="Arial" panose="020B0604020202020204" pitchFamily="34" charset="0"/>
              <a:buChar char="•"/>
            </a:pPr>
            <a:r>
              <a:rPr lang="en-US" sz="1600" dirty="0"/>
              <a:t>GAN-generated artifacts </a:t>
            </a:r>
          </a:p>
          <a:p>
            <a:pPr>
              <a:buFont typeface="Arial" panose="020B0604020202020204" pitchFamily="34" charset="0"/>
              <a:buChar char="•"/>
            </a:pPr>
            <a:r>
              <a:rPr lang="en-US" sz="1600" dirty="0"/>
              <a:t>High-level spatial features extracted for Real vs Fake classification</a:t>
            </a:r>
          </a:p>
          <a:p>
            <a:pPr>
              <a:buFont typeface="Arial" panose="020B0604020202020204" pitchFamily="34" charset="0"/>
              <a:buChar char="•"/>
            </a:pPr>
            <a:endParaRPr lang="en-US" sz="1600" dirty="0"/>
          </a:p>
          <a:p>
            <a:r>
              <a:rPr lang="en-IN" sz="1600" b="1" dirty="0"/>
              <a:t>Video Features (OpenCV + Frame Analysis)</a:t>
            </a:r>
          </a:p>
          <a:p>
            <a:pPr>
              <a:buFont typeface="Arial" panose="020B0604020202020204" pitchFamily="34" charset="0"/>
              <a:buChar char="•"/>
            </a:pPr>
            <a:r>
              <a:rPr lang="en-IN" sz="1600" dirty="0"/>
              <a:t>Videos divided into multiple frames using </a:t>
            </a:r>
            <a:r>
              <a:rPr lang="en-IN" sz="1600" b="1" dirty="0"/>
              <a:t>OpenCV</a:t>
            </a:r>
            <a:r>
              <a:rPr lang="en-IN" sz="1600" dirty="0"/>
              <a:t> </a:t>
            </a:r>
          </a:p>
          <a:p>
            <a:pPr>
              <a:buFont typeface="Arial" panose="020B0604020202020204" pitchFamily="34" charset="0"/>
              <a:buChar char="•"/>
            </a:pPr>
            <a:r>
              <a:rPr lang="en-IN" sz="1600" dirty="0"/>
              <a:t>Face detection applied on each frame for frame-level analysis </a:t>
            </a:r>
          </a:p>
          <a:p>
            <a:pPr>
              <a:buFont typeface="Arial" panose="020B0604020202020204" pitchFamily="34" charset="0"/>
              <a:buChar char="•"/>
            </a:pPr>
            <a:r>
              <a:rPr lang="en-IN" sz="1600" dirty="0"/>
              <a:t>Extracted temporal and spatial inconsistencies across frames </a:t>
            </a:r>
          </a:p>
          <a:p>
            <a:pPr>
              <a:buFont typeface="Arial" panose="020B0604020202020204" pitchFamily="34" charset="0"/>
              <a:buChar char="•"/>
            </a:pPr>
            <a:r>
              <a:rPr lang="en-IN" sz="1600" dirty="0"/>
              <a:t>Features </a:t>
            </a:r>
            <a:r>
              <a:rPr lang="en-IN" sz="1600" dirty="0" err="1"/>
              <a:t>analyzed</a:t>
            </a:r>
            <a:r>
              <a:rPr lang="en-IN" sz="1600" dirty="0"/>
              <a:t> include: </a:t>
            </a:r>
          </a:p>
          <a:p>
            <a:pPr marL="742950" lvl="1" indent="-285750">
              <a:buFont typeface="Arial" panose="020B0604020202020204" pitchFamily="34" charset="0"/>
              <a:buChar char="•"/>
            </a:pPr>
            <a:r>
              <a:rPr lang="en-IN" sz="1600" dirty="0"/>
              <a:t>Facial motion irregularities </a:t>
            </a:r>
          </a:p>
          <a:p>
            <a:pPr marL="742950" lvl="1" indent="-285750">
              <a:buFont typeface="Arial" panose="020B0604020202020204" pitchFamily="34" charset="0"/>
              <a:buChar char="•"/>
            </a:pPr>
            <a:r>
              <a:rPr lang="en-IN" sz="1600" dirty="0"/>
              <a:t>Frame texture inconsistencies </a:t>
            </a:r>
          </a:p>
          <a:p>
            <a:pPr marL="742950" lvl="1" indent="-285750">
              <a:buFont typeface="Arial" panose="020B0604020202020204" pitchFamily="34" charset="0"/>
              <a:buChar char="•"/>
            </a:pPr>
            <a:r>
              <a:rPr lang="en-IN" sz="1600" dirty="0"/>
              <a:t>Flickering artifacts </a:t>
            </a:r>
          </a:p>
          <a:p>
            <a:pPr marL="742950" lvl="1" indent="-285750">
              <a:buFont typeface="Arial" panose="020B0604020202020204" pitchFamily="34" charset="0"/>
              <a:buChar char="•"/>
            </a:pPr>
            <a:r>
              <a:rPr lang="en-IN" sz="1600" dirty="0"/>
              <a:t>Abnormal eye blinking patterns </a:t>
            </a:r>
          </a:p>
          <a:p>
            <a:pPr>
              <a:buFont typeface="Arial" panose="020B0604020202020204" pitchFamily="34" charset="0"/>
              <a:buChar char="•"/>
            </a:pPr>
            <a:r>
              <a:rPr lang="en-IN" sz="1600" dirty="0"/>
              <a:t>Frame-by-frame predictions aggregated for final video classification</a:t>
            </a:r>
          </a:p>
          <a:p>
            <a:pPr>
              <a:buFont typeface="Arial" panose="020B0604020202020204" pitchFamily="34" charset="0"/>
              <a:buChar char="•"/>
            </a:pP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75995" y="338455"/>
            <a:ext cx="5768975" cy="602615"/>
          </a:xfrm>
          <a:prstGeom prst="rect">
            <a:avLst/>
          </a:prstGeom>
          <a:noFill/>
        </p:spPr>
        <p:txBody>
          <a:bodyPr wrap="square" rtlCol="0">
            <a:noAutofit/>
          </a:bodyPr>
          <a:lstStyle/>
          <a:p>
            <a:r>
              <a:rPr lang="en-IN" sz="2800" b="1" dirty="0">
                <a:latin typeface="Times New Roman" panose="02020603050405020304" charset="0"/>
                <a:cs typeface="Times New Roman" panose="02020603050405020304" charset="0"/>
                <a:sym typeface="+mn-ea"/>
              </a:rPr>
              <a:t>FEATURE ENGINEERING</a:t>
            </a:r>
            <a:endParaRPr lang="en-US" sz="2800" b="1" dirty="0"/>
          </a:p>
        </p:txBody>
      </p:sp>
      <p:sp>
        <p:nvSpPr>
          <p:cNvPr id="6" name="Text Box 5"/>
          <p:cNvSpPr txBox="1"/>
          <p:nvPr/>
        </p:nvSpPr>
        <p:spPr>
          <a:xfrm>
            <a:off x="1069667" y="1158527"/>
            <a:ext cx="9351010" cy="4979670"/>
          </a:xfrm>
          <a:prstGeom prst="rect">
            <a:avLst/>
          </a:prstGeom>
          <a:noFill/>
        </p:spPr>
        <p:txBody>
          <a:bodyPr wrap="square" rtlCol="0">
            <a:noAutofit/>
          </a:bodyPr>
          <a:lstStyle/>
          <a:p>
            <a:r>
              <a:rPr lang="en-IN" sz="2400" b="1" dirty="0">
                <a:latin typeface="Times New Roman" panose="02020603050405020304" pitchFamily="18" charset="0"/>
                <a:cs typeface="Times New Roman" panose="02020603050405020304" pitchFamily="18" charset="0"/>
              </a:rPr>
              <a:t>Audio Features (Librosa)</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Audio extracted from videos and cleaned using noise reduction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Converted into spectrograms for frequency-domain analysis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Extracted features include: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MFCC coefficients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Pitch variation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Spectral contrast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Energy distribution </a:t>
            </a:r>
          </a:p>
          <a:p>
            <a:pPr marL="742950" lvl="1"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Voice frequency irregularities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Helps detect AI-generated or synthetic speech patterns </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372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CD03FB-E919-AFCC-FCA5-C9457B2715A4}"/>
              </a:ext>
            </a:extLst>
          </p:cNvPr>
          <p:cNvSpPr txBox="1"/>
          <p:nvPr/>
        </p:nvSpPr>
        <p:spPr>
          <a:xfrm>
            <a:off x="953729" y="1582994"/>
            <a:ext cx="9822426" cy="3785652"/>
          </a:xfrm>
          <a:prstGeom prst="rect">
            <a:avLst/>
          </a:prstGeom>
          <a:noFill/>
        </p:spPr>
        <p:txBody>
          <a:bodyPr wrap="square" rtlCol="0">
            <a:spAutoFit/>
          </a:bodyPr>
          <a:lstStyle/>
          <a:p>
            <a:pPr algn="l">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Hyperparameter Tuning:</a:t>
            </a:r>
            <a:r>
              <a:rPr lang="en-US" sz="2400" b="0" i="0" dirty="0">
                <a:solidFill>
                  <a:schemeClr val="tx1"/>
                </a:solidFill>
                <a:effectLst/>
                <a:latin typeface="Times New Roman" panose="02020603050405020304" pitchFamily="18" charset="0"/>
                <a:cs typeface="Times New Roman" panose="02020603050405020304" pitchFamily="18" charset="0"/>
              </a:rPr>
              <a:t> Conducted extensive tuning on batch sizes, learning rates (using </a:t>
            </a:r>
            <a:r>
              <a:rPr lang="en-US" sz="2400" b="0" i="0" dirty="0" err="1">
                <a:solidFill>
                  <a:schemeClr val="tx1"/>
                </a:solidFill>
                <a:effectLst/>
                <a:latin typeface="Times New Roman" panose="02020603050405020304" pitchFamily="18" charset="0"/>
                <a:cs typeface="Times New Roman" panose="02020603050405020304" pitchFamily="18" charset="0"/>
              </a:rPr>
              <a:t>ReduceLROnPlateau</a:t>
            </a:r>
            <a:r>
              <a:rPr lang="en-US" sz="2400" b="0" i="0" dirty="0">
                <a:solidFill>
                  <a:schemeClr val="tx1"/>
                </a:solidFill>
                <a:effectLst/>
                <a:latin typeface="Times New Roman" panose="02020603050405020304" pitchFamily="18" charset="0"/>
                <a:cs typeface="Times New Roman" panose="02020603050405020304" pitchFamily="18" charset="0"/>
              </a:rPr>
              <a:t> scheduling), and dropout rates to optimize convergence.</a:t>
            </a:r>
          </a:p>
          <a:p>
            <a:pPr algn="l">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Loss Function Strategy:</a:t>
            </a:r>
            <a:r>
              <a:rPr lang="en-US" sz="2400" b="0" i="0" dirty="0">
                <a:solidFill>
                  <a:schemeClr val="tx1"/>
                </a:solidFill>
                <a:effectLst/>
                <a:latin typeface="Times New Roman" panose="02020603050405020304" pitchFamily="18" charset="0"/>
                <a:cs typeface="Times New Roman" panose="02020603050405020304" pitchFamily="18" charset="0"/>
              </a:rPr>
              <a:t> Utilized Cross-Entropy Loss combined with an annealing strategy to balance the weight of the audio and visual branches during training.</a:t>
            </a:r>
          </a:p>
          <a:p>
            <a:pPr algn="l">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Ablation Studies:</a:t>
            </a:r>
            <a:r>
              <a:rPr lang="en-US" sz="2400" b="0" i="0" dirty="0">
                <a:solidFill>
                  <a:schemeClr val="tx1"/>
                </a:solidFill>
                <a:effectLst/>
                <a:latin typeface="Times New Roman" panose="02020603050405020304" pitchFamily="18" charset="0"/>
                <a:cs typeface="Times New Roman" panose="02020603050405020304" pitchFamily="18" charset="0"/>
              </a:rPr>
              <a:t> Tested the model's performance using </a:t>
            </a:r>
            <a:r>
              <a:rPr lang="en-US" sz="2400" b="0" i="1" dirty="0">
                <a:solidFill>
                  <a:schemeClr val="tx1"/>
                </a:solidFill>
                <a:effectLst/>
                <a:latin typeface="Times New Roman" panose="02020603050405020304" pitchFamily="18" charset="0"/>
                <a:cs typeface="Times New Roman" panose="02020603050405020304" pitchFamily="18" charset="0"/>
              </a:rPr>
              <a:t>only</a:t>
            </a:r>
            <a:r>
              <a:rPr lang="en-US" sz="2400" b="0" i="0" dirty="0">
                <a:solidFill>
                  <a:schemeClr val="tx1"/>
                </a:solidFill>
                <a:effectLst/>
                <a:latin typeface="Times New Roman" panose="02020603050405020304" pitchFamily="18" charset="0"/>
                <a:cs typeface="Times New Roman" panose="02020603050405020304" pitchFamily="18" charset="0"/>
              </a:rPr>
              <a:t> visual data vs. </a:t>
            </a:r>
            <a:r>
              <a:rPr lang="en-US" sz="2400" b="0" i="1" dirty="0">
                <a:solidFill>
                  <a:schemeClr val="tx1"/>
                </a:solidFill>
                <a:effectLst/>
                <a:latin typeface="Times New Roman" panose="02020603050405020304" pitchFamily="18" charset="0"/>
                <a:cs typeface="Times New Roman" panose="02020603050405020304" pitchFamily="18" charset="0"/>
              </a:rPr>
              <a:t>only</a:t>
            </a:r>
            <a:r>
              <a:rPr lang="en-US" sz="2400" b="0" i="0" dirty="0">
                <a:solidFill>
                  <a:schemeClr val="tx1"/>
                </a:solidFill>
                <a:effectLst/>
                <a:latin typeface="Times New Roman" panose="02020603050405020304" pitchFamily="18" charset="0"/>
                <a:cs typeface="Times New Roman" panose="02020603050405020304" pitchFamily="18" charset="0"/>
              </a:rPr>
              <a:t> audio data to prove that the Hybrid Dual-Branch approach yields superior accuracy.</a:t>
            </a:r>
          </a:p>
          <a:p>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141D957-CFDB-DFDC-5ADE-4B5A65D962FB}"/>
              </a:ext>
            </a:extLst>
          </p:cNvPr>
          <p:cNvSpPr txBox="1"/>
          <p:nvPr/>
        </p:nvSpPr>
        <p:spPr>
          <a:xfrm>
            <a:off x="825910" y="275303"/>
            <a:ext cx="4208206" cy="646331"/>
          </a:xfrm>
          <a:prstGeom prst="rect">
            <a:avLst/>
          </a:prstGeom>
          <a:noFill/>
        </p:spPr>
        <p:txBody>
          <a:bodyPr wrap="square" rtlCol="0">
            <a:spAutoFit/>
          </a:bodyPr>
          <a:lstStyle/>
          <a:p>
            <a:r>
              <a:rPr lang="en-IN" sz="3600" b="1" i="0" dirty="0">
                <a:solidFill>
                  <a:schemeClr val="tx1"/>
                </a:solidFill>
                <a:effectLst/>
                <a:latin typeface="Times New Roman" panose="02020603050405020304" pitchFamily="18" charset="0"/>
                <a:cs typeface="Times New Roman" panose="02020603050405020304" pitchFamily="18" charset="0"/>
              </a:rPr>
              <a:t>Experimentation</a:t>
            </a:r>
            <a:endParaRPr lang="en-IN" sz="3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952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63930" y="462915"/>
            <a:ext cx="5366385" cy="488315"/>
          </a:xfrm>
          <a:prstGeom prst="rect">
            <a:avLst/>
          </a:prstGeom>
          <a:noFill/>
        </p:spPr>
        <p:txBody>
          <a:bodyPr wrap="square" rtlCol="0">
            <a:noAutofit/>
          </a:bodyPr>
          <a:lstStyle/>
          <a:p>
            <a:r>
              <a:rPr lang="en-IN" sz="2400" b="1" dirty="0">
                <a:latin typeface="Times New Roman" panose="02020603050405020304" charset="0"/>
                <a:cs typeface="Times New Roman" panose="02020603050405020304" charset="0"/>
                <a:sym typeface="+mn-ea"/>
              </a:rPr>
              <a:t>MODEL IMPLEMENTATION</a:t>
            </a:r>
            <a:endParaRPr lang="en-US" sz="2400"/>
          </a:p>
        </p:txBody>
      </p:sp>
      <p:sp>
        <p:nvSpPr>
          <p:cNvPr id="6" name="Text Box 5"/>
          <p:cNvSpPr txBox="1"/>
          <p:nvPr/>
        </p:nvSpPr>
        <p:spPr>
          <a:xfrm>
            <a:off x="963930" y="1240196"/>
            <a:ext cx="9327515" cy="3333115"/>
          </a:xfrm>
          <a:prstGeom prst="rect">
            <a:avLst/>
          </a:prstGeom>
          <a:noFill/>
        </p:spPr>
        <p:txBody>
          <a:bodyPr wrap="square" rtlCol="0">
            <a:noAutofit/>
          </a:bodyPr>
          <a:lstStyle/>
          <a:p>
            <a:endParaRPr lang="en-US" sz="1600" dirty="0"/>
          </a:p>
        </p:txBody>
      </p:sp>
      <p:sp>
        <p:nvSpPr>
          <p:cNvPr id="3" name="Rectangle 1">
            <a:extLst>
              <a:ext uri="{FF2B5EF4-FFF2-40B4-BE49-F238E27FC236}">
                <a16:creationId xmlns:a16="http://schemas.microsoft.com/office/drawing/2014/main" id="{CF32EA70-3DFC-D6F1-C4E5-86884A772F28}"/>
              </a:ext>
            </a:extLst>
          </p:cNvPr>
          <p:cNvSpPr>
            <a:spLocks noChangeArrowheads="1"/>
          </p:cNvSpPr>
          <p:nvPr/>
        </p:nvSpPr>
        <p:spPr bwMode="auto">
          <a:xfrm>
            <a:off x="963930" y="1027763"/>
            <a:ext cx="960318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400" b="1" dirty="0">
                <a:latin typeface="Times New Roman" panose="02020603050405020304" pitchFamily="18" charset="0"/>
                <a:cs typeface="Times New Roman" panose="02020603050405020304" pitchFamily="18" charset="0"/>
              </a:rPr>
              <a:t>Primary Model: EfficientNetV2 + Multimodal Deep Learning</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EfficientNetV2 used as the primary deep learning model for image and video classification</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Provides high accuracy with lower computational complexity</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Efficiently captures deep facial manipulation patterns and synthetic artifacts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Performs well on large-scale visual datasets with faster training speed</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Suitable for real-time deepfake detection applications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Robust against noise, compression artifacts, and varying media quality</a:t>
            </a:r>
          </a:p>
          <a:p>
            <a:r>
              <a:rPr lang="en-IN" sz="2400" b="1" dirty="0">
                <a:latin typeface="Times New Roman" panose="02020603050405020304" pitchFamily="18" charset="0"/>
                <a:cs typeface="Times New Roman" panose="02020603050405020304" pitchFamily="18" charset="0"/>
              </a:rPr>
              <a:t>Supporting Technologies</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MTCNN</a:t>
            </a:r>
            <a:r>
              <a:rPr lang="en-IN" sz="2400" dirty="0">
                <a:latin typeface="Times New Roman" panose="02020603050405020304" pitchFamily="18" charset="0"/>
                <a:cs typeface="Times New Roman" panose="02020603050405020304" pitchFamily="18" charset="0"/>
              </a:rPr>
              <a:t> for accurate face detection and facial region extraction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OpenCV</a:t>
            </a:r>
            <a:r>
              <a:rPr lang="en-IN" sz="2400" dirty="0">
                <a:latin typeface="Times New Roman" panose="02020603050405020304" pitchFamily="18" charset="0"/>
                <a:cs typeface="Times New Roman" panose="02020603050405020304" pitchFamily="18" charset="0"/>
              </a:rPr>
              <a:t> for video frame extraction and temporal analysis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Librosa</a:t>
            </a:r>
            <a:r>
              <a:rPr lang="en-IN" sz="2400" dirty="0">
                <a:latin typeface="Times New Roman" panose="02020603050405020304" pitchFamily="18" charset="0"/>
                <a:cs typeface="Times New Roman" panose="02020603050405020304" pitchFamily="18" charset="0"/>
              </a:rPr>
              <a:t> for audio preprocessing and feature extraction </a:t>
            </a:r>
          </a:p>
          <a:p>
            <a:pPr>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 framework used for model training and optimization</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142365" y="401955"/>
            <a:ext cx="4954270" cy="554990"/>
          </a:xfrm>
          <a:prstGeom prst="rect">
            <a:avLst/>
          </a:prstGeom>
          <a:noFill/>
        </p:spPr>
        <p:txBody>
          <a:bodyPr wrap="square" rtlCol="0">
            <a:noAutofit/>
          </a:bodyPr>
          <a:lstStyle/>
          <a:p>
            <a:pPr>
              <a:buNone/>
            </a:pPr>
            <a:r>
              <a:rPr lang="en-IN" sz="2400" b="1" dirty="0">
                <a:latin typeface="Times New Roman" panose="02020603050405020304" charset="0"/>
                <a:cs typeface="Times New Roman" panose="02020603050405020304" charset="0"/>
                <a:sym typeface="+mn-ea"/>
              </a:rPr>
              <a:t>PERFORMANCE EVALUATION</a:t>
            </a:r>
            <a:endParaRPr lang="en-US" sz="2400" b="1"/>
          </a:p>
        </p:txBody>
      </p:sp>
      <p:sp>
        <p:nvSpPr>
          <p:cNvPr id="4" name="Rectangle 1">
            <a:extLst>
              <a:ext uri="{FF2B5EF4-FFF2-40B4-BE49-F238E27FC236}">
                <a16:creationId xmlns:a16="http://schemas.microsoft.com/office/drawing/2014/main" id="{77625D59-C114-2898-65CC-6E6608DF8310}"/>
              </a:ext>
            </a:extLst>
          </p:cNvPr>
          <p:cNvSpPr>
            <a:spLocks noChangeArrowheads="1"/>
          </p:cNvSpPr>
          <p:nvPr/>
        </p:nvSpPr>
        <p:spPr bwMode="auto">
          <a:xfrm>
            <a:off x="983226" y="1103114"/>
            <a:ext cx="10962967"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the model using standard classification metrics: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Precision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Recall</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F1-Score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Confusion Matrix</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and testing performed on preprocessed multimodal datasets containing image, video, and audio samples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EfficientNetV2</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achieved high detection accuracy for identifying AI-generated media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Frame-level video analysis improved temporal consistency detection and reduced false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performance with baseline models such 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ResNet50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MobileNetV2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142365" y="401955"/>
            <a:ext cx="4954270" cy="554990"/>
          </a:xfrm>
          <a:prstGeom prst="rect">
            <a:avLst/>
          </a:prstGeom>
          <a:noFill/>
        </p:spPr>
        <p:txBody>
          <a:bodyPr wrap="square" rtlCol="0">
            <a:noAutofit/>
          </a:bodyPr>
          <a:lstStyle/>
          <a:p>
            <a:pPr>
              <a:buNone/>
            </a:pPr>
            <a:r>
              <a:rPr lang="en-IN" sz="2400" b="1" dirty="0">
                <a:latin typeface="Times New Roman" panose="02020603050405020304" charset="0"/>
                <a:cs typeface="Times New Roman" panose="02020603050405020304" charset="0"/>
                <a:sym typeface="+mn-ea"/>
              </a:rPr>
              <a:t>PERFORMANCE EVALUATION</a:t>
            </a:r>
            <a:endParaRPr lang="en-US" sz="2400" b="1"/>
          </a:p>
        </p:txBody>
      </p:sp>
      <p:sp>
        <p:nvSpPr>
          <p:cNvPr id="4" name="Rectangle 1">
            <a:extLst>
              <a:ext uri="{FF2B5EF4-FFF2-40B4-BE49-F238E27FC236}">
                <a16:creationId xmlns:a16="http://schemas.microsoft.com/office/drawing/2014/main" id="{77625D59-C114-2898-65CC-6E6608DF8310}"/>
              </a:ext>
            </a:extLst>
          </p:cNvPr>
          <p:cNvSpPr>
            <a:spLocks noChangeArrowheads="1"/>
          </p:cNvSpPr>
          <p:nvPr/>
        </p:nvSpPr>
        <p:spPr bwMode="auto">
          <a:xfrm>
            <a:off x="1002891" y="1173560"/>
            <a:ext cx="983225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EfficientNetV2 provided: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feature extraction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convergence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classification accuracy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generalization on unseen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Confusion matrix analysis showed strong performance in distinguishing: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 Media</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AI-Generated / Fake Media</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augmentation and feature normalization helped reduce overfitting and improved model robustness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multimodal fusion strategy increased overall detection reliability by combining image, video, and audio predictions</a:t>
            </a:r>
          </a:p>
        </p:txBody>
      </p:sp>
    </p:spTree>
    <p:extLst>
      <p:ext uri="{BB962C8B-B14F-4D97-AF65-F5344CB8AC3E}">
        <p14:creationId xmlns:p14="http://schemas.microsoft.com/office/powerpoint/2010/main" val="2648030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48385" y="396875"/>
            <a:ext cx="5107940" cy="554355"/>
          </a:xfrm>
          <a:prstGeom prst="rect">
            <a:avLst/>
          </a:prstGeom>
          <a:noFill/>
        </p:spPr>
        <p:txBody>
          <a:bodyPr wrap="square" rtlCol="0">
            <a:noAutofit/>
          </a:bodyPr>
          <a:lstStyle/>
          <a:p>
            <a:r>
              <a:rPr lang="en-IN" sz="2800" b="1" dirty="0">
                <a:latin typeface="Times New Roman" panose="02020603050405020304" charset="0"/>
                <a:cs typeface="Times New Roman" panose="02020603050405020304" charset="0"/>
                <a:sym typeface="+mn-ea"/>
              </a:rPr>
              <a:t>RESULTS ANALYSIS</a:t>
            </a:r>
            <a:endParaRPr lang="en-US" sz="2800"/>
          </a:p>
        </p:txBody>
      </p:sp>
      <p:sp>
        <p:nvSpPr>
          <p:cNvPr id="4" name="Text Box 3"/>
          <p:cNvSpPr txBox="1"/>
          <p:nvPr/>
        </p:nvSpPr>
        <p:spPr>
          <a:xfrm>
            <a:off x="1048385" y="1097280"/>
            <a:ext cx="9117965" cy="5027295"/>
          </a:xfrm>
          <a:prstGeom prst="rect">
            <a:avLst/>
          </a:prstGeom>
          <a:noFill/>
        </p:spPr>
        <p:txBody>
          <a:bodyPr wrap="square" rtlCol="0">
            <a:noAutofit/>
          </a:bodyPr>
          <a:lstStyle/>
          <a:p>
            <a:endParaRPr lang="en-US" altLang="en-US" sz="2000" b="1"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IN" altLang="en-US" sz="1800" dirty="0"/>
              <a:t> </a:t>
            </a:r>
            <a:r>
              <a:rPr lang="en-US" altLang="en-US" sz="1800" dirty="0"/>
              <a:t>The system successfully detected fake images, videos, and audio files</a:t>
            </a:r>
          </a:p>
          <a:p>
            <a:r>
              <a:rPr lang="en-IN" altLang="en-US" sz="1800" dirty="0"/>
              <a:t> </a:t>
            </a:r>
            <a:r>
              <a:rPr lang="en-US" altLang="en-US" sz="1800" dirty="0"/>
              <a:t>Multi-modal detection improved overall system accuracy</a:t>
            </a:r>
          </a:p>
          <a:p>
            <a:r>
              <a:rPr lang="en-IN" altLang="en-US" sz="1800" dirty="0"/>
              <a:t> </a:t>
            </a:r>
            <a:r>
              <a:rPr lang="en-US" altLang="en-US" sz="1800" dirty="0"/>
              <a:t>EfficientNetV2 accurately detected manipulated images</a:t>
            </a:r>
          </a:p>
          <a:p>
            <a:r>
              <a:rPr lang="en-IN" altLang="en-US" sz="1800" dirty="0"/>
              <a:t> </a:t>
            </a:r>
            <a:r>
              <a:rPr lang="en-US" altLang="en-US" sz="1800" dirty="0"/>
              <a:t>Wav2Vec effectively identified AI-generated voices</a:t>
            </a:r>
          </a:p>
          <a:p>
            <a:r>
              <a:rPr lang="en-IN" altLang="en-US" sz="1800" dirty="0"/>
              <a:t> </a:t>
            </a:r>
            <a:endParaRPr lang="en-US" altLang="en-US" sz="1800" dirty="0"/>
          </a:p>
          <a:p>
            <a:r>
              <a:rPr lang="en-US" altLang="en-US" sz="2000" b="1" dirty="0"/>
              <a:t> Outcome</a:t>
            </a:r>
          </a:p>
          <a:p>
            <a:r>
              <a:rPr lang="en-IN" altLang="en-US" sz="1600" dirty="0"/>
              <a:t> </a:t>
            </a:r>
            <a:r>
              <a:rPr lang="en-US" altLang="en-US" sz="1600" dirty="0"/>
              <a:t>High accuracy achieved in deepfake detection</a:t>
            </a:r>
          </a:p>
          <a:p>
            <a:r>
              <a:rPr lang="en-IN" altLang="en-US" sz="1600" dirty="0"/>
              <a:t> </a:t>
            </a:r>
            <a:r>
              <a:rPr lang="en-US" altLang="en-US" sz="1600" dirty="0"/>
              <a:t>System provided reliable Real or Fake predictions</a:t>
            </a:r>
          </a:p>
          <a:p>
            <a:r>
              <a:rPr lang="en-IN" altLang="en-US" sz="1600" dirty="0"/>
              <a:t> </a:t>
            </a:r>
            <a:r>
              <a:rPr lang="en-US" altLang="en-US" sz="1600" dirty="0"/>
              <a:t>Improved performance across different media types</a:t>
            </a:r>
          </a:p>
          <a:p>
            <a:endParaRPr lang="en-US" altLang="en-US" sz="1600" dirty="0"/>
          </a:p>
          <a:p>
            <a:endParaRPr lang="en-US" sz="1600" dirty="0"/>
          </a:p>
        </p:txBody>
      </p:sp>
      <p:pic>
        <p:nvPicPr>
          <p:cNvPr id="5" name="Picture 4" descr="A screenshot of a computer&#10;&#10;AI-generated content may be incorrect.">
            <a:extLst>
              <a:ext uri="{FF2B5EF4-FFF2-40B4-BE49-F238E27FC236}">
                <a16:creationId xmlns:a16="http://schemas.microsoft.com/office/drawing/2014/main" id="{567E85B2-78F8-0296-58F4-97C167B40A16}"/>
              </a:ext>
            </a:extLst>
          </p:cNvPr>
          <p:cNvPicPr>
            <a:picLocks noChangeAspect="1"/>
          </p:cNvPicPr>
          <p:nvPr/>
        </p:nvPicPr>
        <p:blipFill>
          <a:blip r:embed="rId2"/>
          <a:stretch>
            <a:fillRect/>
          </a:stretch>
        </p:blipFill>
        <p:spPr>
          <a:xfrm>
            <a:off x="1288052" y="1152837"/>
            <a:ext cx="4628606" cy="240133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E8C9BA1B-2538-7216-EB91-3DFF6E2C4298}"/>
              </a:ext>
            </a:extLst>
          </p:cNvPr>
          <p:cNvPicPr>
            <a:picLocks noChangeAspect="1"/>
          </p:cNvPicPr>
          <p:nvPr/>
        </p:nvPicPr>
        <p:blipFill>
          <a:blip r:embed="rId3"/>
          <a:stretch>
            <a:fillRect/>
          </a:stretch>
        </p:blipFill>
        <p:spPr>
          <a:xfrm>
            <a:off x="6676103" y="1097280"/>
            <a:ext cx="4729316" cy="25124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48385" y="396875"/>
            <a:ext cx="5107940" cy="554355"/>
          </a:xfrm>
          <a:prstGeom prst="rect">
            <a:avLst/>
          </a:prstGeom>
          <a:noFill/>
        </p:spPr>
        <p:txBody>
          <a:bodyPr wrap="square" rtlCol="0">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Quality</a:t>
            </a:r>
          </a:p>
        </p:txBody>
      </p:sp>
      <p:sp>
        <p:nvSpPr>
          <p:cNvPr id="2" name="Rectangle 1">
            <a:extLst>
              <a:ext uri="{FF2B5EF4-FFF2-40B4-BE49-F238E27FC236}">
                <a16:creationId xmlns:a16="http://schemas.microsoft.com/office/drawing/2014/main" id="{8075202E-840C-E7C4-6B3E-F429F6774B21}"/>
              </a:ext>
            </a:extLst>
          </p:cNvPr>
          <p:cNvSpPr>
            <a:spLocks noChangeArrowheads="1"/>
          </p:cNvSpPr>
          <p:nvPr/>
        </p:nvSpPr>
        <p:spPr bwMode="auto">
          <a:xfrm>
            <a:off x="935392" y="1101689"/>
            <a:ext cx="1125660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Followed clean and modular architecture for frontend and backend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reusable React components and custom hooks for better maintainability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Maintained separation of concerns using dedicated processing modules: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video_processor.py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audio_processor.py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fusion.py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ai_detector.py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proper naming conventions, indentation, and structured coding standards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exception handling using try/except blocks to prevent application crashes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Added validation and user-friendly error handling for all API requests and uploads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redundant computations and optimized media processing workflows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React Query for efficient API state management and caching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Maintained scalable folder structure for datasets, models, APIs, and frontend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Included comments and documentation for important functions and workflows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GitHub version control for collaboration, tracking, and code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compatibility between preprocessing, feature extraction, model inference, and frontend integration</a:t>
            </a:r>
          </a:p>
        </p:txBody>
      </p:sp>
    </p:spTree>
    <p:extLst>
      <p:ext uri="{BB962C8B-B14F-4D97-AF65-F5344CB8AC3E}">
        <p14:creationId xmlns:p14="http://schemas.microsoft.com/office/powerpoint/2010/main" val="3385910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p:nvPr/>
        </p:nvSpPr>
        <p:spPr>
          <a:xfrm>
            <a:off x="2471394" y="3167390"/>
            <a:ext cx="72492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GB" sz="36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THANK</a:t>
            </a:r>
            <a:r>
              <a:rPr lang="en-GB" sz="3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YOU</a:t>
            </a:r>
            <a:r>
              <a:rPr lang="en-IN" altLang="en-GB" sz="3200" b="1"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2318</Words>
  <Application>Microsoft Office PowerPoint</Application>
  <PresentationFormat>Widescreen</PresentationFormat>
  <Paragraphs>357</Paragraphs>
  <Slides>25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Tahoma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KGRCET</dc:creator>
  <cp:lastModifiedBy>Venkat Kalyan Peddina</cp:lastModifiedBy>
  <cp:revision>44</cp:revision>
  <dcterms:created xsi:type="dcterms:W3CDTF">2025-02-03T15:16:00Z</dcterms:created>
  <dcterms:modified xsi:type="dcterms:W3CDTF">2026-05-16T10:52:09Z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9B8E02D143D04595B64EEA985715BBE8_13</vt:lpwstr>
  </property>
  <property fmtid="{D5CDD505-2E9C-101B-9397-08002B2CF9AE}" pid="3" name="KSOProductBuildVer">
    <vt:lpwstr>1033-12.1.0.25242</vt:lpwstr>
  </property>
</Properties>
</file>