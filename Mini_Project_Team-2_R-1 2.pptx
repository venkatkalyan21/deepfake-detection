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92" r:id="rId25"/>
    <p:sldId id="279" r:id="rId26"/>
    <p:sldId id="280" r:id="rId27"/>
    <p:sldId id="281" r:id="rId28"/>
    <p:sldId id="282" r:id="rId29"/>
    <p:sldId id="293" r:id="rId30"/>
    <p:sldId id="284" r:id="rId31"/>
    <p:sldId id="285" r:id="rId32"/>
    <p:sldId id="286" r:id="rId33"/>
    <p:sldId id="287" r:id="rId34"/>
    <p:sldId id="294" r:id="rId35"/>
    <p:sldId id="291" r:id="rId36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0DEEF"/>
          </a:solidFill>
        </a:fill>
      </a:tcStyle>
    </a:wholeTbl>
    <a:band2H>
      <a:tcTxStyle/>
      <a:tcStyle>
        <a:tcBdr/>
        <a:fill>
          <a:solidFill>
            <a:srgbClr val="E9EFF7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5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5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5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hape 110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1" name="Shape 111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400">
        <a:latin typeface="+mj-lt"/>
        <a:ea typeface="+mj-ea"/>
        <a:cs typeface="+mj-cs"/>
        <a:sym typeface="Arial"/>
      </a:defRPr>
    </a:lvl1pPr>
    <a:lvl2pPr indent="228600" latinLnBrk="0">
      <a:defRPr sz="1400">
        <a:latin typeface="+mj-lt"/>
        <a:ea typeface="+mj-ea"/>
        <a:cs typeface="+mj-cs"/>
        <a:sym typeface="Arial"/>
      </a:defRPr>
    </a:lvl2pPr>
    <a:lvl3pPr indent="457200" latinLnBrk="0">
      <a:defRPr sz="1400">
        <a:latin typeface="+mj-lt"/>
        <a:ea typeface="+mj-ea"/>
        <a:cs typeface="+mj-cs"/>
        <a:sym typeface="Arial"/>
      </a:defRPr>
    </a:lvl3pPr>
    <a:lvl4pPr indent="685800" latinLnBrk="0">
      <a:defRPr sz="1400">
        <a:latin typeface="+mj-lt"/>
        <a:ea typeface="+mj-ea"/>
        <a:cs typeface="+mj-cs"/>
        <a:sym typeface="Arial"/>
      </a:defRPr>
    </a:lvl4pPr>
    <a:lvl5pPr indent="914400" latinLnBrk="0">
      <a:defRPr sz="1400">
        <a:latin typeface="+mj-lt"/>
        <a:ea typeface="+mj-ea"/>
        <a:cs typeface="+mj-cs"/>
        <a:sym typeface="Arial"/>
      </a:defRPr>
    </a:lvl5pPr>
    <a:lvl6pPr indent="1143000" latinLnBrk="0">
      <a:defRPr sz="1400">
        <a:latin typeface="+mj-lt"/>
        <a:ea typeface="+mj-ea"/>
        <a:cs typeface="+mj-cs"/>
        <a:sym typeface="Arial"/>
      </a:defRPr>
    </a:lvl6pPr>
    <a:lvl7pPr indent="1371600" latinLnBrk="0">
      <a:defRPr sz="1400">
        <a:latin typeface="+mj-lt"/>
        <a:ea typeface="+mj-ea"/>
        <a:cs typeface="+mj-cs"/>
        <a:sym typeface="Arial"/>
      </a:defRPr>
    </a:lvl7pPr>
    <a:lvl8pPr indent="1600200" latinLnBrk="0">
      <a:defRPr sz="1400">
        <a:latin typeface="+mj-lt"/>
        <a:ea typeface="+mj-ea"/>
        <a:cs typeface="+mj-cs"/>
        <a:sym typeface="Arial"/>
      </a:defRPr>
    </a:lvl8pPr>
    <a:lvl9pPr indent="1828800" latinLnBrk="0">
      <a:defRPr sz="1400">
        <a:latin typeface="+mj-lt"/>
        <a:ea typeface="+mj-ea"/>
        <a:cs typeface="+mj-cs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2;p22" descr="Google Shape;12;p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1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79018" y="6232218"/>
            <a:ext cx="258582" cy="248264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4;p23" descr="Google Shape;14;p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2" y="0"/>
            <a:ext cx="12182607" cy="6863292"/>
          </a:xfrm>
          <a:prstGeom prst="rect">
            <a:avLst/>
          </a:prstGeom>
          <a:ln w="12700">
            <a:miter lim="400000"/>
          </a:ln>
        </p:spPr>
      </p:pic>
      <p:sp>
        <p:nvSpPr>
          <p:cNvPr id="2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79018" y="6232218"/>
            <a:ext cx="258582" cy="248264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8" name="Body Level One…"/>
          <p:cNvSpPr txBox="1"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itle Text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/>
          <a:lstStyle>
            <a:lvl1pPr>
              <a:defRPr sz="4400"/>
            </a:lvl1pPr>
          </a:lstStyle>
          <a:p>
            <a:r>
              <a:t>Title Text</a:t>
            </a:r>
          </a:p>
        </p:txBody>
      </p:sp>
      <p:sp>
        <p:nvSpPr>
          <p:cNvPr id="37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>
            <a:lvl1pPr marL="457200" indent="-342900">
              <a:buClr>
                <a:srgbClr val="000000"/>
              </a:buClr>
              <a:buSzPts val="2800"/>
              <a:buFont typeface="Arial"/>
              <a:buChar char="•"/>
              <a:defRPr sz="2800">
                <a:solidFill>
                  <a:srgbClr val="000000"/>
                </a:solidFill>
              </a:defRPr>
            </a:lvl1pPr>
            <a:lvl2pPr marL="971550" indent="-400050">
              <a:buClr>
                <a:srgbClr val="000000"/>
              </a:buClr>
              <a:buSzPts val="2800"/>
              <a:buFont typeface="Arial"/>
              <a:buChar char="•"/>
              <a:defRPr sz="2800">
                <a:solidFill>
                  <a:srgbClr val="000000"/>
                </a:solidFill>
              </a:defRPr>
            </a:lvl2pPr>
            <a:lvl3pPr marL="1508760" indent="-480060">
              <a:buClr>
                <a:srgbClr val="000000"/>
              </a:buClr>
              <a:buSzPts val="2800"/>
              <a:buFont typeface="Arial"/>
              <a:buChar char="•"/>
              <a:defRPr sz="2800">
                <a:solidFill>
                  <a:srgbClr val="000000"/>
                </a:solidFill>
              </a:defRPr>
            </a:lvl3pPr>
            <a:lvl4pPr marL="2019300" indent="-533400">
              <a:buClr>
                <a:srgbClr val="000000"/>
              </a:buClr>
              <a:buSzPts val="2800"/>
              <a:buFont typeface="Arial"/>
              <a:buChar char="•"/>
              <a:defRPr sz="2800">
                <a:solidFill>
                  <a:srgbClr val="000000"/>
                </a:solidFill>
              </a:defRPr>
            </a:lvl4pPr>
            <a:lvl5pPr marL="2476500" indent="-533400">
              <a:buClr>
                <a:srgbClr val="000000"/>
              </a:buClr>
              <a:buSzPts val="2800"/>
              <a:buFont typeface="Arial"/>
              <a:buChar char="•"/>
              <a:defRPr sz="2800">
                <a:solidFill>
                  <a:srgbClr val="000000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8" name="Google Shape;24;p25"/>
          <p:cNvSpPr txBox="1">
            <a:spLocks noGrp="1"/>
          </p:cNvSpPr>
          <p:nvPr>
            <p:ph type="body" sz="half" idx="21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marL="457200" indent="-406400">
              <a:buClr>
                <a:srgbClr val="000000"/>
              </a:buClr>
              <a:buSzPts val="2800"/>
              <a:buFont typeface="Arial"/>
              <a:buChar char="•"/>
              <a:defRPr sz="280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3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itle Text"/>
          <p:cNvSpPr txBox="1">
            <a:spLocks noGrp="1"/>
          </p:cNvSpPr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 anchor="ctr"/>
          <a:lstStyle>
            <a:lvl1pPr>
              <a:defRPr sz="4400"/>
            </a:lvl1pPr>
          </a:lstStyle>
          <a:p>
            <a:r>
              <a:t>Title Text</a:t>
            </a:r>
          </a:p>
        </p:txBody>
      </p:sp>
      <p:sp>
        <p:nvSpPr>
          <p:cNvPr id="47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1681163"/>
            <a:ext cx="5157790" cy="823914"/>
          </a:xfrm>
          <a:prstGeom prst="rect">
            <a:avLst/>
          </a:prstGeom>
        </p:spPr>
        <p:txBody>
          <a:bodyPr anchor="b"/>
          <a:lstStyle>
            <a:lvl1pPr>
              <a:defRPr b="1">
                <a:solidFill>
                  <a:srgbClr val="000000"/>
                </a:solidFill>
              </a:defRPr>
            </a:lvl1pPr>
            <a:lvl2pPr>
              <a:defRPr b="1">
                <a:solidFill>
                  <a:srgbClr val="000000"/>
                </a:solidFill>
              </a:defRPr>
            </a:lvl2pPr>
            <a:lvl3pPr>
              <a:defRPr b="1">
                <a:solidFill>
                  <a:srgbClr val="000000"/>
                </a:solidFill>
              </a:defRPr>
            </a:lvl3pPr>
            <a:lvl4pPr>
              <a:defRPr b="1">
                <a:solidFill>
                  <a:srgbClr val="000000"/>
                </a:solidFill>
              </a:defRPr>
            </a:lvl4pPr>
            <a:lvl5pPr>
              <a:defRPr b="1">
                <a:solidFill>
                  <a:srgbClr val="000000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8" name="Google Shape;31;p26"/>
          <p:cNvSpPr txBox="1">
            <a:spLocks noGrp="1"/>
          </p:cNvSpPr>
          <p:nvPr>
            <p:ph type="body" sz="half" idx="21"/>
          </p:nvPr>
        </p:nvSpPr>
        <p:spPr>
          <a:xfrm>
            <a:off x="839787" y="2505075"/>
            <a:ext cx="5157788" cy="3684588"/>
          </a:xfrm>
          <a:prstGeom prst="rect">
            <a:avLst/>
          </a:prstGeom>
        </p:spPr>
        <p:txBody>
          <a:bodyPr/>
          <a:lstStyle/>
          <a:p>
            <a:pPr marL="457200" indent="-406400">
              <a:buClr>
                <a:srgbClr val="000000"/>
              </a:buClr>
              <a:buSzPts val="2800"/>
              <a:buFont typeface="Arial"/>
              <a:buChar char="•"/>
              <a:defRPr sz="280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49" name="Google Shape;32;p26"/>
          <p:cNvSpPr txBox="1">
            <a:spLocks noGrp="1"/>
          </p:cNvSpPr>
          <p:nvPr>
            <p:ph type="body" sz="quarter" idx="22"/>
          </p:nvPr>
        </p:nvSpPr>
        <p:spPr>
          <a:xfrm>
            <a:off x="6172200" y="1681163"/>
            <a:ext cx="5183188" cy="823914"/>
          </a:xfrm>
          <a:prstGeom prst="rect">
            <a:avLst/>
          </a:prstGeom>
        </p:spPr>
        <p:txBody>
          <a:bodyPr anchor="b"/>
          <a:lstStyle/>
          <a:p>
            <a:pPr marL="457200" indent="-406400">
              <a:buClr>
                <a:srgbClr val="000000"/>
              </a:buClr>
              <a:buSzPts val="2800"/>
              <a:buFont typeface="Arial"/>
              <a:buChar char="•"/>
              <a:defRPr sz="280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50" name="Google Shape;33;p26"/>
          <p:cNvSpPr txBox="1">
            <a:spLocks noGrp="1"/>
          </p:cNvSpPr>
          <p:nvPr>
            <p:ph type="body" sz="half" idx="23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marL="457200" indent="-406400">
              <a:buClr>
                <a:srgbClr val="000000"/>
              </a:buClr>
              <a:buSzPts val="2800"/>
              <a:buFont typeface="Arial"/>
              <a:buChar char="•"/>
              <a:defRPr sz="280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5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Text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/>
          <a:lstStyle>
            <a:lvl1pPr>
              <a:defRPr sz="4400"/>
            </a:lvl1pPr>
          </a:lstStyle>
          <a:p>
            <a:r>
              <a:t>Title Text</a:t>
            </a:r>
          </a:p>
        </p:txBody>
      </p:sp>
      <p:sp>
        <p:nvSpPr>
          <p:cNvPr id="5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40" cy="1600200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74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183187" y="987425"/>
            <a:ext cx="6172202" cy="4873625"/>
          </a:xfrm>
          <a:prstGeom prst="rect">
            <a:avLst/>
          </a:prstGeom>
        </p:spPr>
        <p:txBody>
          <a:bodyPr/>
          <a:lstStyle>
            <a:lvl1pPr marL="457200" indent="-431800">
              <a:buClr>
                <a:srgbClr val="000000"/>
              </a:buClr>
              <a:buSzPts val="3200"/>
              <a:buFont typeface="Arial"/>
              <a:buChar char="•"/>
              <a:defRPr sz="3200">
                <a:solidFill>
                  <a:srgbClr val="000000"/>
                </a:solidFill>
              </a:defRPr>
            </a:lvl1pPr>
            <a:lvl2pPr marL="972457" indent="-464457">
              <a:buClr>
                <a:srgbClr val="000000"/>
              </a:buClr>
              <a:buSzPts val="3200"/>
              <a:buFont typeface="Arial"/>
              <a:buChar char="•"/>
              <a:defRPr sz="3200">
                <a:solidFill>
                  <a:srgbClr val="000000"/>
                </a:solidFill>
              </a:defRPr>
            </a:lvl2pPr>
            <a:lvl3pPr marL="1498600" indent="-508000">
              <a:buClr>
                <a:srgbClr val="000000"/>
              </a:buClr>
              <a:buSzPts val="3200"/>
              <a:buFont typeface="Arial"/>
              <a:buChar char="•"/>
              <a:defRPr sz="3200">
                <a:solidFill>
                  <a:srgbClr val="000000"/>
                </a:solidFill>
              </a:defRPr>
            </a:lvl3pPr>
            <a:lvl4pPr marL="2042160" indent="-568960">
              <a:buClr>
                <a:srgbClr val="000000"/>
              </a:buClr>
              <a:buSzPts val="3200"/>
              <a:buFont typeface="Arial"/>
              <a:buChar char="•"/>
              <a:defRPr sz="3200">
                <a:solidFill>
                  <a:srgbClr val="000000"/>
                </a:solidFill>
              </a:defRPr>
            </a:lvl4pPr>
            <a:lvl5pPr marL="2499360" indent="-568960">
              <a:buClr>
                <a:srgbClr val="000000"/>
              </a:buClr>
              <a:buSzPts val="3200"/>
              <a:buFont typeface="Arial"/>
              <a:buChar char="•"/>
              <a:defRPr sz="3200">
                <a:solidFill>
                  <a:srgbClr val="000000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5" name="Google Shape;49;p29"/>
          <p:cNvSpPr txBox="1">
            <a:spLocks noGrp="1"/>
          </p:cNvSpPr>
          <p:nvPr>
            <p:ph type="body" sz="quarter" idx="21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/>
          <a:lstStyle/>
          <a:p>
            <a:pPr marL="457200" indent="-406400">
              <a:buClr>
                <a:srgbClr val="000000"/>
              </a:buClr>
              <a:buSzPts val="2800"/>
              <a:buFont typeface="Arial"/>
              <a:buChar char="•"/>
              <a:defRPr sz="280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7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40" cy="1600200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84" name="Google Shape;55;p30"/>
          <p:cNvSpPr>
            <a:spLocks noGrp="1"/>
          </p:cNvSpPr>
          <p:nvPr>
            <p:ph type="pic" sz="half" idx="21"/>
          </p:nvPr>
        </p:nvSpPr>
        <p:spPr>
          <a:xfrm>
            <a:off x="5183187" y="987425"/>
            <a:ext cx="6172202" cy="487362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85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2057400"/>
            <a:ext cx="3932240" cy="3811588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rgbClr val="000000"/>
                </a:solidFill>
              </a:defRPr>
            </a:lvl1pPr>
            <a:lvl2pPr>
              <a:defRPr sz="1600">
                <a:solidFill>
                  <a:srgbClr val="000000"/>
                </a:solidFill>
              </a:defRPr>
            </a:lvl2pPr>
            <a:lvl3pPr>
              <a:defRPr sz="1600">
                <a:solidFill>
                  <a:srgbClr val="000000"/>
                </a:solidFill>
              </a:defRPr>
            </a:lvl3pPr>
            <a:lvl4pPr>
              <a:defRPr sz="1600">
                <a:solidFill>
                  <a:srgbClr val="000000"/>
                </a:solidFill>
              </a:defRPr>
            </a:lvl4pPr>
            <a:lvl5pPr>
              <a:defRPr sz="1600">
                <a:solidFill>
                  <a:srgbClr val="000000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Title Text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/>
          <a:lstStyle>
            <a:lvl1pPr>
              <a:defRPr sz="4400"/>
            </a:lvl1pPr>
          </a:lstStyle>
          <a:p>
            <a:r>
              <a:t>Title Text</a:t>
            </a:r>
          </a:p>
        </p:txBody>
      </p:sp>
      <p:sp>
        <p:nvSpPr>
          <p:cNvPr id="94" name="Body Level One…"/>
          <p:cNvSpPr txBox="1">
            <a:spLocks noGrp="1"/>
          </p:cNvSpPr>
          <p:nvPr>
            <p:ph type="body" idx="1"/>
          </p:nvPr>
        </p:nvSpPr>
        <p:spPr>
          <a:xfrm rot="5400000">
            <a:off x="3920330" y="-1256506"/>
            <a:ext cx="4351340" cy="10515601"/>
          </a:xfrm>
          <a:prstGeom prst="rect">
            <a:avLst/>
          </a:prstGeom>
        </p:spPr>
        <p:txBody>
          <a:bodyPr/>
          <a:lstStyle>
            <a:lvl1pPr marL="457200" indent="-342900">
              <a:buClr>
                <a:srgbClr val="000000"/>
              </a:buClr>
              <a:buSzPts val="2800"/>
              <a:buFont typeface="Arial"/>
              <a:buChar char="•"/>
              <a:defRPr sz="2800">
                <a:solidFill>
                  <a:srgbClr val="000000"/>
                </a:solidFill>
              </a:defRPr>
            </a:lvl1pPr>
            <a:lvl2pPr marL="971550" indent="-400050">
              <a:buClr>
                <a:srgbClr val="000000"/>
              </a:buClr>
              <a:buSzPts val="2800"/>
              <a:buFont typeface="Arial"/>
              <a:buChar char="•"/>
              <a:defRPr sz="2800">
                <a:solidFill>
                  <a:srgbClr val="000000"/>
                </a:solidFill>
              </a:defRPr>
            </a:lvl2pPr>
            <a:lvl3pPr marL="1508760" indent="-480060">
              <a:buClr>
                <a:srgbClr val="000000"/>
              </a:buClr>
              <a:buSzPts val="2800"/>
              <a:buFont typeface="Arial"/>
              <a:buChar char="•"/>
              <a:defRPr sz="2800">
                <a:solidFill>
                  <a:srgbClr val="000000"/>
                </a:solidFill>
              </a:defRPr>
            </a:lvl3pPr>
            <a:lvl4pPr marL="2019300" indent="-533400">
              <a:buClr>
                <a:srgbClr val="000000"/>
              </a:buClr>
              <a:buSzPts val="2800"/>
              <a:buFont typeface="Arial"/>
              <a:buChar char="•"/>
              <a:defRPr sz="2800">
                <a:solidFill>
                  <a:srgbClr val="000000"/>
                </a:solidFill>
              </a:defRPr>
            </a:lvl4pPr>
            <a:lvl5pPr marL="2476500" indent="-533400">
              <a:buClr>
                <a:srgbClr val="000000"/>
              </a:buClr>
              <a:buSzPts val="2800"/>
              <a:buFont typeface="Arial"/>
              <a:buChar char="•"/>
              <a:defRPr sz="2800">
                <a:solidFill>
                  <a:srgbClr val="000000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itle Text"/>
          <p:cNvSpPr txBox="1">
            <a:spLocks noGrp="1"/>
          </p:cNvSpPr>
          <p:nvPr>
            <p:ph type="title"/>
          </p:nvPr>
        </p:nvSpPr>
        <p:spPr>
          <a:xfrm rot="5400000">
            <a:off x="7133431" y="1956592"/>
            <a:ext cx="5811840" cy="2628902"/>
          </a:xfrm>
          <a:prstGeom prst="rect">
            <a:avLst/>
          </a:prstGeom>
        </p:spPr>
        <p:txBody>
          <a:bodyPr anchor="ctr"/>
          <a:lstStyle>
            <a:lvl1pPr>
              <a:defRPr sz="4400"/>
            </a:lvl1pPr>
          </a:lstStyle>
          <a:p>
            <a:r>
              <a:t>Title Text</a:t>
            </a:r>
          </a:p>
        </p:txBody>
      </p:sp>
      <p:sp>
        <p:nvSpPr>
          <p:cNvPr id="103" name="Body Level One…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7"/>
            <a:ext cx="5811838" cy="7734301"/>
          </a:xfrm>
          <a:prstGeom prst="rect">
            <a:avLst/>
          </a:prstGeom>
        </p:spPr>
        <p:txBody>
          <a:bodyPr/>
          <a:lstStyle>
            <a:lvl1pPr marL="457200" indent="-342900">
              <a:buClr>
                <a:srgbClr val="000000"/>
              </a:buClr>
              <a:buSzPts val="2800"/>
              <a:buFont typeface="Arial"/>
              <a:buChar char="•"/>
              <a:defRPr sz="2800">
                <a:solidFill>
                  <a:srgbClr val="000000"/>
                </a:solidFill>
              </a:defRPr>
            </a:lvl1pPr>
            <a:lvl2pPr marL="971550" indent="-400050">
              <a:buClr>
                <a:srgbClr val="000000"/>
              </a:buClr>
              <a:buSzPts val="2800"/>
              <a:buFont typeface="Arial"/>
              <a:buChar char="•"/>
              <a:defRPr sz="2800">
                <a:solidFill>
                  <a:srgbClr val="000000"/>
                </a:solidFill>
              </a:defRPr>
            </a:lvl2pPr>
            <a:lvl3pPr marL="1508760" indent="-480060">
              <a:buClr>
                <a:srgbClr val="000000"/>
              </a:buClr>
              <a:buSzPts val="2800"/>
              <a:buFont typeface="Arial"/>
              <a:buChar char="•"/>
              <a:defRPr sz="2800">
                <a:solidFill>
                  <a:srgbClr val="000000"/>
                </a:solidFill>
              </a:defRPr>
            </a:lvl3pPr>
            <a:lvl4pPr marL="2019300" indent="-533400">
              <a:buClr>
                <a:srgbClr val="000000"/>
              </a:buClr>
              <a:buSzPts val="2800"/>
              <a:buFont typeface="Arial"/>
              <a:buChar char="•"/>
              <a:defRPr sz="2800">
                <a:solidFill>
                  <a:srgbClr val="000000"/>
                </a:solidFill>
              </a:defRPr>
            </a:lvl4pPr>
            <a:lvl5pPr marL="2476500" indent="-533400">
              <a:buClr>
                <a:srgbClr val="000000"/>
              </a:buClr>
              <a:buSzPts val="2800"/>
              <a:buFont typeface="Arial"/>
              <a:buChar char="•"/>
              <a:defRPr sz="2800">
                <a:solidFill>
                  <a:srgbClr val="000000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 anchor="b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831850" y="4589462"/>
            <a:ext cx="10515600" cy="15001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095219" y="6414781"/>
            <a:ext cx="258582" cy="248263"/>
          </a:xfrm>
          <a:prstGeom prst="rect">
            <a:avLst/>
          </a:prstGeom>
          <a:ln w="12700">
            <a:miter lim="400000"/>
          </a:ln>
        </p:spPr>
        <p:txBody>
          <a:bodyPr wrap="none" lIns="45699" tIns="45699" rIns="45699" bIns="45699" anchor="ctr">
            <a:spAutoFit/>
          </a:bodyPr>
          <a:lstStyle>
            <a:lvl1pPr algn="r"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9pPr>
    </p:titleStyle>
    <p:bodyStyle>
      <a:lvl1pPr marL="0" marR="0" indent="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rgbClr val="888888"/>
          </a:solidFill>
          <a:uFillTx/>
          <a:latin typeface="Calibri"/>
          <a:ea typeface="Calibri"/>
          <a:cs typeface="Calibri"/>
          <a:sym typeface="Calibri"/>
        </a:defRPr>
      </a:lvl1pPr>
      <a:lvl2pPr marL="0" marR="0" indent="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rgbClr val="888888"/>
          </a:solidFill>
          <a:uFillTx/>
          <a:latin typeface="Calibri"/>
          <a:ea typeface="Calibri"/>
          <a:cs typeface="Calibri"/>
          <a:sym typeface="Calibri"/>
        </a:defRPr>
      </a:lvl2pPr>
      <a:lvl3pPr marL="0" marR="0" indent="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rgbClr val="888888"/>
          </a:solidFill>
          <a:uFillTx/>
          <a:latin typeface="Calibri"/>
          <a:ea typeface="Calibri"/>
          <a:cs typeface="Calibri"/>
          <a:sym typeface="Calibri"/>
        </a:defRPr>
      </a:lvl3pPr>
      <a:lvl4pPr marL="0" marR="0" indent="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rgbClr val="888888"/>
          </a:solidFill>
          <a:uFillTx/>
          <a:latin typeface="Calibri"/>
          <a:ea typeface="Calibri"/>
          <a:cs typeface="Calibri"/>
          <a:sym typeface="Calibri"/>
        </a:defRPr>
      </a:lvl4pPr>
      <a:lvl5pPr marL="0" marR="0" indent="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rgbClr val="888888"/>
          </a:solidFill>
          <a:uFillTx/>
          <a:latin typeface="Calibri"/>
          <a:ea typeface="Calibri"/>
          <a:cs typeface="Calibri"/>
          <a:sym typeface="Calibri"/>
        </a:defRPr>
      </a:lvl5pPr>
      <a:lvl6pPr marL="2857500" marR="0" indent="-4572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ts val="2400"/>
        <a:buFontTx/>
        <a:buChar char="•"/>
        <a:tabLst/>
        <a:defRPr sz="2400" b="0" i="0" u="none" strike="noStrike" cap="none" spc="0" baseline="0">
          <a:solidFill>
            <a:srgbClr val="888888"/>
          </a:solidFill>
          <a:uFillTx/>
          <a:latin typeface="Calibri"/>
          <a:ea typeface="Calibri"/>
          <a:cs typeface="Calibri"/>
          <a:sym typeface="Calibri"/>
        </a:defRPr>
      </a:lvl6pPr>
      <a:lvl7pPr marL="3314700" marR="0" indent="-4572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ts val="2400"/>
        <a:buFontTx/>
        <a:buChar char="•"/>
        <a:tabLst/>
        <a:defRPr sz="2400" b="0" i="0" u="none" strike="noStrike" cap="none" spc="0" baseline="0">
          <a:solidFill>
            <a:srgbClr val="888888"/>
          </a:solidFill>
          <a:uFillTx/>
          <a:latin typeface="Calibri"/>
          <a:ea typeface="Calibri"/>
          <a:cs typeface="Calibri"/>
          <a:sym typeface="Calibri"/>
        </a:defRPr>
      </a:lvl7pPr>
      <a:lvl8pPr marL="3771900" marR="0" indent="-4572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ts val="2400"/>
        <a:buFontTx/>
        <a:buChar char="•"/>
        <a:tabLst/>
        <a:defRPr sz="2400" b="0" i="0" u="none" strike="noStrike" cap="none" spc="0" baseline="0">
          <a:solidFill>
            <a:srgbClr val="888888"/>
          </a:solidFill>
          <a:uFillTx/>
          <a:latin typeface="Calibri"/>
          <a:ea typeface="Calibri"/>
          <a:cs typeface="Calibri"/>
          <a:sym typeface="Calibri"/>
        </a:defRPr>
      </a:lvl8pPr>
      <a:lvl9pPr marL="4229100" marR="0" indent="-4572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ts val="2400"/>
        <a:buFontTx/>
        <a:buChar char="•"/>
        <a:tabLst/>
        <a:defRPr sz="2400" b="0" i="0" u="none" strike="noStrike" cap="none" spc="0" baseline="0">
          <a:solidFill>
            <a:srgbClr val="888888"/>
          </a:solidFill>
          <a:uFillTx/>
          <a:latin typeface="Calibri"/>
          <a:ea typeface="Calibri"/>
          <a:cs typeface="Calibri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77;p1"/>
          <p:cNvSpPr txBox="1"/>
          <p:nvPr/>
        </p:nvSpPr>
        <p:spPr>
          <a:xfrm>
            <a:off x="0" y="3291348"/>
            <a:ext cx="7390897" cy="24857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>
            <a:spAutoFit/>
          </a:bodyPr>
          <a:lstStyle>
            <a:lvl1pPr algn="ctr">
              <a:lnSpc>
                <a:spcPct val="150000"/>
              </a:lnSpc>
              <a:defRPr sz="3600" b="1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dirty="0"/>
              <a:t>INDUSTRY ORIENTED MINI PROJECT (IOMP) </a:t>
            </a:r>
            <a:endParaRPr lang="en-US" dirty="0"/>
          </a:p>
          <a:p>
            <a:r>
              <a:rPr dirty="0"/>
              <a:t>REVIEW </a:t>
            </a:r>
            <a:r>
              <a:rPr lang="en-IN" dirty="0"/>
              <a:t>–</a:t>
            </a:r>
            <a:r>
              <a:rPr dirty="0"/>
              <a:t> I</a:t>
            </a:r>
            <a:r>
              <a:rPr lang="en-US" dirty="0"/>
              <a:t> &amp; II</a:t>
            </a:r>
            <a:endParaRPr dirty="0"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89;p2"/>
          <p:cNvSpPr txBox="1"/>
          <p:nvPr/>
        </p:nvSpPr>
        <p:spPr>
          <a:xfrm>
            <a:off x="1280634" y="1131215"/>
            <a:ext cx="10288252" cy="36776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>
            <a:spAutoFit/>
          </a:bodyPr>
          <a:lstStyle/>
          <a:p>
            <a:pPr algn="ctr">
              <a:defRPr sz="24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BATCH - 2 </a:t>
            </a:r>
          </a:p>
          <a:p>
            <a:pPr marL="285750" indent="-311150">
              <a:lnSpc>
                <a:spcPct val="150000"/>
              </a:lnSpc>
              <a:buClr>
                <a:srgbClr val="000000"/>
              </a:buClr>
              <a:buSzPts val="2200"/>
              <a:buFont typeface="Calibri"/>
              <a:buChar char="•"/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PULKATI DHANA LAXMI                       -       23QM1A6695</a:t>
            </a:r>
          </a:p>
          <a:p>
            <a:pPr marL="285750" indent="-311150">
              <a:lnSpc>
                <a:spcPct val="150000"/>
              </a:lnSpc>
              <a:buClr>
                <a:srgbClr val="000000"/>
              </a:buClr>
              <a:buSzPts val="2200"/>
              <a:buFont typeface="Calibri"/>
              <a:buChar char="•"/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RAVELLA PRANATHI	                      -       23QM1A66A1</a:t>
            </a:r>
          </a:p>
          <a:p>
            <a:pPr marL="285750" indent="-311150">
              <a:lnSpc>
                <a:spcPct val="150000"/>
              </a:lnSpc>
              <a:buClr>
                <a:srgbClr val="000000"/>
              </a:buClr>
              <a:buSzPts val="2200"/>
              <a:buFont typeface="Calibri"/>
              <a:buChar char="•"/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PEDDA KURVA SHIVA KUMAR	         -       23QM1A6691</a:t>
            </a:r>
          </a:p>
          <a:p>
            <a:pPr marL="285750" indent="-311150">
              <a:lnSpc>
                <a:spcPct val="150000"/>
              </a:lnSpc>
              <a:buClr>
                <a:srgbClr val="000000"/>
              </a:buClr>
              <a:buSzPts val="2200"/>
              <a:buFont typeface="Calibri"/>
              <a:buChar char="•"/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NENAVATH JYOTHI                                 -       23QM1A6682</a:t>
            </a:r>
          </a:p>
          <a:p>
            <a:pPr>
              <a:lnSpc>
                <a:spcPct val="150000"/>
              </a:lnSpc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 </a:t>
            </a:r>
          </a:p>
          <a:p>
            <a:pPr marL="457200" indent="-342900">
              <a:lnSpc>
                <a:spcPct val="150000"/>
              </a:lnSpc>
              <a:buClr>
                <a:srgbClr val="000000"/>
              </a:buClr>
              <a:buSzPts val="2200"/>
              <a:buFont typeface="Arial"/>
              <a:buChar char="•"/>
              <a:defRPr sz="2200"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Text Box 1"/>
          <p:cNvSpPr txBox="1"/>
          <p:nvPr/>
        </p:nvSpPr>
        <p:spPr>
          <a:xfrm>
            <a:off x="1061943" y="2409857"/>
            <a:ext cx="9971407" cy="10139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3200" b="1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EarlyBloom - AI-Based Multimodal Early Autism Screening System</a:t>
            </a:r>
          </a:p>
        </p:txBody>
      </p:sp>
      <p:sp>
        <p:nvSpPr>
          <p:cNvPr id="118" name="TextBox 2"/>
          <p:cNvSpPr txBox="1"/>
          <p:nvPr/>
        </p:nvSpPr>
        <p:spPr>
          <a:xfrm>
            <a:off x="1061943" y="510987"/>
            <a:ext cx="3945556" cy="5070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3000" b="1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Title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Text Box 1"/>
          <p:cNvSpPr txBox="1"/>
          <p:nvPr/>
        </p:nvSpPr>
        <p:spPr>
          <a:xfrm>
            <a:off x="1054734" y="1292225"/>
            <a:ext cx="9904732" cy="38503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/>
          <a:p>
            <a:pPr marL="342900" indent="-342900">
              <a:buClr>
                <a:srgbClr val="000000"/>
              </a:buClr>
              <a:buSzPct val="100000"/>
              <a:buFont typeface="Arial"/>
              <a:buChar char="•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2200" dirty="0"/>
              <a:t>Early detection of Autism Spectrum Disorder (ASD) is crucial for timely intervention and improved developmental outcomes. </a:t>
            </a:r>
          </a:p>
          <a:p>
            <a:pPr marL="342900" indent="-342900">
              <a:buClr>
                <a:srgbClr val="000000"/>
              </a:buClr>
              <a:buSzPct val="100000"/>
              <a:buFont typeface="Arial"/>
              <a:buChar char="•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2200" dirty="0"/>
              <a:t>Traditional diagnosis requires trained specialists and is often time-consuming and expensive. </a:t>
            </a:r>
          </a:p>
          <a:p>
            <a:pPr marL="342900" indent="-342900">
              <a:buClr>
                <a:srgbClr val="000000"/>
              </a:buClr>
              <a:buSzPct val="100000"/>
              <a:buFont typeface="Arial"/>
              <a:buChar char="•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2200" dirty="0"/>
              <a:t>Many parents lack access to early screening tools, especially in remote or underserved areas. </a:t>
            </a:r>
          </a:p>
          <a:p>
            <a:pPr marL="342900" indent="-342900">
              <a:buClr>
                <a:srgbClr val="000000"/>
              </a:buClr>
              <a:buSzPct val="100000"/>
              <a:buFont typeface="Arial"/>
              <a:buChar char="•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2200" dirty="0"/>
              <a:t>Delayed identification can negatively impact a child’s cognitive, social, and communication development. </a:t>
            </a:r>
          </a:p>
          <a:p>
            <a:pPr>
              <a:defRPr sz="24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2200" dirty="0"/>
              <a:t>Need:</a:t>
            </a:r>
            <a:br>
              <a:rPr sz="2200" dirty="0"/>
            </a:br>
            <a:r>
              <a:rPr sz="2200" b="0" dirty="0"/>
              <a:t>There is a need for an accessible, cost-effective, and technology-driven early screening solution.</a:t>
            </a:r>
          </a:p>
        </p:txBody>
      </p:sp>
      <p:sp>
        <p:nvSpPr>
          <p:cNvPr id="121" name="Text Box 2"/>
          <p:cNvSpPr txBox="1"/>
          <p:nvPr/>
        </p:nvSpPr>
        <p:spPr>
          <a:xfrm>
            <a:off x="1054734" y="451696"/>
            <a:ext cx="3872600" cy="5070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3000" b="1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Problem Identification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3" name="Table 3"/>
          <p:cNvGraphicFramePr/>
          <p:nvPr/>
        </p:nvGraphicFramePr>
        <p:xfrm>
          <a:off x="466197" y="1103970"/>
          <a:ext cx="11438022" cy="5659923"/>
        </p:xfrm>
        <a:graphic>
          <a:graphicData uri="http://schemas.openxmlformats.org/drawingml/2006/table">
            <a:tbl>
              <a:tblPr firstRow="1" bandRow="1">
                <a:tableStyleId>{4C3C2611-4C71-4FC5-86AE-919BDF0F9419}</a:tableStyleId>
              </a:tblPr>
              <a:tblGrid>
                <a:gridCol w="4258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640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36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70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978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5574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8420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92194">
                <a:tc>
                  <a:txBody>
                    <a:bodyPr/>
                    <a:lstStyle/>
                    <a:p>
                      <a:pPr algn="l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 No</a:t>
                      </a:r>
                    </a:p>
                  </a:txBody>
                  <a:tcPr marL="60960" marR="60960" marT="60960" marB="60960" anchor="b" horzOverflow="overflow"/>
                </a:tc>
                <a:tc>
                  <a:txBody>
                    <a:bodyPr/>
                    <a:lstStyle/>
                    <a:p>
                      <a:pPr algn="l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Paper Title</a:t>
                      </a:r>
                    </a:p>
                  </a:txBody>
                  <a:tcPr marL="60960" marR="60960" marT="60960" marB="60960" anchor="b" horzOverflow="overflow"/>
                </a:tc>
                <a:tc>
                  <a:txBody>
                    <a:bodyPr/>
                    <a:lstStyle/>
                    <a:p>
                      <a:pPr algn="l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Year</a:t>
                      </a:r>
                    </a:p>
                  </a:txBody>
                  <a:tcPr marL="60960" marR="60960" marT="60960" marB="60960" anchor="b" horzOverflow="overflow"/>
                </a:tc>
                <a:tc>
                  <a:txBody>
                    <a:bodyPr/>
                    <a:lstStyle/>
                    <a:p>
                      <a:pPr algn="l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Journal</a:t>
                      </a:r>
                    </a:p>
                  </a:txBody>
                  <a:tcPr marL="60960" marR="60960" marT="60960" marB="60960" anchor="b" horzOverflow="overflow"/>
                </a:tc>
                <a:tc>
                  <a:txBody>
                    <a:bodyPr/>
                    <a:lstStyle/>
                    <a:p>
                      <a:pPr algn="l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Methodology / Algorithm</a:t>
                      </a:r>
                    </a:p>
                  </a:txBody>
                  <a:tcPr marL="60960" marR="60960" marT="60960" marB="60960" anchor="b" horzOverflow="overflow"/>
                </a:tc>
                <a:tc>
                  <a:txBody>
                    <a:bodyPr/>
                    <a:lstStyle/>
                    <a:p>
                      <a:pPr algn="l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Findings</a:t>
                      </a:r>
                    </a:p>
                  </a:txBody>
                  <a:tcPr marL="60960" marR="60960" marT="60960" marB="60960" anchor="b" horzOverflow="overflow"/>
                </a:tc>
                <a:tc>
                  <a:txBody>
                    <a:bodyPr/>
                    <a:lstStyle/>
                    <a:p>
                      <a:pPr algn="l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Drawbacks</a:t>
                      </a:r>
                    </a:p>
                  </a:txBody>
                  <a:tcPr marL="60960" marR="60960" marT="60960" marB="60960" anchor="b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3881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1 </a:t>
                      </a:r>
                    </a:p>
                  </a:txBody>
                  <a:tcPr marL="45720" marR="45720" anchor="ctr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Artificial Intelligence-Based Multimodal Behavioral Analysis for Early Autism Detection in Children</a:t>
                      </a:r>
                    </a:p>
                  </a:txBody>
                  <a:tcPr marL="45720" marR="45720" anchor="ctr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2026</a:t>
                      </a:r>
                    </a:p>
                  </a:txBody>
                  <a:tcPr marL="45720" marR="45720" anchor="ctr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Preprint</a:t>
                      </a:r>
                    </a:p>
                  </a:txBody>
                  <a:tcPr marL="45720" marR="45720" anchor="ctr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Multimodal (facial expressions, eye gaze, speech, motor activity); CNN, SVM, Random Forest</a:t>
                      </a:r>
                    </a:p>
                  </a:txBody>
                  <a:tcPr marL="45720" marR="45720" anchor="ctr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Multimodal RF: 92% accuracy; CNN video: 87%; SVM speech: 82%; multimodal &gt; single-modality </a:t>
                      </a:r>
                    </a:p>
                  </a:txBody>
                  <a:tcPr marL="45720" marR="45720" anchor="ctr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Limited dataset diversity; potential bias; ethical/privacy concerns; needs clinical validation </a:t>
                      </a:r>
                    </a:p>
                  </a:txBody>
                  <a:tcPr marL="45720" marR="45720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53221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2 </a:t>
                      </a:r>
                    </a:p>
                  </a:txBody>
                  <a:tcPr marL="45720" marR="45720" anchor="ctr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Video-audio neural network ensemble for comprehensive screening of autism spectrum disorder in young children</a:t>
                      </a:r>
                    </a:p>
                  </a:txBody>
                  <a:tcPr marL="45720" marR="45720" anchor="ctr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2024</a:t>
                      </a:r>
                    </a:p>
                  </a:txBody>
                  <a:tcPr marL="45720" marR="45720" anchor="ctr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PLOS ONE</a:t>
                      </a:r>
                    </a:p>
                  </a:txBody>
                  <a:tcPr marL="45720" marR="45720" anchor="ctr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Video (VGG16-LSTM on OpenPose segments); Audio (1D-CNN on MFCC/chroma/etc.); Ensemble (decision tree)</a:t>
                      </a:r>
                    </a:p>
                  </a:txBody>
                  <a:tcPr marL="45720" marR="45720" anchor="ctr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Ensemble: 82.5% acc, F1 0.816; Video: 80%; Audio: 78.8%; tunable sensitivity/specificity </a:t>
                      </a:r>
                    </a:p>
                  </a:txBody>
                  <a:tcPr marL="45720" marR="45720" anchor="ctr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Limited to ADOS sessions; no early fusion; small test set (80 videos); clinical scalability untested </a:t>
                      </a:r>
                    </a:p>
                  </a:txBody>
                  <a:tcPr marL="45720" marR="45720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53221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3 </a:t>
                      </a:r>
                    </a:p>
                  </a:txBody>
                  <a:tcPr marL="45720" marR="45720" anchor="ctr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Computer Vision-Based Assessment of Autistic Children: Analyzing Interactions, Emotions, Human Pose, and Life Skills</a:t>
                      </a:r>
                    </a:p>
                  </a:txBody>
                  <a:tcPr marL="45720" marR="45720" anchor="ctr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2023</a:t>
                      </a:r>
                    </a:p>
                  </a:txBody>
                  <a:tcPr marL="45720" marR="45720" anchor="ctr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IEEE Access</a:t>
                      </a:r>
                    </a:p>
                  </a:txBody>
                  <a:tcPr marL="45720" marR="45720" anchor="ctr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Activity: Spatio-temporal transformer (AVA dataset); FER: ResNet-34; JA: Head/hand pose (YOLO + Euler angles)</a:t>
                      </a:r>
                    </a:p>
                  </a:txBody>
                  <a:tcPr marL="45720" marR="45720" anchor="ctr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Activity: 72.3% acc; FER: 95.1%; JA gaze: 97%, pointing: 93.4%; real-time on 68 videos </a:t>
                      </a:r>
                    </a:p>
                  </a:txBody>
                  <a:tcPr marL="45720" marR="45720" anchor="ctr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Limited action classes (10); assumes 2-person; crowd/occlusion issues; needs larger ASD-specific data </a:t>
                      </a:r>
                    </a:p>
                  </a:txBody>
                  <a:tcPr marL="45720" marR="45720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4" name="Text Box 4"/>
          <p:cNvSpPr txBox="1"/>
          <p:nvPr/>
        </p:nvSpPr>
        <p:spPr>
          <a:xfrm>
            <a:off x="1036955" y="466579"/>
            <a:ext cx="3953558" cy="5070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3000" b="1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Literature Survey</a:t>
            </a: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6" name="Table 3"/>
          <p:cNvGraphicFramePr/>
          <p:nvPr/>
        </p:nvGraphicFramePr>
        <p:xfrm>
          <a:off x="385010" y="1190469"/>
          <a:ext cx="11454062" cy="4780839"/>
        </p:xfrm>
        <a:graphic>
          <a:graphicData uri="http://schemas.openxmlformats.org/drawingml/2006/table">
            <a:tbl>
              <a:tblPr firstRow="1" bandRow="1">
                <a:tableStyleId>{4C3C2611-4C71-4FC5-86AE-919BDF0F9419}</a:tableStyleId>
              </a:tblPr>
              <a:tblGrid>
                <a:gridCol w="6589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95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62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34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336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21381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169837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1000"/>
                        </a:spcBef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 No</a:t>
                      </a:r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1000"/>
                        </a:spcBef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Paper Title</a:t>
                      </a:r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1000"/>
                        </a:spcBef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Year</a:t>
                      </a:r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1000"/>
                        </a:spcBef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Journal</a:t>
                      </a:r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1000"/>
                        </a:spcBef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Methodology / Algorithm</a:t>
                      </a:r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1000"/>
                        </a:spcBef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Findings</a:t>
                      </a:r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1000"/>
                        </a:spcBef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Drawbacks</a:t>
                      </a:r>
                    </a:p>
                  </a:txBody>
                  <a:tcPr marL="0" marR="0" marT="0" marB="0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5501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1000"/>
                        </a:spcBef>
                        <a:defRPr sz="1800"/>
                      </a:pPr>
                      <a:r>
                        <a:rPr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1000"/>
                        </a:spcBef>
                        <a:defRPr sz="1800"/>
                      </a:pPr>
                      <a:r>
                        <a:rPr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 Machine Learning Framework for Early-Stage Detection of Autism Spectrum Disorders</a:t>
                      </a:r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1000"/>
                        </a:spcBef>
                        <a:defRPr sz="1800"/>
                      </a:pPr>
                      <a:r>
                        <a:rPr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2023</a:t>
                      </a:r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1000"/>
                        </a:spcBef>
                        <a:defRPr sz="1800"/>
                      </a:pPr>
                      <a:r>
                        <a:rPr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IEEE Access</a:t>
                      </a:r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1000"/>
                        </a:spcBef>
                        <a:defRPr sz="1800"/>
                      </a:pPr>
                      <a:r>
                        <a:rPr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Feature Selection + ML (AB, RF, SVM, LDA)</a:t>
                      </a:r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1000"/>
                        </a:spcBef>
                        <a:defRPr sz="1800"/>
                      </a:pPr>
                      <a:r>
                        <a:rPr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Up to 99.25% accuracy (Toddlers dataset)</a:t>
                      </a:r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1000"/>
                        </a:spcBef>
                        <a:defRPr sz="1800"/>
                      </a:pPr>
                      <a:r>
                        <a:rPr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 clinical validation; oversampling used</a:t>
                      </a:r>
                    </a:p>
                  </a:txBody>
                  <a:tcPr marL="0" marR="0" marT="0" marB="0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5501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1000"/>
                        </a:spcBef>
                        <a:defRPr sz="1800"/>
                      </a:pPr>
                      <a:r>
                        <a:rPr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1000"/>
                        </a:spcBef>
                        <a:defRPr sz="1800"/>
                      </a:pPr>
                      <a:r>
                        <a:rPr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Machine Learning Prediction of Autism Spectrum Disorder From Minimal Medical Information</a:t>
                      </a:r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1000"/>
                        </a:spcBef>
                        <a:defRPr sz="1800"/>
                      </a:pPr>
                      <a:r>
                        <a:rPr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2024</a:t>
                      </a:r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1000"/>
                        </a:spcBef>
                        <a:defRPr sz="1800"/>
                      </a:pPr>
                      <a:r>
                        <a:rPr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JAMA Network Open</a:t>
                      </a:r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1000"/>
                        </a:spcBef>
                        <a:defRPr sz="1800"/>
                      </a:pPr>
                      <a:r>
                        <a:rPr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XGBoost with SHAP explainability</a:t>
                      </a:r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1000"/>
                        </a:spcBef>
                        <a:defRPr sz="1800"/>
                      </a:pPr>
                      <a:r>
                        <a:rPr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AUROC up to 0.895 (train dataset)</a:t>
                      </a:r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1000"/>
                        </a:spcBef>
                        <a:defRPr sz="1800"/>
                      </a:pPr>
                      <a:r>
                        <a:rPr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Needs multi-site validation; parent-report bias</a:t>
                      </a:r>
                    </a:p>
                  </a:txBody>
                  <a:tcPr marL="0" marR="0" marT="0" marB="0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8" name="Table 3"/>
          <p:cNvGraphicFramePr/>
          <p:nvPr/>
        </p:nvGraphicFramePr>
        <p:xfrm>
          <a:off x="385010" y="1190469"/>
          <a:ext cx="11454062" cy="4780839"/>
        </p:xfrm>
        <a:graphic>
          <a:graphicData uri="http://schemas.openxmlformats.org/drawingml/2006/table">
            <a:tbl>
              <a:tblPr firstRow="1" bandRow="1">
                <a:tableStyleId>{4C3C2611-4C71-4FC5-86AE-919BDF0F9419}</a:tableStyleId>
              </a:tblPr>
              <a:tblGrid>
                <a:gridCol w="6589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91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62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37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336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21381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169837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1000"/>
                        </a:spcBef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 No</a:t>
                      </a:r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1000"/>
                        </a:spcBef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Paper Title</a:t>
                      </a:r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1000"/>
                        </a:spcBef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Year</a:t>
                      </a:r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1000"/>
                        </a:spcBef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Journal</a:t>
                      </a:r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1000"/>
                        </a:spcBef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Methodology / Algorithm</a:t>
                      </a:r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1000"/>
                        </a:spcBef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Findings</a:t>
                      </a:r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1000"/>
                        </a:spcBef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Drawbacks</a:t>
                      </a:r>
                    </a:p>
                  </a:txBody>
                  <a:tcPr marL="0" marR="0" marT="0" marB="0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5501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1000"/>
                        </a:spcBef>
                        <a:defRPr sz="1800"/>
                      </a:pPr>
                      <a:r>
                        <a:rPr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1000"/>
                        </a:spcBef>
                        <a:defRPr sz="1800"/>
                      </a:pPr>
                      <a:r>
                        <a:rPr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Deep Learning Autism Classification and Prediction</a:t>
                      </a:r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1000"/>
                        </a:spcBef>
                        <a:defRPr sz="1800"/>
                      </a:pPr>
                      <a:r>
                        <a:rPr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2024</a:t>
                      </a:r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1000"/>
                        </a:spcBef>
                        <a:defRPr sz="1800"/>
                      </a:pPr>
                      <a:r>
                        <a:rPr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International Robotics &amp; Automation Journal</a:t>
                      </a:r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1000"/>
                        </a:spcBef>
                        <a:defRPr sz="1800"/>
                      </a:pPr>
                      <a:r>
                        <a:rPr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CNN on facial image dataset</a:t>
                      </a:r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1000"/>
                        </a:spcBef>
                        <a:defRPr sz="1800"/>
                      </a:pPr>
                      <a:r>
                        <a:rPr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94% accuracy on image dataset</a:t>
                      </a:r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1000"/>
                        </a:spcBef>
                        <a:defRPr sz="1800"/>
                      </a:pPr>
                      <a:r>
                        <a:rPr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Limited dataset; no clinical comparison</a:t>
                      </a:r>
                    </a:p>
                  </a:txBody>
                  <a:tcPr marL="0" marR="0" marT="0" marB="0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5501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1000"/>
                        </a:spcBef>
                        <a:defRPr sz="1800"/>
                      </a:pPr>
                      <a:r>
                        <a:rPr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1000"/>
                        </a:spcBef>
                        <a:defRPr sz="1800"/>
                      </a:pPr>
                      <a:r>
                        <a:rPr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Early Detection of Autism Spectrum Disorder Using Gait Deviations and ML</a:t>
                      </a:r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1000"/>
                        </a:spcBef>
                        <a:defRPr sz="1800"/>
                      </a:pPr>
                      <a:r>
                        <a:rPr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2025</a:t>
                      </a:r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1000"/>
                        </a:spcBef>
                        <a:defRPr sz="1800"/>
                      </a:pPr>
                      <a:r>
                        <a:rPr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Scientific Reports</a:t>
                      </a:r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1000"/>
                        </a:spcBef>
                        <a:defRPr sz="1800"/>
                      </a:pPr>
                      <a:r>
                        <a:rPr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MediaPipe pose estimation + ML classifiers</a:t>
                      </a:r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1000"/>
                        </a:spcBef>
                        <a:defRPr sz="1800"/>
                      </a:pPr>
                      <a:r>
                        <a:rPr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82% accuracy, AUC 0.97</a:t>
                      </a:r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1000"/>
                        </a:spcBef>
                        <a:defRPr sz="1800"/>
                      </a:pPr>
                      <a:r>
                        <a:rPr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Small sample size; 2D pose limitations</a:t>
                      </a:r>
                    </a:p>
                  </a:txBody>
                  <a:tcPr marL="0" marR="0" marT="0" marB="0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0" name="Table 3"/>
          <p:cNvGraphicFramePr/>
          <p:nvPr/>
        </p:nvGraphicFramePr>
        <p:xfrm>
          <a:off x="385010" y="1190469"/>
          <a:ext cx="11454062" cy="4915771"/>
        </p:xfrm>
        <a:graphic>
          <a:graphicData uri="http://schemas.openxmlformats.org/drawingml/2006/table">
            <a:tbl>
              <a:tblPr firstRow="1" bandRow="1">
                <a:tableStyleId>{4C3C2611-4C71-4FC5-86AE-919BDF0F9419}</a:tableStyleId>
              </a:tblPr>
              <a:tblGrid>
                <a:gridCol w="6589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91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62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37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336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21381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169837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1000"/>
                        </a:spcBef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 No</a:t>
                      </a:r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1000"/>
                        </a:spcBef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Paper Title</a:t>
                      </a:r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1000"/>
                        </a:spcBef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Year</a:t>
                      </a:r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1000"/>
                        </a:spcBef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Journal</a:t>
                      </a:r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1000"/>
                        </a:spcBef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Methodology / Algorithm</a:t>
                      </a:r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1000"/>
                        </a:spcBef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Findings</a:t>
                      </a:r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1000"/>
                        </a:spcBef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Drawbacks</a:t>
                      </a:r>
                    </a:p>
                  </a:txBody>
                  <a:tcPr marL="0" marR="0" marT="0" marB="0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5501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1000"/>
                        </a:spcBef>
                        <a:defRPr sz="1800"/>
                      </a:pPr>
                      <a:r>
                        <a:rPr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1000"/>
                        </a:spcBef>
                        <a:defRPr sz="1800"/>
                      </a:pPr>
                      <a:r>
                        <a:rPr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Detection of Autism Spectrum Disorder in Children Using Machine Learning Techniques</a:t>
                      </a:r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1000"/>
                        </a:spcBef>
                        <a:defRPr sz="1800"/>
                      </a:pPr>
                      <a:r>
                        <a:rPr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2021</a:t>
                      </a:r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1000"/>
                        </a:spcBef>
                        <a:defRPr sz="1800"/>
                      </a:pPr>
                      <a:r>
                        <a:rPr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SN Computer Science</a:t>
                      </a:r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1000"/>
                        </a:spcBef>
                        <a:defRPr sz="1800"/>
                      </a:pPr>
                      <a:r>
                        <a:rPr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LR, NB, SVM, KNN, RFC classifiers</a:t>
                      </a:r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1000"/>
                        </a:spcBef>
                        <a:defRPr sz="1800"/>
                      </a:pPr>
                      <a:r>
                        <a:rPr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LR achieved 97.15% accuracy</a:t>
                      </a:r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1000"/>
                        </a:spcBef>
                        <a:defRPr sz="1800"/>
                      </a:pPr>
                      <a:r>
                        <a:rPr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Small dataset; class imbalance; limited to toddlers</a:t>
                      </a:r>
                    </a:p>
                  </a:txBody>
                  <a:tcPr marL="0" marR="0" marT="0" marB="0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5501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1000"/>
                        </a:spcBef>
                        <a:defRPr sz="1800"/>
                      </a:pPr>
                      <a:r>
                        <a:rPr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1000"/>
                        </a:spcBef>
                        <a:defRPr sz="1800"/>
                      </a:pPr>
                      <a:r>
                        <a:rPr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 Novel Automated Autism Spectrum Disorder Detection System</a:t>
                      </a:r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1000"/>
                        </a:spcBef>
                        <a:defRPr sz="1800"/>
                      </a:pPr>
                      <a:r>
                        <a:rPr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2021</a:t>
                      </a:r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1000"/>
                        </a:spcBef>
                        <a:defRPr sz="1800"/>
                      </a:pPr>
                      <a:r>
                        <a:rPr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Complex &amp; Intelligent Systems</a:t>
                      </a:r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1000"/>
                        </a:spcBef>
                        <a:defRPr sz="1800"/>
                      </a:pPr>
                      <a:r>
                        <a:rPr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EEG features + SVM with polynomial kernel</a:t>
                      </a:r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1000"/>
                        </a:spcBef>
                        <a:defRPr sz="1800"/>
                      </a:pPr>
                      <a:r>
                        <a:rPr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98.70% accuracy with selected features</a:t>
                      </a:r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1000"/>
                        </a:spcBef>
                        <a:defRPr sz="1800"/>
                      </a:pPr>
                      <a:r>
                        <a:rPr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Limited dataset; manual feature extraction</a:t>
                      </a:r>
                    </a:p>
                  </a:txBody>
                  <a:tcPr marL="0" marR="0" marT="0" marB="0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2" name="Table 3"/>
          <p:cNvGraphicFramePr/>
          <p:nvPr/>
        </p:nvGraphicFramePr>
        <p:xfrm>
          <a:off x="385010" y="1190469"/>
          <a:ext cx="11454062" cy="4915771"/>
        </p:xfrm>
        <a:graphic>
          <a:graphicData uri="http://schemas.openxmlformats.org/drawingml/2006/table">
            <a:tbl>
              <a:tblPr firstRow="1" bandRow="1">
                <a:tableStyleId>{4C3C2611-4C71-4FC5-86AE-919BDF0F9419}</a:tableStyleId>
              </a:tblPr>
              <a:tblGrid>
                <a:gridCol w="6589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91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62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37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336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21381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169837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1000"/>
                        </a:spcBef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 No</a:t>
                      </a:r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1000"/>
                        </a:spcBef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Paper Title</a:t>
                      </a:r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1000"/>
                        </a:spcBef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Year</a:t>
                      </a:r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1000"/>
                        </a:spcBef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Journal</a:t>
                      </a:r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1000"/>
                        </a:spcBef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Methodology / Algorithm</a:t>
                      </a:r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1000"/>
                        </a:spcBef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Findings</a:t>
                      </a:r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1000"/>
                        </a:spcBef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Drawbacks</a:t>
                      </a:r>
                    </a:p>
                  </a:txBody>
                  <a:tcPr marL="0" marR="0" marT="0" marB="0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5501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1000"/>
                        </a:spcBef>
                        <a:defRPr sz="1800"/>
                      </a:pPr>
                      <a:r>
                        <a:rPr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1000"/>
                        </a:spcBef>
                        <a:defRPr sz="1800"/>
                      </a:pPr>
                      <a:r>
                        <a:rPr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Application of Machine Learning Techniques to Detect Children with ASD</a:t>
                      </a:r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1000"/>
                        </a:spcBef>
                        <a:defRPr sz="1800"/>
                      </a:pPr>
                      <a:r>
                        <a:rPr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2022</a:t>
                      </a:r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1000"/>
                        </a:spcBef>
                        <a:defRPr sz="1800"/>
                      </a:pPr>
                      <a:r>
                        <a:rPr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Journal of Healthcare Engineering</a:t>
                      </a:r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1000"/>
                        </a:spcBef>
                        <a:defRPr sz="1800"/>
                      </a:pPr>
                      <a:r>
                        <a:rPr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Multimodal fusion (EEG + eye fixation + facial expression)</a:t>
                      </a:r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1000"/>
                        </a:spcBef>
                        <a:defRPr sz="1800"/>
                      </a:pPr>
                      <a:r>
                        <a:rPr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87.5% accuracy using hybrid fusion</a:t>
                      </a:r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1000"/>
                        </a:spcBef>
                        <a:defRPr sz="1800"/>
                      </a:pPr>
                      <a:r>
                        <a:rPr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Small sample size (80 children); variability issues</a:t>
                      </a:r>
                    </a:p>
                  </a:txBody>
                  <a:tcPr marL="0" marR="0" marT="0" marB="0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5501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1000"/>
                        </a:spcBef>
                        <a:defRPr sz="1800"/>
                      </a:pPr>
                      <a:r>
                        <a:rPr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</a:t>
                      </a:r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1000"/>
                        </a:spcBef>
                        <a:defRPr sz="1800"/>
                      </a:pPr>
                      <a:r>
                        <a:rPr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Detection of Autism Spectrum Disorder in Children and Adults Using Machine Learning</a:t>
                      </a:r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1000"/>
                        </a:spcBef>
                        <a:defRPr sz="1800"/>
                      </a:pPr>
                      <a:r>
                        <a:rPr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2023</a:t>
                      </a:r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1000"/>
                        </a:spcBef>
                        <a:defRPr sz="1800"/>
                      </a:pPr>
                      <a:r>
                        <a:rPr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Scientific Reports</a:t>
                      </a:r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1000"/>
                        </a:spcBef>
                        <a:defRPr sz="1800"/>
                      </a:pPr>
                      <a:r>
                        <a:rPr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Federated Learning with SVM and LR</a:t>
                      </a:r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1000"/>
                        </a:spcBef>
                        <a:defRPr sz="1800"/>
                      </a:pPr>
                      <a:r>
                        <a:rPr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Up to 99% accuracy for children dataset</a:t>
                      </a:r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1000"/>
                        </a:spcBef>
                        <a:defRPr sz="1800"/>
                      </a:pPr>
                      <a:r>
                        <a:rPr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Communication overhead; small dataset</a:t>
                      </a:r>
                    </a:p>
                  </a:txBody>
                  <a:tcPr marL="0" marR="0" marT="0" marB="0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Text Box 1"/>
          <p:cNvSpPr txBox="1"/>
          <p:nvPr/>
        </p:nvSpPr>
        <p:spPr>
          <a:xfrm>
            <a:off x="1054734" y="1292225"/>
            <a:ext cx="9904732" cy="34778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>
              <a:spcBef>
                <a:spcPts val="1700"/>
              </a:spcBef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sz="2200" dirty="0"/>
              <a:t>Early detection of Autism Spectrum Disorder (ASD) is essential for providing timely intervention and improving developmental outcomes in children. However, existing diagnostic methods are often time-consuming, expensive, and require access to trained medical professionals, making them less accessible to many families. Additionally, most current screening approaches rely on a single type of data, such as questionnaires, which may not capture the complete behavioral profile of a child. Therefore, there is a need to develop an accessible, cost-effective, and technology-driven system that leverages multiple data sources, including questionnaire responses, video, and audio inputs, to assist in early autism screening and provide a more comprehensive assessment of behavioral patterns.</a:t>
            </a:r>
          </a:p>
        </p:txBody>
      </p:sp>
      <p:sp>
        <p:nvSpPr>
          <p:cNvPr id="135" name="Text Box 2"/>
          <p:cNvSpPr txBox="1"/>
          <p:nvPr/>
        </p:nvSpPr>
        <p:spPr>
          <a:xfrm>
            <a:off x="956261" y="392185"/>
            <a:ext cx="7080133" cy="5070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3000" b="1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Problem Statement Documentation</a:t>
            </a:r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Text Box 2"/>
          <p:cNvSpPr txBox="1"/>
          <p:nvPr/>
        </p:nvSpPr>
        <p:spPr>
          <a:xfrm>
            <a:off x="1054733" y="448456"/>
            <a:ext cx="5202025" cy="5070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3000" b="1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Dataset Identification</a:t>
            </a:r>
          </a:p>
        </p:txBody>
      </p:sp>
      <p:sp>
        <p:nvSpPr>
          <p:cNvPr id="138" name="TextBox 5"/>
          <p:cNvSpPr txBox="1"/>
          <p:nvPr/>
        </p:nvSpPr>
        <p:spPr>
          <a:xfrm>
            <a:off x="1054735" y="1406013"/>
            <a:ext cx="10344293" cy="17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24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2200" dirty="0"/>
              <a:t>Questionnaire Dataset:</a:t>
            </a:r>
            <a:r>
              <a:rPr sz="2200" b="0" dirty="0"/>
              <a:t> Early Autism Screening Dataset for Toddlers </a:t>
            </a:r>
          </a:p>
          <a:p>
            <a:pPr marL="342900" lvl="1" indent="-342900">
              <a:buClr>
                <a:srgbClr val="000000"/>
              </a:buClr>
              <a:buSzPct val="100000"/>
              <a:buFont typeface="Arial"/>
              <a:buChar char="•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2200" dirty="0"/>
              <a:t>Contains behavioral, demographic, and medical features </a:t>
            </a:r>
          </a:p>
          <a:p>
            <a:pPr marL="342900" lvl="1" indent="-342900">
              <a:buClr>
                <a:srgbClr val="000000"/>
              </a:buClr>
              <a:buSzPct val="100000"/>
              <a:buFont typeface="Arial"/>
              <a:buChar char="•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2200" dirty="0"/>
              <a:t>Includes target labels indicating ASD traits </a:t>
            </a:r>
            <a:endParaRPr lang="en-IN" sz="2200" dirty="0"/>
          </a:p>
          <a:p>
            <a:pPr lvl="1"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en-IN" sz="2200" dirty="0"/>
          </a:p>
          <a:p>
            <a:pPr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2200" dirty="0"/>
              <a:t>The dataset is based on real screening data</a:t>
            </a:r>
            <a:r>
              <a:rPr lang="en-US" sz="2200" dirty="0"/>
              <a:t>.</a:t>
            </a:r>
            <a:endParaRPr sz="2200" dirty="0"/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Text Box 2"/>
          <p:cNvSpPr txBox="1"/>
          <p:nvPr/>
        </p:nvSpPr>
        <p:spPr>
          <a:xfrm>
            <a:off x="1054732" y="448456"/>
            <a:ext cx="3923831" cy="5070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3000" b="1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Data Understanding</a:t>
            </a:r>
          </a:p>
        </p:txBody>
      </p:sp>
      <p:sp>
        <p:nvSpPr>
          <p:cNvPr id="141" name="TextBox 5"/>
          <p:cNvSpPr txBox="1"/>
          <p:nvPr/>
        </p:nvSpPr>
        <p:spPr>
          <a:xfrm>
            <a:off x="1054732" y="1258529"/>
            <a:ext cx="10373794" cy="2800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24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2200" dirty="0"/>
              <a:t>Questionnaire Dataset:</a:t>
            </a:r>
          </a:p>
          <a:p>
            <a:pPr marL="342900" indent="-342900">
              <a:buClr>
                <a:srgbClr val="000000"/>
              </a:buClr>
              <a:buSzPct val="100000"/>
              <a:buFont typeface="Arial"/>
              <a:buChar char="•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2200" dirty="0"/>
              <a:t>Features include</a:t>
            </a:r>
            <a:r>
              <a:rPr lang="en-US" sz="2200" dirty="0"/>
              <a:t>:</a:t>
            </a:r>
          </a:p>
          <a:p>
            <a:pPr marL="900000" indent="-342900">
              <a:buClr>
                <a:srgbClr val="000000"/>
              </a:buClr>
              <a:buSzPct val="100000"/>
              <a:buFont typeface="Arial"/>
              <a:buChar char="•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2200" dirty="0">
                <a:latin typeface="Times New Roman"/>
                <a:cs typeface="Times New Roman"/>
              </a:rPr>
              <a:t>B</a:t>
            </a:r>
            <a:r>
              <a:rPr sz="2200" dirty="0">
                <a:latin typeface="Times New Roman"/>
                <a:cs typeface="Times New Roman"/>
              </a:rPr>
              <a:t>ehavioral responses (A1–A10)</a:t>
            </a:r>
            <a:endParaRPr lang="en-US" sz="2200" dirty="0">
              <a:latin typeface="Times New Roman"/>
              <a:cs typeface="Times New Roman"/>
            </a:endParaRPr>
          </a:p>
          <a:p>
            <a:pPr marL="900000" indent="-342900">
              <a:buClr>
                <a:srgbClr val="000000"/>
              </a:buClr>
              <a:buSzPct val="100000"/>
              <a:buFont typeface="Arial"/>
              <a:buChar char="•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2200" dirty="0">
                <a:latin typeface="Times New Roman"/>
                <a:cs typeface="Times New Roman"/>
              </a:rPr>
              <a:t>A</a:t>
            </a:r>
            <a:r>
              <a:rPr sz="2200" dirty="0">
                <a:latin typeface="Times New Roman"/>
                <a:cs typeface="Times New Roman"/>
              </a:rPr>
              <a:t>ge</a:t>
            </a:r>
            <a:endParaRPr lang="en-US" sz="2200" dirty="0">
              <a:latin typeface="Times New Roman"/>
              <a:cs typeface="Times New Roman"/>
            </a:endParaRPr>
          </a:p>
          <a:p>
            <a:pPr marL="900000" indent="-342900">
              <a:buClr>
                <a:srgbClr val="000000"/>
              </a:buClr>
              <a:buSzPct val="100000"/>
              <a:buFont typeface="Arial"/>
              <a:buChar char="•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2200" dirty="0">
                <a:latin typeface="Times New Roman"/>
                <a:cs typeface="Times New Roman"/>
              </a:rPr>
              <a:t>G</a:t>
            </a:r>
            <a:r>
              <a:rPr sz="2200" dirty="0">
                <a:latin typeface="Times New Roman"/>
                <a:cs typeface="Times New Roman"/>
              </a:rPr>
              <a:t>ender</a:t>
            </a:r>
            <a:endParaRPr lang="en-US" sz="2200" dirty="0">
              <a:latin typeface="Times New Roman"/>
              <a:cs typeface="Times New Roman"/>
            </a:endParaRPr>
          </a:p>
          <a:p>
            <a:pPr marL="900000" indent="-342900">
              <a:buClr>
                <a:srgbClr val="000000"/>
              </a:buClr>
              <a:buSzPct val="100000"/>
              <a:buFont typeface="Arial"/>
              <a:buChar char="•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2200" dirty="0">
                <a:latin typeface="Times New Roman"/>
                <a:cs typeface="Times New Roman"/>
              </a:rPr>
              <a:t>F</a:t>
            </a:r>
            <a:r>
              <a:rPr sz="2200" dirty="0">
                <a:latin typeface="Times New Roman"/>
                <a:cs typeface="Times New Roman"/>
              </a:rPr>
              <a:t>amily history and medical conditions </a:t>
            </a:r>
            <a:endParaRPr lang="en-US" sz="2200" dirty="0">
              <a:latin typeface="Times New Roman"/>
              <a:cs typeface="Times New Roman"/>
            </a:endParaRPr>
          </a:p>
          <a:p>
            <a:pPr marL="342900" indent="-342900">
              <a:buClr>
                <a:srgbClr val="000000"/>
              </a:buClr>
              <a:buSzPct val="100000"/>
              <a:buFont typeface="Arial"/>
              <a:buChar char="•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2200" dirty="0"/>
              <a:t>Target variable indicates presence or absence of ASD traits </a:t>
            </a:r>
          </a:p>
          <a:p>
            <a:pPr marL="342900" indent="-342900">
              <a:buClr>
                <a:srgbClr val="000000"/>
              </a:buClr>
              <a:buSzPct val="100000"/>
              <a:buFont typeface="Arial"/>
              <a:buChar char="•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2200" dirty="0"/>
              <a:t>Data is structured and suitable for classification models </a:t>
            </a:r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Text Box 2"/>
          <p:cNvSpPr txBox="1"/>
          <p:nvPr/>
        </p:nvSpPr>
        <p:spPr>
          <a:xfrm>
            <a:off x="1054733" y="448456"/>
            <a:ext cx="5900116" cy="5070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3000" b="1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Tool &amp; Technology Selection</a:t>
            </a:r>
          </a:p>
        </p:txBody>
      </p:sp>
      <p:sp>
        <p:nvSpPr>
          <p:cNvPr id="144" name="TextBox 5"/>
          <p:cNvSpPr txBox="1"/>
          <p:nvPr/>
        </p:nvSpPr>
        <p:spPr>
          <a:xfrm>
            <a:off x="1035483" y="1055873"/>
            <a:ext cx="11156517" cy="52014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24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</a:p>
          <a:p>
            <a:pPr marL="342900" indent="-342900">
              <a:buClr>
                <a:srgbClr val="000000"/>
              </a:buClr>
              <a:buSzPct val="100000"/>
              <a:buFont typeface="Arial"/>
              <a:buChar char="•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 (with Vite) for building user interface </a:t>
            </a:r>
          </a:p>
          <a:p>
            <a:pPr marL="342900" indent="-342900">
              <a:buClr>
                <a:srgbClr val="000000"/>
              </a:buClr>
              <a:buSzPct val="100000"/>
              <a:buFont typeface="Arial"/>
              <a:buChar char="•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TailwindCSS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styling </a:t>
            </a:r>
          </a:p>
          <a:p>
            <a:pPr>
              <a:defRPr sz="24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</a:t>
            </a:r>
          </a:p>
          <a:p>
            <a:pPr marL="342900" indent="-342900">
              <a:buClr>
                <a:srgbClr val="000000"/>
              </a:buClr>
              <a:buSzPct val="100000"/>
              <a:buFont typeface="Arial"/>
              <a:buChar char="•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API development </a:t>
            </a:r>
          </a:p>
          <a:p>
            <a:pPr marL="342900" indent="-342900">
              <a:buClr>
                <a:srgbClr val="000000"/>
              </a:buClr>
              <a:buSzPct val="100000"/>
              <a:buFont typeface="Arial"/>
              <a:buChar char="•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SQLAlchemy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database management </a:t>
            </a:r>
          </a:p>
          <a:p>
            <a:pPr>
              <a:defRPr sz="24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AI/ML Technologies:</a:t>
            </a:r>
          </a:p>
          <a:p>
            <a:pPr marL="285750" indent="-285750">
              <a:buSzPct val="100000"/>
              <a:buFont typeface="Arial"/>
              <a:buChar char="•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 Models: </a:t>
            </a:r>
            <a:r>
              <a:rPr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(for questionnaire-based prediction)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SzPct val="100000"/>
              <a:buFont typeface="Arial"/>
              <a:buChar char="•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IN" sz="2400" dirty="0">
                <a:sym typeface="Times New Roman"/>
              </a:rPr>
              <a:t>gemini-2.5-flash</a:t>
            </a:r>
            <a:endParaRPr sz="22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  <a:sym typeface="Arial"/>
            </a:endParaRPr>
          </a:p>
          <a:p>
            <a:pPr marL="342900" indent="-342900">
              <a:buClr>
                <a:srgbClr val="000000"/>
              </a:buClr>
              <a:buSzPct val="100000"/>
              <a:buFont typeface="Arial"/>
              <a:buChar char="•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OpenCV for video processing and feature extraction </a:t>
            </a:r>
          </a:p>
          <a:p>
            <a:pPr marL="342900" indent="-342900">
              <a:buClr>
                <a:srgbClr val="000000"/>
              </a:buClr>
              <a:buSzPct val="100000"/>
              <a:buFont typeface="Arial"/>
              <a:buChar char="•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Librosa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audio analysis </a:t>
            </a:r>
          </a:p>
          <a:p>
            <a:pPr>
              <a:defRPr sz="24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</a:t>
            </a:r>
          </a:p>
          <a:p>
            <a:pPr marL="342900" indent="-342900">
              <a:buClr>
                <a:srgbClr val="000000"/>
              </a:buClr>
              <a:buSzPct val="100000"/>
              <a:buFont typeface="Arial"/>
              <a:buChar char="•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SQLite </a:t>
            </a:r>
          </a:p>
          <a:p>
            <a:pPr>
              <a:defRPr sz="24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Authentication:</a:t>
            </a:r>
          </a:p>
          <a:p>
            <a:pPr marL="342900" indent="-342900">
              <a:buClr>
                <a:srgbClr val="000000"/>
              </a:buClr>
              <a:buSzPct val="100000"/>
              <a:buFont typeface="Arial"/>
              <a:buChar char="•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JWT (JSON Web Tokens) for secure user login</a:t>
            </a:r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Text Box 2"/>
          <p:cNvSpPr txBox="1"/>
          <p:nvPr/>
        </p:nvSpPr>
        <p:spPr>
          <a:xfrm>
            <a:off x="1054733" y="448456"/>
            <a:ext cx="5900116" cy="5070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3000" b="1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Architecure Diagram</a:t>
            </a:r>
          </a:p>
        </p:txBody>
      </p:sp>
      <p:pic>
        <p:nvPicPr>
          <p:cNvPr id="147" name="pasted-movie.heic" descr="pasted-movie.heic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4574" y="1602498"/>
            <a:ext cx="8009585" cy="429141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Text Box 2"/>
          <p:cNvSpPr txBox="1"/>
          <p:nvPr/>
        </p:nvSpPr>
        <p:spPr>
          <a:xfrm>
            <a:off x="1054732" y="448456"/>
            <a:ext cx="3923831" cy="5070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3000" b="1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Project Planning</a:t>
            </a:r>
          </a:p>
        </p:txBody>
      </p:sp>
      <p:sp>
        <p:nvSpPr>
          <p:cNvPr id="150" name="TextBox 5"/>
          <p:cNvSpPr txBox="1"/>
          <p:nvPr/>
        </p:nvSpPr>
        <p:spPr>
          <a:xfrm>
            <a:off x="1054732" y="1258529"/>
            <a:ext cx="10373794" cy="31645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2200" dirty="0"/>
              <a:t>The project is divided into the following phases:</a:t>
            </a:r>
          </a:p>
          <a:p>
            <a:pPr marL="457200" indent="-457200">
              <a:buClr>
                <a:srgbClr val="000000"/>
              </a:buClr>
              <a:buSzPct val="100000"/>
              <a:buAutoNum type="arabicPeriod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2200" dirty="0"/>
              <a:t>Dataset collection and analysis </a:t>
            </a:r>
          </a:p>
          <a:p>
            <a:pPr marL="457200" indent="-457200">
              <a:buClr>
                <a:srgbClr val="000000"/>
              </a:buClr>
              <a:buSzPct val="100000"/>
              <a:buAutoNum type="arabicPeriod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2200" dirty="0"/>
              <a:t>Data preprocessing and feature extraction </a:t>
            </a:r>
          </a:p>
          <a:p>
            <a:pPr marL="457200" indent="-457200">
              <a:buClr>
                <a:srgbClr val="000000"/>
              </a:buClr>
              <a:buSzPct val="100000"/>
              <a:buAutoNum type="arabicPeriod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2200" dirty="0"/>
              <a:t>Machine learning model training </a:t>
            </a:r>
          </a:p>
          <a:p>
            <a:pPr marL="457200" indent="-457200">
              <a:buClr>
                <a:srgbClr val="000000"/>
              </a:buClr>
              <a:buSzPct val="100000"/>
              <a:buAutoNum type="arabicPeriod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2200" dirty="0"/>
              <a:t>Backend API development </a:t>
            </a:r>
          </a:p>
          <a:p>
            <a:pPr marL="457200" indent="-457200">
              <a:buClr>
                <a:srgbClr val="000000"/>
              </a:buClr>
              <a:buSzPct val="100000"/>
              <a:buAutoNum type="arabicPeriod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2200" dirty="0"/>
              <a:t>Frontend user interface development </a:t>
            </a:r>
          </a:p>
          <a:p>
            <a:pPr marL="457200" indent="-457200">
              <a:buClr>
                <a:srgbClr val="000000"/>
              </a:buClr>
              <a:buSzPct val="100000"/>
              <a:buAutoNum type="arabicPeriod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2200" dirty="0"/>
              <a:t>Integration of ML models with backend </a:t>
            </a:r>
          </a:p>
          <a:p>
            <a:pPr marL="457200" indent="-457200">
              <a:buClr>
                <a:srgbClr val="000000"/>
              </a:buClr>
              <a:buSzPct val="100000"/>
              <a:buAutoNum type="arabicPeriod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2200" dirty="0"/>
              <a:t>Testing and validation </a:t>
            </a:r>
          </a:p>
          <a:p>
            <a:pPr marL="457200" indent="-457200">
              <a:buClr>
                <a:srgbClr val="000000"/>
              </a:buClr>
              <a:buSzPct val="100000"/>
              <a:buAutoNum type="arabicPeriod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2200" dirty="0"/>
              <a:t>Deployment and final evaluation</a:t>
            </a:r>
          </a:p>
        </p:txBody>
      </p:sp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Text Box 2"/>
          <p:cNvSpPr txBox="1"/>
          <p:nvPr/>
        </p:nvSpPr>
        <p:spPr>
          <a:xfrm>
            <a:off x="1054733" y="448456"/>
            <a:ext cx="5900116" cy="5070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3000" b="1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Workflow Diagram</a:t>
            </a:r>
          </a:p>
        </p:txBody>
      </p:sp>
      <p:pic>
        <p:nvPicPr>
          <p:cNvPr id="153" name="WhatsApp Image 2026-04-06 at 11.51.55.jpeg" descr="WhatsApp Image 2026-04-06 at 11.51.55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056" y="1188002"/>
            <a:ext cx="7568341" cy="495430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Text Box 2"/>
          <p:cNvSpPr txBox="1"/>
          <p:nvPr/>
        </p:nvSpPr>
        <p:spPr>
          <a:xfrm>
            <a:off x="1054733" y="448456"/>
            <a:ext cx="5438000" cy="5070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3000" b="1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Basic Implementation</a:t>
            </a:r>
          </a:p>
        </p:txBody>
      </p:sp>
      <p:sp>
        <p:nvSpPr>
          <p:cNvPr id="156" name="TextBox 5"/>
          <p:cNvSpPr txBox="1"/>
          <p:nvPr/>
        </p:nvSpPr>
        <p:spPr>
          <a:xfrm>
            <a:off x="1054733" y="1007775"/>
            <a:ext cx="10373791" cy="53860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/>
          <a:p>
            <a:pPr marL="342899" indent="-342899">
              <a:buClr>
                <a:srgbClr val="000000"/>
              </a:buClr>
              <a:buSzPct val="100000"/>
              <a:buFont typeface="Arial"/>
              <a:buChar char="•"/>
              <a:defRPr sz="2100">
                <a:latin typeface="+mj-lt"/>
                <a:ea typeface="+mj-ea"/>
                <a:cs typeface="+mj-cs"/>
                <a:sym typeface="Arial"/>
              </a:defRPr>
            </a:pPr>
            <a:r>
              <a:rPr lang="en-US" sz="2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provide input through questionnaire responses and multimedia uploads (video/audio). </a:t>
            </a:r>
          </a:p>
          <a:p>
            <a:pPr marL="342899" indent="-342899">
              <a:buClr>
                <a:srgbClr val="000000"/>
              </a:buClr>
              <a:buSzPct val="100000"/>
              <a:buFont typeface="Arial"/>
              <a:buChar char="•"/>
              <a:defRPr sz="2100">
                <a:latin typeface="+mj-lt"/>
                <a:ea typeface="+mj-ea"/>
                <a:cs typeface="+mj-cs"/>
                <a:sym typeface="Arial"/>
              </a:defRPr>
            </a:pPr>
            <a:r>
              <a:rPr lang="en-US" sz="2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Questionnaire data is processed using a trained machine learning model to predict ASD risk. </a:t>
            </a:r>
          </a:p>
          <a:p>
            <a:pPr marL="342899" indent="-342899">
              <a:buClr>
                <a:srgbClr val="000000"/>
              </a:buClr>
              <a:buSzPct val="100000"/>
              <a:buFont typeface="Arial"/>
              <a:buChar char="•"/>
              <a:defRPr sz="2100">
                <a:latin typeface="+mj-lt"/>
                <a:ea typeface="+mj-ea"/>
                <a:cs typeface="+mj-cs"/>
                <a:sym typeface="Arial"/>
              </a:defRPr>
            </a:pPr>
            <a:r>
              <a:rPr lang="en-US" sz="2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Video data is </a:t>
            </a:r>
            <a:r>
              <a:rPr lang="en-US" sz="21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analysed</a:t>
            </a:r>
            <a:r>
              <a:rPr lang="en-US" sz="2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computer vision techniques to extract behavioral features. </a:t>
            </a:r>
          </a:p>
          <a:p>
            <a:pPr marL="342899" indent="-342899">
              <a:buClr>
                <a:srgbClr val="000000"/>
              </a:buClr>
              <a:buSzPct val="100000"/>
              <a:buFont typeface="Arial"/>
              <a:buChar char="•"/>
              <a:defRPr sz="2100">
                <a:latin typeface="+mj-lt"/>
                <a:ea typeface="+mj-ea"/>
                <a:cs typeface="+mj-cs"/>
                <a:sym typeface="Arial"/>
              </a:defRPr>
            </a:pPr>
            <a:r>
              <a:rPr lang="en-US" sz="2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Audio data is </a:t>
            </a:r>
            <a:r>
              <a:rPr lang="en-US" sz="21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analysed</a:t>
            </a:r>
            <a:r>
              <a:rPr lang="en-US" sz="2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detect communication patterns. </a:t>
            </a:r>
          </a:p>
          <a:p>
            <a:pPr marL="342899" indent="-342899">
              <a:buClr>
                <a:srgbClr val="000000"/>
              </a:buClr>
              <a:buSzPct val="100000"/>
              <a:buFont typeface="Arial"/>
              <a:buChar char="•"/>
              <a:defRPr sz="2100">
                <a:latin typeface="+mj-lt"/>
                <a:ea typeface="+mj-ea"/>
                <a:cs typeface="+mj-cs"/>
                <a:sym typeface="Arial"/>
              </a:defRPr>
            </a:pPr>
            <a:r>
              <a:rPr lang="en-US" sz="2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Outputs from all modules are combined to generate a final risk assessment. </a:t>
            </a:r>
          </a:p>
          <a:p>
            <a:pPr marL="342899" indent="-342899">
              <a:buClr>
                <a:srgbClr val="000000"/>
              </a:buClr>
              <a:buSzPct val="100000"/>
              <a:buFont typeface="Arial"/>
              <a:buChar char="•"/>
              <a:defRPr sz="2100">
                <a:latin typeface="+mj-lt"/>
                <a:ea typeface="+mj-ea"/>
                <a:cs typeface="+mj-cs"/>
                <a:sym typeface="Arial"/>
              </a:defRPr>
            </a:pPr>
            <a:r>
              <a:rPr lang="en-US" sz="2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</a:t>
            </a:r>
            <a:r>
              <a:rPr lang="en-US" sz="21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personalised</a:t>
            </a:r>
            <a:r>
              <a:rPr lang="en-US" sz="2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communication support and recommendations (speech exercises, social interaction guidance) based on the assessed risk level.</a:t>
            </a:r>
          </a:p>
          <a:p>
            <a:pPr marL="342899" indent="-342899">
              <a:buClr>
                <a:srgbClr val="000000"/>
              </a:buClr>
              <a:buSzPct val="100000"/>
              <a:buFont typeface="Arial"/>
              <a:buChar char="•"/>
              <a:defRPr sz="2100">
                <a:latin typeface="+mj-lt"/>
                <a:ea typeface="+mj-ea"/>
                <a:cs typeface="+mj-cs"/>
                <a:sym typeface="Arial"/>
              </a:defRPr>
            </a:pPr>
            <a:r>
              <a:rPr lang="en-US" sz="2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medical chatbot that answers user’s queries and helps them</a:t>
            </a:r>
          </a:p>
          <a:p>
            <a:pPr marL="342899" indent="-342899">
              <a:buClr>
                <a:srgbClr val="000000"/>
              </a:buClr>
              <a:buSzPct val="100000"/>
              <a:buFont typeface="Arial"/>
              <a:buChar char="•"/>
              <a:defRPr sz="2100">
                <a:latin typeface="+mj-lt"/>
                <a:ea typeface="+mj-ea"/>
                <a:cs typeface="+mj-cs"/>
                <a:sym typeface="Arial"/>
              </a:defRPr>
            </a:pPr>
            <a:r>
              <a:rPr lang="en-US" sz="2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Nearby autism hospitals recommendations based on location</a:t>
            </a:r>
          </a:p>
          <a:p>
            <a:pPr>
              <a:defRPr sz="2100" b="1">
                <a:latin typeface="+mj-lt"/>
                <a:ea typeface="+mj-ea"/>
                <a:cs typeface="+mj-cs"/>
                <a:sym typeface="Arial"/>
              </a:defRPr>
            </a:pPr>
            <a:r>
              <a:rPr lang="en-US" sz="2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Output Includes:</a:t>
            </a:r>
          </a:p>
          <a:p>
            <a:pPr marL="342899" indent="-342899">
              <a:buClr>
                <a:srgbClr val="000000"/>
              </a:buClr>
              <a:buSzPct val="100000"/>
              <a:buFont typeface="Arial"/>
              <a:buChar char="•"/>
              <a:defRPr sz="2100">
                <a:latin typeface="+mj-lt"/>
                <a:ea typeface="+mj-ea"/>
                <a:cs typeface="+mj-cs"/>
                <a:sym typeface="Arial"/>
              </a:defRPr>
            </a:pPr>
            <a:r>
              <a:rPr lang="en-US" sz="2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Autism risk level (Low / Medium / High) </a:t>
            </a:r>
          </a:p>
          <a:p>
            <a:pPr marL="342899" indent="-342899">
              <a:buClr>
                <a:srgbClr val="000000"/>
              </a:buClr>
              <a:buSzPct val="100000"/>
              <a:buFont typeface="Arial"/>
              <a:buChar char="•"/>
              <a:defRPr sz="2100">
                <a:latin typeface="+mj-lt"/>
                <a:ea typeface="+mj-ea"/>
                <a:cs typeface="+mj-cs"/>
                <a:sym typeface="Arial"/>
              </a:defRPr>
            </a:pPr>
            <a:r>
              <a:rPr lang="en-US" sz="2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Domain-wise analysis (social interaction, communication, etc.) </a:t>
            </a:r>
          </a:p>
          <a:p>
            <a:pPr marL="342899" indent="-342899">
              <a:buClr>
                <a:srgbClr val="000000"/>
              </a:buClr>
              <a:buSzPct val="100000"/>
              <a:buFont typeface="Arial"/>
              <a:buChar char="•"/>
              <a:defRPr sz="2100">
                <a:latin typeface="+mj-lt"/>
                <a:ea typeface="+mj-ea"/>
                <a:cs typeface="+mj-cs"/>
                <a:sym typeface="Arial"/>
              </a:defRPr>
            </a:pPr>
            <a:r>
              <a:rPr lang="en-US" sz="2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reports and insights</a:t>
            </a:r>
          </a:p>
          <a:p>
            <a:pPr marL="342899" indent="-342899">
              <a:buClr>
                <a:srgbClr val="000000"/>
              </a:buClr>
              <a:buSzPct val="100000"/>
              <a:buFont typeface="Arial"/>
              <a:buChar char="•"/>
              <a:defRPr sz="2100">
                <a:latin typeface="+mj-lt"/>
                <a:ea typeface="+mj-ea"/>
                <a:cs typeface="+mj-cs"/>
                <a:sym typeface="Arial"/>
              </a:defRPr>
            </a:pPr>
            <a:r>
              <a:rPr lang="en-US" sz="21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Personalised</a:t>
            </a:r>
            <a:r>
              <a:rPr lang="en-US" sz="2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communication support recommendations</a:t>
            </a:r>
          </a:p>
        </p:txBody>
      </p:sp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Text Box 2"/>
          <p:cNvSpPr txBox="1"/>
          <p:nvPr/>
        </p:nvSpPr>
        <p:spPr>
          <a:xfrm>
            <a:off x="1054733" y="448456"/>
            <a:ext cx="5438000" cy="5070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3000" b="1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Individual Contribution</a:t>
            </a:r>
          </a:p>
        </p:txBody>
      </p:sp>
      <p:sp>
        <p:nvSpPr>
          <p:cNvPr id="159" name="TextBox 1"/>
          <p:cNvSpPr txBox="1"/>
          <p:nvPr/>
        </p:nvSpPr>
        <p:spPr>
          <a:xfrm>
            <a:off x="1054734" y="1125801"/>
            <a:ext cx="10722579" cy="41932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24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2200" dirty="0"/>
              <a:t>Team Member 1:</a:t>
            </a:r>
          </a:p>
          <a:p>
            <a:pPr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2200" dirty="0"/>
              <a:t>Responsible for designing the frontend structure using React and </a:t>
            </a:r>
            <a:r>
              <a:rPr sz="2200" dirty="0" err="1"/>
              <a:t>TailwindCSS</a:t>
            </a:r>
            <a:r>
              <a:rPr sz="2200" dirty="0"/>
              <a:t>, will develop user interfaces for forms, dashboard, and reports</a:t>
            </a:r>
          </a:p>
          <a:p>
            <a:pPr>
              <a:defRPr sz="24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2200" dirty="0"/>
              <a:t>Team Member 2:</a:t>
            </a:r>
          </a:p>
          <a:p>
            <a:pPr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2200" dirty="0"/>
              <a:t>Responsible for backend development using </a:t>
            </a:r>
            <a:r>
              <a:rPr sz="2200" dirty="0" err="1"/>
              <a:t>FastAPI</a:t>
            </a:r>
            <a:r>
              <a:rPr sz="2200" dirty="0"/>
              <a:t>, will handle API design, authentication (JWT), and database integration</a:t>
            </a:r>
          </a:p>
          <a:p>
            <a:pPr>
              <a:defRPr sz="24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2200" dirty="0"/>
              <a:t>Team Member 3:</a:t>
            </a:r>
          </a:p>
          <a:p>
            <a:pPr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2200" dirty="0"/>
              <a:t>Responsible for questionnaire dataset analysis and machine learning model development, will work on data preprocessing, feature selection, and model training</a:t>
            </a:r>
          </a:p>
          <a:p>
            <a:pPr>
              <a:defRPr sz="24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2200" dirty="0"/>
              <a:t>Team Member 4:</a:t>
            </a:r>
          </a:p>
          <a:p>
            <a:pPr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2200" dirty="0"/>
              <a:t>Responsible for multimodal analysis (video and audio), will work on feature extraction using OpenCV and </a:t>
            </a:r>
            <a:r>
              <a:rPr sz="2200" dirty="0" err="1"/>
              <a:t>LibrosaNote</a:t>
            </a:r>
            <a:endParaRPr sz="2200" dirty="0"/>
          </a:p>
        </p:txBody>
      </p:sp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Text Box 2"/>
          <p:cNvSpPr txBox="1"/>
          <p:nvPr/>
        </p:nvSpPr>
        <p:spPr>
          <a:xfrm>
            <a:off x="1054733" y="448456"/>
            <a:ext cx="6283574" cy="5070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3000" b="1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dirty="0"/>
              <a:t>Presentation &amp; Communication</a:t>
            </a:r>
          </a:p>
        </p:txBody>
      </p:sp>
      <p:sp>
        <p:nvSpPr>
          <p:cNvPr id="162" name="TextBox 3"/>
          <p:cNvSpPr txBox="1"/>
          <p:nvPr/>
        </p:nvSpPr>
        <p:spPr>
          <a:xfrm>
            <a:off x="1054733" y="1297858"/>
            <a:ext cx="9980502" cy="2800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/>
          <a:p>
            <a:pPr marL="285750" indent="-285750">
              <a:buClr>
                <a:srgbClr val="000000"/>
              </a:buClr>
              <a:buSzPct val="100000"/>
              <a:buFont typeface="Arial"/>
              <a:buChar char="•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2200" dirty="0"/>
              <a:t>The team follows a structured and collaborative approach for project development. </a:t>
            </a:r>
          </a:p>
          <a:p>
            <a:pPr marL="285750" indent="-285750">
              <a:buClr>
                <a:srgbClr val="000000"/>
              </a:buClr>
              <a:buSzPct val="100000"/>
              <a:buFont typeface="Arial"/>
              <a:buChar char="•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2200" dirty="0"/>
              <a:t>Responsibilities are clearly divided among team members based on individual strengths. </a:t>
            </a:r>
          </a:p>
          <a:p>
            <a:pPr marL="285750" indent="-285750">
              <a:buClr>
                <a:srgbClr val="000000"/>
              </a:buClr>
              <a:buSzPct val="100000"/>
              <a:buFont typeface="Arial"/>
              <a:buChar char="•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2200" dirty="0"/>
              <a:t>Regular meetings are planned to discuss progress, challenges, and next steps. </a:t>
            </a:r>
          </a:p>
          <a:p>
            <a:pPr marL="285750" indent="-285750">
              <a:buClr>
                <a:srgbClr val="000000"/>
              </a:buClr>
              <a:buSzPct val="100000"/>
              <a:buFont typeface="Arial"/>
              <a:buChar char="•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2200" dirty="0"/>
              <a:t>Version control tools like GitHub will be used for collaboration and code management. </a:t>
            </a:r>
          </a:p>
          <a:p>
            <a:pPr marL="285750" indent="-285750">
              <a:buClr>
                <a:srgbClr val="000000"/>
              </a:buClr>
              <a:buSzPct val="100000"/>
              <a:buFont typeface="Arial"/>
              <a:buChar char="•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2200" dirty="0"/>
              <a:t>A phased development strategy will be followed to ensure timely completion of the project. </a:t>
            </a:r>
          </a:p>
        </p:txBody>
      </p:sp>
    </p:spTree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Dataset: Q-CHAT-10 by Fadi Thabtah (Kaggle) — 6,075 rows, 17 columns…"/>
          <p:cNvSpPr txBox="1">
            <a:spLocks noGrp="1"/>
          </p:cNvSpPr>
          <p:nvPr>
            <p:ph type="body" idx="4294967295"/>
          </p:nvPr>
        </p:nvSpPr>
        <p:spPr>
          <a:xfrm>
            <a:off x="1072440" y="1159147"/>
            <a:ext cx="10628541" cy="5204363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228600" indent="-228600" defTabSz="457200">
              <a:lnSpc>
                <a:spcPct val="100000"/>
              </a:lnSpc>
              <a:spcBef>
                <a:spcPts val="0"/>
              </a:spcBef>
              <a:buSzPct val="100000"/>
              <a:buFontTx/>
              <a:buChar char="•"/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2200" b="1" dirty="0"/>
              <a:t>Dataset: </a:t>
            </a:r>
            <a:r>
              <a:rPr lang="en-US" b="1" dirty="0">
                <a:sym typeface="Times New Roman"/>
              </a:rPr>
              <a:t>Autism screening data for toddlers </a:t>
            </a:r>
            <a:r>
              <a:rPr sz="2200" dirty="0"/>
              <a:t>by Fadi Thabtah (Kaggle) — 6,075 rows, 1</a:t>
            </a:r>
            <a:r>
              <a:rPr lang="en-US" sz="2200" dirty="0"/>
              <a:t>5</a:t>
            </a:r>
            <a:r>
              <a:rPr sz="2200" dirty="0"/>
              <a:t> columns</a:t>
            </a:r>
          </a:p>
          <a:p>
            <a:pPr marL="228600" indent="-228600" defTabSz="457200">
              <a:lnSpc>
                <a:spcPct val="100000"/>
              </a:lnSpc>
              <a:spcBef>
                <a:spcPts val="0"/>
              </a:spcBef>
              <a:buSzPct val="100000"/>
              <a:buChar char="•"/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2200" b="1" dirty="0"/>
              <a:t>Dropped Qchat-10-Score </a:t>
            </a:r>
            <a:r>
              <a:rPr sz="2200" dirty="0"/>
              <a:t>— data leakage (direct sum of A1–A10, label derived from it)</a:t>
            </a:r>
          </a:p>
          <a:p>
            <a:pPr marL="228600" indent="-228600" defTabSz="457200">
              <a:lnSpc>
                <a:spcPct val="100000"/>
              </a:lnSpc>
              <a:spcBef>
                <a:spcPts val="0"/>
              </a:spcBef>
              <a:buSzPct val="100000"/>
              <a:buChar char="•"/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2200" b="1" dirty="0"/>
              <a:t>Encoded categorical columns: </a:t>
            </a:r>
            <a:r>
              <a:rPr sz="2200" dirty="0"/>
              <a:t>Sex, Ethnicity → </a:t>
            </a:r>
            <a:r>
              <a:rPr sz="2200" dirty="0" err="1"/>
              <a:t>LabelEncoder</a:t>
            </a:r>
            <a:endParaRPr sz="2200" dirty="0"/>
          </a:p>
          <a:p>
            <a:pPr marL="228600" indent="-228600" defTabSz="457200">
              <a:lnSpc>
                <a:spcPct val="100000"/>
              </a:lnSpc>
              <a:spcBef>
                <a:spcPts val="0"/>
              </a:spcBef>
              <a:buSzPct val="100000"/>
              <a:buChar char="•"/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2200" b="1" dirty="0"/>
              <a:t>Encoded binary columns: </a:t>
            </a:r>
            <a:r>
              <a:rPr sz="2200" dirty="0"/>
              <a:t>Jaundice, </a:t>
            </a:r>
            <a:r>
              <a:rPr sz="2200" dirty="0" err="1"/>
              <a:t>Family_ASD_History</a:t>
            </a:r>
            <a:r>
              <a:rPr sz="2200" dirty="0"/>
              <a:t> → Yes=1 / No=0</a:t>
            </a:r>
          </a:p>
          <a:p>
            <a:pPr marL="228600" indent="-228600" defTabSz="457200">
              <a:lnSpc>
                <a:spcPct val="100000"/>
              </a:lnSpc>
              <a:spcBef>
                <a:spcPts val="0"/>
              </a:spcBef>
              <a:buSzPct val="100000"/>
              <a:buChar char="•"/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2200" b="1" dirty="0"/>
              <a:t>Target encoded: </a:t>
            </a:r>
            <a:r>
              <a:rPr sz="2200" dirty="0"/>
              <a:t>Class/ASD Traits → Yes=1 / No=0</a:t>
            </a:r>
          </a:p>
          <a:p>
            <a:pPr marL="228600" indent="-228600" defTabSz="457200">
              <a:lnSpc>
                <a:spcPct val="100000"/>
              </a:lnSpc>
              <a:spcBef>
                <a:spcPts val="0"/>
              </a:spcBef>
              <a:buSzPct val="100000"/>
              <a:buChar char="•"/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2200" dirty="0"/>
              <a:t>Missing values filled with mode (categorical) and median (numerical)</a:t>
            </a:r>
          </a:p>
          <a:p>
            <a:pPr marL="228600" indent="-228600" defTabSz="457200">
              <a:lnSpc>
                <a:spcPct val="100000"/>
              </a:lnSpc>
              <a:spcBef>
                <a:spcPts val="0"/>
              </a:spcBef>
              <a:buSzPct val="100000"/>
              <a:buChar char="•"/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2200" b="1" dirty="0"/>
              <a:t>Split: </a:t>
            </a:r>
            <a:r>
              <a:rPr sz="2200" dirty="0"/>
              <a:t>80% train / 20% test, stratified by class</a:t>
            </a:r>
          </a:p>
          <a:p>
            <a:pPr marL="228600" indent="-228600" defTabSz="457200">
              <a:lnSpc>
                <a:spcPct val="100000"/>
              </a:lnSpc>
              <a:spcBef>
                <a:spcPts val="0"/>
              </a:spcBef>
              <a:buSzPct val="100000"/>
              <a:buChar char="•"/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sz="2200" dirty="0"/>
          </a:p>
          <a:p>
            <a:pPr indent="0" defTabSz="457200">
              <a:lnSpc>
                <a:spcPct val="100000"/>
              </a:lnSpc>
              <a:spcBef>
                <a:spcPts val="0"/>
              </a:spcBef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2200" dirty="0"/>
              <a:t>Dropping Qchat-10-Score is critical. The ASD label is assigned when score ≥ 3. Keeping it gives 100% accuracy (data leakage). Dropping it gives an honest ~9</a:t>
            </a:r>
            <a:r>
              <a:rPr lang="en-US" sz="2200" dirty="0"/>
              <a:t>8</a:t>
            </a:r>
            <a:r>
              <a:rPr sz="2200" dirty="0"/>
              <a:t>% learned from raw behavioral patterns.</a:t>
            </a:r>
          </a:p>
        </p:txBody>
      </p:sp>
      <p:sp>
        <p:nvSpPr>
          <p:cNvPr id="165" name="DATA PREPROCESSING"/>
          <p:cNvSpPr txBox="1">
            <a:spLocks noGrp="1"/>
          </p:cNvSpPr>
          <p:nvPr>
            <p:ph type="title" idx="4294967295"/>
          </p:nvPr>
        </p:nvSpPr>
        <p:spPr>
          <a:xfrm>
            <a:off x="1072440" y="494490"/>
            <a:ext cx="8030165" cy="542217"/>
          </a:xfrm>
          <a:prstGeom prst="rect">
            <a:avLst/>
          </a:prstGeom>
        </p:spPr>
        <p:txBody>
          <a:bodyPr anchor="ctr"/>
          <a:lstStyle>
            <a:lvl1pPr>
              <a:defRPr sz="3000" b="1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IN" dirty="0"/>
              <a:t>Data Preprocessing</a:t>
            </a:r>
          </a:p>
        </p:txBody>
      </p:sp>
    </p:spTree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Questionnaire Features (fed to XGBoost):…"/>
          <p:cNvSpPr txBox="1">
            <a:spLocks noGrp="1"/>
          </p:cNvSpPr>
          <p:nvPr>
            <p:ph type="body" idx="4294967295"/>
          </p:nvPr>
        </p:nvSpPr>
        <p:spPr>
          <a:xfrm>
            <a:off x="1022556" y="1021155"/>
            <a:ext cx="10726706" cy="598924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0"/>
              </a:spcBef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2200" b="1" dirty="0">
                <a:solidFill>
                  <a:srgbClr val="000000"/>
                </a:solidFill>
                <a:latin typeface="Times New Roman"/>
                <a:cs typeface="Times New Roman"/>
              </a:rPr>
              <a:t>Questionnaire Features (fed to </a:t>
            </a:r>
            <a:r>
              <a:rPr lang="en-US" sz="2200" b="1" dirty="0" err="1">
                <a:solidFill>
                  <a:srgbClr val="000000"/>
                </a:solidFill>
                <a:latin typeface="Times New Roman"/>
                <a:cs typeface="Times New Roman"/>
              </a:rPr>
              <a:t>XGBoost</a:t>
            </a:r>
            <a:r>
              <a:rPr lang="en-US" sz="2200" b="1" dirty="0">
                <a:solidFill>
                  <a:srgbClr val="000000"/>
                </a:solidFill>
                <a:latin typeface="Times New Roman"/>
                <a:cs typeface="Times New Roman"/>
              </a:rPr>
              <a:t>):</a:t>
            </a:r>
          </a:p>
          <a:p>
            <a:pPr marL="393192" indent="-273050" defTabSz="457200">
              <a:lnSpc>
                <a:spcPct val="100000"/>
              </a:lnSpc>
              <a:spcBef>
                <a:spcPts val="0"/>
              </a:spcBef>
              <a:buSzPct val="100000"/>
              <a:buFontTx/>
              <a:buChar char="•"/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2200" dirty="0">
                <a:solidFill>
                  <a:srgbClr val="000000"/>
                </a:solidFill>
                <a:latin typeface="Times New Roman"/>
                <a:cs typeface="Times New Roman"/>
              </a:rPr>
              <a:t>A1–A10: 10 binary behavioral answers (0 = typical, 1 = at-risk)</a:t>
            </a:r>
          </a:p>
          <a:p>
            <a:pPr marL="393192" indent="-273050" defTabSz="457200">
              <a:lnSpc>
                <a:spcPct val="100000"/>
              </a:lnSpc>
              <a:spcBef>
                <a:spcPts val="0"/>
              </a:spcBef>
              <a:buSzPct val="100000"/>
              <a:buFontTx/>
              <a:buChar char="•"/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2200" dirty="0" err="1">
                <a:solidFill>
                  <a:srgbClr val="000000"/>
                </a:solidFill>
                <a:latin typeface="Times New Roman"/>
                <a:cs typeface="Times New Roman"/>
              </a:rPr>
              <a:t>Age_Mons</a:t>
            </a:r>
            <a:r>
              <a:rPr lang="en-US" sz="2200" dirty="0">
                <a:solidFill>
                  <a:srgbClr val="000000"/>
                </a:solidFill>
                <a:latin typeface="Times New Roman"/>
                <a:cs typeface="Times New Roman"/>
              </a:rPr>
              <a:t>: Child age in months (12–36)</a:t>
            </a:r>
          </a:p>
          <a:p>
            <a:pPr marL="393192" indent="-273050" defTabSz="457200">
              <a:lnSpc>
                <a:spcPct val="100000"/>
              </a:lnSpc>
              <a:spcBef>
                <a:spcPts val="0"/>
              </a:spcBef>
              <a:buSzPct val="100000"/>
              <a:buFontTx/>
              <a:buChar char="•"/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2200" dirty="0">
                <a:solidFill>
                  <a:srgbClr val="000000"/>
                </a:solidFill>
                <a:latin typeface="Times New Roman"/>
                <a:cs typeface="Times New Roman"/>
              </a:rPr>
              <a:t>Sex: Male=1, Female=0</a:t>
            </a:r>
          </a:p>
          <a:p>
            <a:pPr marL="393192" indent="-273050" defTabSz="457200">
              <a:lnSpc>
                <a:spcPct val="100000"/>
              </a:lnSpc>
              <a:spcBef>
                <a:spcPts val="0"/>
              </a:spcBef>
              <a:buSzPct val="100000"/>
              <a:buFontTx/>
              <a:buChar char="•"/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2200" dirty="0">
                <a:solidFill>
                  <a:srgbClr val="000000"/>
                </a:solidFill>
                <a:latin typeface="Times New Roman"/>
                <a:cs typeface="Times New Roman"/>
              </a:rPr>
              <a:t>Jaundice: Yes=1, No=0</a:t>
            </a:r>
          </a:p>
          <a:p>
            <a:pPr marL="393192" indent="-273050" defTabSz="457200">
              <a:lnSpc>
                <a:spcPct val="100000"/>
              </a:lnSpc>
              <a:spcBef>
                <a:spcPts val="0"/>
              </a:spcBef>
              <a:buSzPct val="100000"/>
              <a:buFontTx/>
              <a:buChar char="•"/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2200" dirty="0" err="1">
                <a:solidFill>
                  <a:srgbClr val="000000"/>
                </a:solidFill>
                <a:latin typeface="Times New Roman"/>
                <a:cs typeface="Times New Roman"/>
              </a:rPr>
              <a:t>Family_ASD</a:t>
            </a:r>
            <a:r>
              <a:rPr lang="en-US" sz="2200" dirty="0">
                <a:solidFill>
                  <a:srgbClr val="000000"/>
                </a:solidFill>
                <a:latin typeface="Times New Roman"/>
                <a:cs typeface="Times New Roman"/>
              </a:rPr>
              <a:t>: Yes=1, No=0</a:t>
            </a:r>
          </a:p>
          <a:p>
            <a:pPr marL="393192" indent="-273050" defTabSz="457200">
              <a:lnSpc>
                <a:spcPct val="100000"/>
              </a:lnSpc>
              <a:spcBef>
                <a:spcPts val="0"/>
              </a:spcBef>
              <a:buSzPct val="100000"/>
              <a:buFontTx/>
              <a:buChar char="•"/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2200" dirty="0">
                <a:solidFill>
                  <a:srgbClr val="000000"/>
                </a:solidFill>
                <a:latin typeface="Times New Roman"/>
                <a:cs typeface="Times New Roman"/>
              </a:rPr>
              <a:t>Total: 14 features</a:t>
            </a:r>
          </a:p>
          <a:p>
            <a:pPr marL="393192" indent="-273050" defTabSz="457200">
              <a:lnSpc>
                <a:spcPct val="100000"/>
              </a:lnSpc>
              <a:spcBef>
                <a:spcPts val="0"/>
              </a:spcBef>
              <a:buSzPct val="100000"/>
              <a:buFontTx/>
              <a:buChar char="•"/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en-US" sz="2200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indent="0" defTabSz="457200">
              <a:lnSpc>
                <a:spcPct val="100000"/>
              </a:lnSpc>
              <a:spcBef>
                <a:spcPts val="0"/>
              </a:spcBef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2200" b="1" dirty="0">
                <a:solidFill>
                  <a:srgbClr val="000000"/>
                </a:solidFill>
                <a:latin typeface="Times New Roman"/>
                <a:cs typeface="Times New Roman"/>
              </a:rPr>
              <a:t>Video Features (OpenCV + </a:t>
            </a:r>
            <a:r>
              <a:rPr lang="en-US" sz="2200" b="1" dirty="0" err="1">
                <a:solidFill>
                  <a:srgbClr val="000000"/>
                </a:solidFill>
                <a:latin typeface="Times New Roman"/>
                <a:cs typeface="Times New Roman"/>
              </a:rPr>
              <a:t>MediaPipe</a:t>
            </a:r>
            <a:r>
              <a:rPr lang="en-US" sz="2200" b="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sz="2200" b="1" dirty="0" err="1">
                <a:solidFill>
                  <a:srgbClr val="000000"/>
                </a:solidFill>
                <a:latin typeface="Times New Roman"/>
                <a:cs typeface="Times New Roman"/>
              </a:rPr>
              <a:t>FaceMesh</a:t>
            </a:r>
            <a:r>
              <a:rPr lang="en-US" sz="2200" b="1" dirty="0">
                <a:solidFill>
                  <a:srgbClr val="000000"/>
                </a:solidFill>
                <a:latin typeface="Times New Roman"/>
                <a:cs typeface="Times New Roman"/>
              </a:rPr>
              <a:t>):</a:t>
            </a:r>
          </a:p>
          <a:p>
            <a:pPr marL="393192" indent="-273050" defTabSz="457200">
              <a:lnSpc>
                <a:spcPct val="100000"/>
              </a:lnSpc>
              <a:spcBef>
                <a:spcPts val="0"/>
              </a:spcBef>
              <a:buSzPct val="100000"/>
              <a:buFontTx/>
              <a:buChar char="•"/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2200" dirty="0">
                <a:solidFill>
                  <a:srgbClr val="000000"/>
                </a:solidFill>
                <a:latin typeface="Times New Roman"/>
                <a:cs typeface="Times New Roman"/>
              </a:rPr>
              <a:t>Eye contact ratio = eye contact frames / total frames (threshold: &lt; 0.50 = at-risk)</a:t>
            </a:r>
          </a:p>
          <a:p>
            <a:pPr marL="393192" indent="-273050" defTabSz="457200">
              <a:lnSpc>
                <a:spcPct val="100000"/>
              </a:lnSpc>
              <a:spcBef>
                <a:spcPts val="0"/>
              </a:spcBef>
              <a:buSzPct val="100000"/>
              <a:buFontTx/>
              <a:buChar char="•"/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2200" dirty="0">
                <a:solidFill>
                  <a:srgbClr val="000000"/>
                </a:solidFill>
                <a:latin typeface="Times New Roman"/>
                <a:cs typeface="Times New Roman"/>
              </a:rPr>
              <a:t>Head movement std = std deviation of nose-tip frame-to-frame displacement (threshold: &gt; 0.05 = at-risk)</a:t>
            </a:r>
          </a:p>
          <a:p>
            <a:pPr marL="393192" indent="-273050" defTabSz="457200">
              <a:lnSpc>
                <a:spcPct val="100000"/>
              </a:lnSpc>
              <a:spcBef>
                <a:spcPts val="0"/>
              </a:spcBef>
              <a:buSzPct val="100000"/>
              <a:buFontTx/>
              <a:buChar char="•"/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2200" dirty="0">
                <a:solidFill>
                  <a:srgbClr val="000000"/>
                </a:solidFill>
                <a:latin typeface="Times New Roman"/>
                <a:cs typeface="Times New Roman"/>
              </a:rPr>
              <a:t>Head movement mean = average displacement per frame</a:t>
            </a:r>
          </a:p>
          <a:p>
            <a:pPr marL="393192" indent="-273050" defTabSz="457200">
              <a:lnSpc>
                <a:spcPct val="100000"/>
              </a:lnSpc>
              <a:spcBef>
                <a:spcPts val="0"/>
              </a:spcBef>
              <a:buSzPct val="100000"/>
              <a:buFontTx/>
              <a:buChar char="•"/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2200" dirty="0">
                <a:solidFill>
                  <a:srgbClr val="000000"/>
                </a:solidFill>
                <a:latin typeface="Times New Roman"/>
                <a:cs typeface="Times New Roman"/>
              </a:rPr>
              <a:t>Face detected ratio = fraction of frames where face was detected</a:t>
            </a:r>
          </a:p>
          <a:p>
            <a:pPr marL="393192" lvl="1" indent="-273050" defTabSz="457200">
              <a:lnSpc>
                <a:spcPct val="100000"/>
              </a:lnSpc>
              <a:spcBef>
                <a:spcPts val="0"/>
              </a:spcBef>
              <a:buSzPct val="100000"/>
              <a:buFontTx/>
              <a:buChar char="•"/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2200" dirty="0">
                <a:solidFill>
                  <a:srgbClr val="000000"/>
                </a:solidFill>
                <a:latin typeface="Times New Roman"/>
                <a:cs typeface="Times New Roman"/>
              </a:rPr>
              <a:t>Rule-based scoring using clinical thresholds</a:t>
            </a:r>
            <a:endParaRPr lang="en-US" sz="2200" dirty="0"/>
          </a:p>
          <a:p>
            <a:pPr marL="393192" indent="-273050" defTabSz="457200">
              <a:lnSpc>
                <a:spcPct val="100000"/>
              </a:lnSpc>
              <a:spcBef>
                <a:spcPts val="0"/>
              </a:spcBef>
              <a:buSzPct val="100000"/>
              <a:buFontTx/>
              <a:buChar char="•"/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en-US" sz="2200" dirty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168" name="FEATURE ENGINEERING"/>
          <p:cNvSpPr txBox="1">
            <a:spLocks noGrp="1"/>
          </p:cNvSpPr>
          <p:nvPr>
            <p:ph type="title" idx="4294967295"/>
          </p:nvPr>
        </p:nvSpPr>
        <p:spPr>
          <a:xfrm>
            <a:off x="1022556" y="499209"/>
            <a:ext cx="7054666" cy="521946"/>
          </a:xfrm>
          <a:prstGeom prst="rect">
            <a:avLst/>
          </a:prstGeom>
        </p:spPr>
        <p:txBody>
          <a:bodyPr anchor="ctr"/>
          <a:lstStyle>
            <a:lvl1pPr>
              <a:defRPr sz="3000" b="1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IN" dirty="0"/>
              <a:t>Feature Engineering</a:t>
            </a:r>
          </a:p>
        </p:txBody>
      </p:sp>
    </p:spTree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Audio Features (Librosa):…"/>
          <p:cNvSpPr txBox="1">
            <a:spLocks noGrp="1"/>
          </p:cNvSpPr>
          <p:nvPr>
            <p:ph type="body" idx="4294967295"/>
          </p:nvPr>
        </p:nvSpPr>
        <p:spPr>
          <a:xfrm>
            <a:off x="1022556" y="1021155"/>
            <a:ext cx="10726706" cy="5197291"/>
          </a:xfrm>
          <a:prstGeom prst="rect">
            <a:avLst/>
          </a:prstGeom>
        </p:spPr>
        <p:txBody>
          <a:bodyPr>
            <a:normAutofit/>
          </a:bodyPr>
          <a:lstStyle/>
          <a:p>
            <a:pPr indent="0" defTabSz="457200">
              <a:lnSpc>
                <a:spcPct val="100000"/>
              </a:lnSpc>
              <a:spcBef>
                <a:spcPts val="1200"/>
              </a:spcBef>
              <a:defRPr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2200" dirty="0"/>
              <a:t>Audio Features (</a:t>
            </a:r>
            <a:r>
              <a:rPr sz="2200" dirty="0" err="1"/>
              <a:t>Librosa</a:t>
            </a:r>
            <a:r>
              <a:rPr sz="2200" dirty="0"/>
              <a:t>):</a:t>
            </a:r>
            <a:endParaRPr sz="2200" b="0" dirty="0"/>
          </a:p>
          <a:p>
            <a:pPr marL="457200" indent="-317500" defTabSz="457200">
              <a:lnSpc>
                <a:spcPct val="100000"/>
              </a:lnSpc>
              <a:spcBef>
                <a:spcPts val="0"/>
              </a:spcBef>
              <a:buSzPct val="100000"/>
              <a:buFont typeface="Times Roman"/>
              <a:buChar char="•"/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2200" dirty="0"/>
              <a:t>MFCC (13 coefficients) — vocal timbre and speech texture</a:t>
            </a:r>
          </a:p>
          <a:p>
            <a:pPr marL="457200" indent="-317500" defTabSz="457200">
              <a:lnSpc>
                <a:spcPct val="100000"/>
              </a:lnSpc>
              <a:spcBef>
                <a:spcPts val="0"/>
              </a:spcBef>
              <a:buSzPct val="100000"/>
              <a:buFont typeface="Times Roman"/>
              <a:buChar char="•"/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2200" dirty="0"/>
              <a:t>Pitch variability (Hz) — F0 std via </a:t>
            </a:r>
            <a:r>
              <a:rPr sz="2200" dirty="0" err="1"/>
              <a:t>librosa.piptrack</a:t>
            </a:r>
            <a:r>
              <a:rPr sz="2200" dirty="0"/>
              <a:t>() (normal range: 15–150 Hz)</a:t>
            </a:r>
          </a:p>
          <a:p>
            <a:pPr marL="457200" indent="-317500" defTabSz="457200">
              <a:lnSpc>
                <a:spcPct val="100000"/>
              </a:lnSpc>
              <a:spcBef>
                <a:spcPts val="0"/>
              </a:spcBef>
              <a:buSzPct val="100000"/>
              <a:buFont typeface="Times Roman"/>
              <a:buChar char="•"/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2200" dirty="0"/>
              <a:t>Energy mean (RMS) — vocal loudness / flat affect indicator (threshold: &lt; 0.015 = at-risk)</a:t>
            </a:r>
          </a:p>
          <a:p>
            <a:pPr marL="457200" indent="-317500" defTabSz="457200">
              <a:lnSpc>
                <a:spcPct val="100000"/>
              </a:lnSpc>
              <a:spcBef>
                <a:spcPts val="0"/>
              </a:spcBef>
              <a:buSzPct val="100000"/>
              <a:buFont typeface="Times Roman"/>
              <a:buChar char="•"/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2200" dirty="0"/>
              <a:t>Energy std — variability in vocal energy</a:t>
            </a:r>
          </a:p>
          <a:p>
            <a:pPr marL="457200" indent="-317500" defTabSz="457200">
              <a:lnSpc>
                <a:spcPct val="100000"/>
              </a:lnSpc>
              <a:spcBef>
                <a:spcPts val="0"/>
              </a:spcBef>
              <a:buSzPct val="100000"/>
              <a:buFont typeface="Times Roman"/>
              <a:buChar char="•"/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2200" dirty="0"/>
              <a:t>Speech rate (ZCR) — zero-crossing rate proxy (threshold: &gt; 0.13 = at-risk)</a:t>
            </a:r>
          </a:p>
          <a:p>
            <a:pPr marL="457200" indent="-317500" defTabSz="457200">
              <a:lnSpc>
                <a:spcPct val="100000"/>
              </a:lnSpc>
              <a:spcBef>
                <a:spcPts val="0"/>
              </a:spcBef>
              <a:buSzPct val="100000"/>
              <a:buFont typeface="Times Roman"/>
              <a:buChar char="•"/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2200" dirty="0"/>
              <a:t>Duration — audio clipped to max 60 seconds</a:t>
            </a:r>
          </a:p>
        </p:txBody>
      </p:sp>
      <p:sp>
        <p:nvSpPr>
          <p:cNvPr id="171" name="Double-click to edit"/>
          <p:cNvSpPr txBox="1">
            <a:spLocks noGrp="1"/>
          </p:cNvSpPr>
          <p:nvPr>
            <p:ph type="title" idx="4294967295"/>
          </p:nvPr>
        </p:nvSpPr>
        <p:spPr>
          <a:xfrm>
            <a:off x="1020992" y="328769"/>
            <a:ext cx="7054666" cy="521946"/>
          </a:xfrm>
          <a:prstGeom prst="rect">
            <a:avLst/>
          </a:prstGeom>
        </p:spPr>
        <p:txBody>
          <a:bodyPr anchor="ctr"/>
          <a:lstStyle/>
          <a:p>
            <a:pPr>
              <a:defRPr sz="30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</p:txBody>
      </p:sp>
    </p:spTree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Double-click to edit"/>
          <p:cNvSpPr txBox="1">
            <a:spLocks noGrp="1"/>
          </p:cNvSpPr>
          <p:nvPr>
            <p:ph type="body" idx="4294967295"/>
          </p:nvPr>
        </p:nvSpPr>
        <p:spPr>
          <a:xfrm>
            <a:off x="1078230" y="1284098"/>
            <a:ext cx="18667039" cy="5197939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457200" indent="-457200" defTabSz="457200">
              <a:lnSpc>
                <a:spcPct val="100000"/>
              </a:lnSpc>
              <a:spcBef>
                <a:spcPts val="0"/>
              </a:spcBef>
              <a:tabLst>
                <a:tab pos="139700" algn="l"/>
                <a:tab pos="457200" algn="l"/>
              </a:tabLst>
              <a:defRPr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Three models were trained and compared on the same leakage-free dataset:</a:t>
            </a:r>
            <a:endParaRPr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" name="EXPERIMENTATION"/>
          <p:cNvSpPr txBox="1">
            <a:spLocks noGrp="1"/>
          </p:cNvSpPr>
          <p:nvPr>
            <p:ph type="title" idx="4294967295"/>
          </p:nvPr>
        </p:nvSpPr>
        <p:spPr>
          <a:xfrm>
            <a:off x="1078230" y="547713"/>
            <a:ext cx="10975794" cy="522146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3000" b="1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Experimentation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3756FBE-A696-4E9B-B84B-A6315403FE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0382454"/>
              </p:ext>
            </p:extLst>
          </p:nvPr>
        </p:nvGraphicFramePr>
        <p:xfrm>
          <a:off x="1078230" y="1929220"/>
          <a:ext cx="5675496" cy="1828800"/>
        </p:xfrm>
        <a:graphic>
          <a:graphicData uri="http://schemas.openxmlformats.org/drawingml/2006/table">
            <a:tbl>
              <a:tblPr>
                <a:tableStyleId>{C7B018BB-80A7-4F77-B60F-C8B233D01FF8}</a:tableStyleId>
              </a:tblPr>
              <a:tblGrid>
                <a:gridCol w="2837748">
                  <a:extLst>
                    <a:ext uri="{9D8B030D-6E8A-4147-A177-3AD203B41FA5}">
                      <a16:colId xmlns:a16="http://schemas.microsoft.com/office/drawing/2014/main" val="2992410672"/>
                    </a:ext>
                  </a:extLst>
                </a:gridCol>
                <a:gridCol w="2837748">
                  <a:extLst>
                    <a:ext uri="{9D8B030D-6E8A-4147-A177-3AD203B41FA5}">
                      <a16:colId xmlns:a16="http://schemas.microsoft.com/office/drawing/2014/main" val="1884387952"/>
                    </a:ext>
                  </a:extLst>
                </a:gridCol>
              </a:tblGrid>
              <a:tr h="2556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dirty="0">
                          <a:latin typeface="+mj-lt"/>
                        </a:rPr>
                        <a:t>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dirty="0">
                          <a:latin typeface="+mj-lt"/>
                        </a:rPr>
                        <a:t>Purpose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09716213"/>
                  </a:ext>
                </a:extLst>
              </a:tr>
              <a:tr h="2556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dirty="0">
                          <a:latin typeface="+mj-lt"/>
                        </a:rPr>
                        <a:t>Logistic Regression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dirty="0">
                          <a:latin typeface="+mj-lt"/>
                        </a:rPr>
                        <a:t>Baseline — linear classifier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34440270"/>
                  </a:ext>
                </a:extLst>
              </a:tr>
              <a:tr h="2556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>
                          <a:latin typeface="+mj-lt"/>
                        </a:rPr>
                        <a:t>Random Forest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dirty="0">
                          <a:latin typeface="+mj-lt"/>
                        </a:rPr>
                        <a:t>Ensemble — bagging approach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19854627"/>
                  </a:ext>
                </a:extLst>
              </a:tr>
              <a:tr h="2556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dirty="0" err="1">
                          <a:latin typeface="+mj-lt"/>
                        </a:rPr>
                        <a:t>XGBoost</a:t>
                      </a:r>
                      <a:endParaRPr lang="en-IN" sz="16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dirty="0">
                          <a:latin typeface="+mj-lt"/>
                        </a:rPr>
                        <a:t>Primary model — gradient boosting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4326966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D48D1A0D-328E-238C-12D2-03447E20D75B}"/>
              </a:ext>
            </a:extLst>
          </p:cNvPr>
          <p:cNvSpPr txBox="1"/>
          <p:nvPr/>
        </p:nvSpPr>
        <p:spPr>
          <a:xfrm>
            <a:off x="1078230" y="3883067"/>
            <a:ext cx="10488127" cy="212365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Setup: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models: same train/test split (80/20, stratified)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Validation: 5-Fold Stratified Cross-Validation on full dataset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Metric: Accuracy + ROC-AUC (both evaluated to avoid bias toward majority class)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Hyperparameters tuned for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n_estimators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=300,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max_depth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=4,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learning_rate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=0.1, subsample=0.8,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colsample_bytree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=0.8</a:t>
            </a:r>
          </a:p>
        </p:txBody>
      </p:sp>
    </p:spTree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B4D337-1F66-DE4C-8567-78314A8CF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EC99B12-ECA6-613D-1756-9C99153F6797}"/>
              </a:ext>
            </a:extLst>
          </p:cNvPr>
          <p:cNvSpPr txBox="1"/>
          <p:nvPr/>
        </p:nvSpPr>
        <p:spPr>
          <a:xfrm>
            <a:off x="1074821" y="1305346"/>
            <a:ext cx="10042358" cy="212365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Experimental Decision — No Data Leakage: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Naïve approach (keeping Qchat-10-Score): 100% accuracy — misleading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Honest approach (dropping it): ~95–98% accuracy — model learns real behavioral patterns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the scientifically correct and defensible result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IN" sz="22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3196106804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Multimodal Fusion Strategy:…"/>
          <p:cNvSpPr txBox="1">
            <a:spLocks noGrp="1"/>
          </p:cNvSpPr>
          <p:nvPr>
            <p:ph type="body" idx="4294967295"/>
          </p:nvPr>
        </p:nvSpPr>
        <p:spPr>
          <a:xfrm>
            <a:off x="948439" y="1037060"/>
            <a:ext cx="10849818" cy="5197939"/>
          </a:xfrm>
          <a:prstGeom prst="rect">
            <a:avLst/>
          </a:prstGeom>
        </p:spPr>
        <p:txBody>
          <a:bodyPr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1200"/>
              </a:spcBef>
              <a:defRPr b="1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IN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Roman"/>
              </a:rPr>
              <a:t>Primary Model: </a:t>
            </a:r>
            <a:r>
              <a:rPr lang="en-IN" sz="2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Roman"/>
              </a:rPr>
              <a:t>XGBoost</a:t>
            </a:r>
            <a:r>
              <a:rPr lang="en-IN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Roman"/>
              </a:rPr>
              <a:t> Classifier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Handles mixed feature types (</a:t>
            </a:r>
            <a:r>
              <a:rPr lang="en-IN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behavioral</a:t>
            </a: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demographic)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Robust to outliers and missing patterns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Built-in feature importance scores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Faster training than deep learning for tabular data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Industry-standard for structured/tabular classification tasks</a:t>
            </a:r>
          </a:p>
          <a:p>
            <a:pPr indent="0"/>
            <a:r>
              <a:rPr lang="en-IN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Comparison Models: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 </a:t>
            </a:r>
            <a:endParaRPr 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7" name="MODEL IMPLEMENTATION"/>
          <p:cNvSpPr txBox="1">
            <a:spLocks noGrp="1"/>
          </p:cNvSpPr>
          <p:nvPr>
            <p:ph type="title" idx="4294967295"/>
          </p:nvPr>
        </p:nvSpPr>
        <p:spPr>
          <a:xfrm>
            <a:off x="1027097" y="514914"/>
            <a:ext cx="6379446" cy="522146"/>
          </a:xfrm>
          <a:prstGeom prst="rect">
            <a:avLst/>
          </a:prstGeom>
        </p:spPr>
        <p:txBody>
          <a:bodyPr anchor="ctr"/>
          <a:lstStyle>
            <a:lvl1pPr>
              <a:defRPr sz="3000" b="1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IN" dirty="0"/>
              <a:t>Model Implementation</a:t>
            </a:r>
          </a:p>
        </p:txBody>
      </p:sp>
    </p:spTree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Risk levels:…"/>
          <p:cNvSpPr txBox="1">
            <a:spLocks noGrp="1"/>
          </p:cNvSpPr>
          <p:nvPr>
            <p:ph type="body" idx="4294967295"/>
          </p:nvPr>
        </p:nvSpPr>
        <p:spPr>
          <a:xfrm>
            <a:off x="948439" y="1201104"/>
            <a:ext cx="10849818" cy="5197939"/>
          </a:xfrm>
          <a:prstGeom prst="rect">
            <a:avLst/>
          </a:prstGeom>
        </p:spPr>
        <p:txBody>
          <a:bodyPr>
            <a:normAutofit/>
          </a:bodyPr>
          <a:lstStyle/>
          <a:p>
            <a:pPr indent="0" defTabSz="457200">
              <a:lnSpc>
                <a:spcPct val="100000"/>
              </a:lnSpc>
              <a:spcBef>
                <a:spcPts val="1200"/>
              </a:spcBef>
              <a:defRPr b="1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Multimodal Fusion Strategy:</a:t>
            </a:r>
          </a:p>
          <a:p>
            <a:pPr indent="0" defTabSz="457200">
              <a:lnSpc>
                <a:spcPct val="100000"/>
              </a:lnSpc>
              <a:spcBef>
                <a:spcPts val="1200"/>
              </a:spcBef>
              <a:defRPr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 Score = 0.60 × Questionnaire + 0.25 × Video + 0.15 × Audio</a:t>
            </a:r>
          </a:p>
          <a:p>
            <a:pPr marL="457200" indent="-317500" defTabSz="457200">
              <a:lnSpc>
                <a:spcPct val="100000"/>
              </a:lnSpc>
              <a:spcBef>
                <a:spcPts val="0"/>
              </a:spcBef>
              <a:buSzPct val="100000"/>
              <a:buFont typeface="Times Roman"/>
              <a:buChar char="•"/>
              <a:defRPr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Questionnaire gets highest weight — clinically validated, most reliable signal</a:t>
            </a:r>
          </a:p>
          <a:p>
            <a:pPr marL="457200" indent="-317500" defTabSz="457200">
              <a:lnSpc>
                <a:spcPct val="100000"/>
              </a:lnSpc>
              <a:spcBef>
                <a:spcPts val="0"/>
              </a:spcBef>
              <a:buSzPct val="100000"/>
              <a:buFont typeface="Times Roman"/>
              <a:buChar char="•"/>
              <a:defRPr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Video second — eye contact is a well-documented ASD indicator</a:t>
            </a:r>
          </a:p>
          <a:p>
            <a:pPr marL="457200" indent="-317500" defTabSz="457200">
              <a:lnSpc>
                <a:spcPct val="100000"/>
              </a:lnSpc>
              <a:spcBef>
                <a:spcPts val="0"/>
              </a:spcBef>
              <a:buSzPct val="100000"/>
              <a:buFont typeface="Times Roman"/>
              <a:buChar char="•"/>
              <a:defRPr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Audio third — pitch/energy features are supportive but less specific</a:t>
            </a:r>
            <a:endParaRPr lang="en-IN" sz="2200" dirty="0"/>
          </a:p>
          <a:p>
            <a:pPr indent="0" defTabSz="457200">
              <a:lnSpc>
                <a:spcPct val="100000"/>
              </a:lnSpc>
              <a:spcBef>
                <a:spcPts val="1200"/>
              </a:spcBef>
              <a:defRPr b="1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sz="2200" dirty="0"/>
              <a:t>Risk levels:</a:t>
            </a:r>
            <a:endParaRPr sz="2200" b="0" dirty="0"/>
          </a:p>
          <a:p>
            <a:pPr marL="457200" indent="-317500" defTabSz="457200">
              <a:lnSpc>
                <a:spcPct val="100000"/>
              </a:lnSpc>
              <a:spcBef>
                <a:spcPts val="0"/>
              </a:spcBef>
              <a:buSzPct val="100000"/>
              <a:buFont typeface="Times Roman"/>
              <a:buChar char="•"/>
              <a:defRPr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sz="2200" dirty="0"/>
              <a:t>Score 0–40 → Low Risk (green) — No significant indicators</a:t>
            </a:r>
          </a:p>
          <a:p>
            <a:pPr marL="457200" indent="-317500" defTabSz="457200">
              <a:lnSpc>
                <a:spcPct val="100000"/>
              </a:lnSpc>
              <a:spcBef>
                <a:spcPts val="0"/>
              </a:spcBef>
              <a:buSzPct val="100000"/>
              <a:buFont typeface="Times Roman"/>
              <a:buChar char="•"/>
              <a:defRPr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sz="2200" dirty="0"/>
              <a:t>Score 41–70 → Medium Risk (yellow) — Consult a specialist</a:t>
            </a:r>
          </a:p>
          <a:p>
            <a:pPr marL="457200" indent="-317500" defTabSz="457200">
              <a:lnSpc>
                <a:spcPct val="100000"/>
              </a:lnSpc>
              <a:spcBef>
                <a:spcPts val="0"/>
              </a:spcBef>
              <a:buSzPct val="100000"/>
              <a:buFont typeface="Times Roman"/>
              <a:buChar char="•"/>
              <a:defRPr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sz="2200" dirty="0"/>
              <a:t>Score 71–100 → High Risk (red) — Seek evaluation promptly</a:t>
            </a:r>
          </a:p>
        </p:txBody>
      </p:sp>
      <p:sp>
        <p:nvSpPr>
          <p:cNvPr id="180" name="Double-click to edit"/>
          <p:cNvSpPr txBox="1">
            <a:spLocks noGrp="1"/>
          </p:cNvSpPr>
          <p:nvPr>
            <p:ph type="title" idx="4294967295"/>
          </p:nvPr>
        </p:nvSpPr>
        <p:spPr>
          <a:xfrm>
            <a:off x="948439" y="375963"/>
            <a:ext cx="6379446" cy="522146"/>
          </a:xfrm>
          <a:prstGeom prst="rect">
            <a:avLst/>
          </a:prstGeom>
        </p:spPr>
        <p:txBody>
          <a:bodyPr anchor="ctr"/>
          <a:lstStyle/>
          <a:p>
            <a:pPr>
              <a:defRPr sz="30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</p:txBody>
      </p:sp>
    </p:spTree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Double-click to edit"/>
          <p:cNvSpPr txBox="1">
            <a:spLocks noGrp="1"/>
          </p:cNvSpPr>
          <p:nvPr>
            <p:ph type="body" idx="4294967295"/>
          </p:nvPr>
        </p:nvSpPr>
        <p:spPr>
          <a:xfrm>
            <a:off x="1121277" y="1219200"/>
            <a:ext cx="10450259" cy="4419600"/>
          </a:xfrm>
          <a:prstGeom prst="rect">
            <a:avLst/>
          </a:prstGeom>
        </p:spPr>
        <p:txBody>
          <a:bodyPr>
            <a:noAutofit/>
          </a:bodyPr>
          <a:lstStyle/>
          <a:p>
            <a:pPr marL="50800" indent="0">
              <a:buClr>
                <a:srgbClr val="000000"/>
              </a:buClr>
              <a:buSzPts val="2800"/>
              <a:defRPr sz="2800">
                <a:solidFill>
                  <a:srgbClr val="000000"/>
                </a:solidFill>
              </a:defRPr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Accuracy Comparison (Test Set):</a:t>
            </a:r>
          </a:p>
          <a:p>
            <a:pPr marL="50800" indent="0">
              <a:buClr>
                <a:srgbClr val="000000"/>
              </a:buClr>
              <a:buSzPts val="2800"/>
              <a:defRPr sz="2800">
                <a:solidFill>
                  <a:srgbClr val="000000"/>
                </a:solidFill>
              </a:defRPr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3" name="PERFORMANCE EVALUATION"/>
          <p:cNvSpPr txBox="1">
            <a:spLocks noGrp="1"/>
          </p:cNvSpPr>
          <p:nvPr>
            <p:ph type="title" idx="4294967295"/>
          </p:nvPr>
        </p:nvSpPr>
        <p:spPr>
          <a:xfrm>
            <a:off x="1020992" y="513012"/>
            <a:ext cx="7054666" cy="521946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3000" b="1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Evaluation 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D482508-F460-DF05-83EB-DCDF994288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5081209"/>
              </p:ext>
            </p:extLst>
          </p:nvPr>
        </p:nvGraphicFramePr>
        <p:xfrm>
          <a:off x="1121277" y="1849583"/>
          <a:ext cx="5713329" cy="1828800"/>
        </p:xfrm>
        <a:graphic>
          <a:graphicData uri="http://schemas.openxmlformats.org/drawingml/2006/table">
            <a:tbl>
              <a:tblPr>
                <a:tableStyleId>{C7B018BB-80A7-4F77-B60F-C8B233D01FF8}</a:tableStyleId>
              </a:tblPr>
              <a:tblGrid>
                <a:gridCol w="1904443">
                  <a:extLst>
                    <a:ext uri="{9D8B030D-6E8A-4147-A177-3AD203B41FA5}">
                      <a16:colId xmlns:a16="http://schemas.microsoft.com/office/drawing/2014/main" val="3079221610"/>
                    </a:ext>
                  </a:extLst>
                </a:gridCol>
                <a:gridCol w="1904443">
                  <a:extLst>
                    <a:ext uri="{9D8B030D-6E8A-4147-A177-3AD203B41FA5}">
                      <a16:colId xmlns:a16="http://schemas.microsoft.com/office/drawing/2014/main" val="1073091734"/>
                    </a:ext>
                  </a:extLst>
                </a:gridCol>
                <a:gridCol w="1904443">
                  <a:extLst>
                    <a:ext uri="{9D8B030D-6E8A-4147-A177-3AD203B41FA5}">
                      <a16:colId xmlns:a16="http://schemas.microsoft.com/office/drawing/2014/main" val="128673039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b="1" dirty="0">
                          <a:latin typeface="+mj-lt"/>
                          <a:cs typeface="Times New Roman" panose="02020603050405020304" pitchFamily="18" charset="0"/>
                        </a:rPr>
                        <a:t>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b="1">
                          <a:latin typeface="+mj-lt"/>
                          <a:cs typeface="Times New Roman" panose="02020603050405020304" pitchFamily="18" charset="0"/>
                        </a:rPr>
                        <a:t>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b="1" dirty="0">
                          <a:latin typeface="+mj-lt"/>
                          <a:cs typeface="Times New Roman" panose="02020603050405020304" pitchFamily="18" charset="0"/>
                        </a:rPr>
                        <a:t>ROC-AUC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75231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dirty="0">
                          <a:latin typeface="+mj-lt"/>
                          <a:cs typeface="Times New Roman" panose="02020603050405020304" pitchFamily="18" charset="0"/>
                        </a:rPr>
                        <a:t>Logistic Regression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dirty="0">
                          <a:latin typeface="+mj-lt"/>
                          <a:cs typeface="Times New Roman" panose="02020603050405020304" pitchFamily="18" charset="0"/>
                        </a:rPr>
                        <a:t>89%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dirty="0">
                          <a:latin typeface="+mj-lt"/>
                          <a:cs typeface="Times New Roman" panose="02020603050405020304" pitchFamily="18" charset="0"/>
                        </a:rPr>
                        <a:t>~0.89+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840633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>
                          <a:latin typeface="+mj-lt"/>
                          <a:cs typeface="Times New Roman" panose="02020603050405020304" pitchFamily="18" charset="0"/>
                        </a:rPr>
                        <a:t>Random Forest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dirty="0">
                          <a:latin typeface="+mj-lt"/>
                          <a:cs typeface="Times New Roman" panose="02020603050405020304" pitchFamily="18" charset="0"/>
                        </a:rPr>
                        <a:t>97%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dirty="0">
                          <a:latin typeface="+mj-lt"/>
                          <a:cs typeface="Times New Roman" panose="02020603050405020304" pitchFamily="18" charset="0"/>
                        </a:rPr>
                        <a:t>~0.97+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978466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b="1">
                          <a:latin typeface="+mj-lt"/>
                          <a:cs typeface="Times New Roman" panose="02020603050405020304" pitchFamily="18" charset="0"/>
                        </a:rPr>
                        <a:t>XGBoost (Primary)</a:t>
                      </a:r>
                      <a:endParaRPr lang="en-IN" sz="1600">
                        <a:latin typeface="+mj-lt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b="1" dirty="0">
                          <a:latin typeface="+mj-lt"/>
                          <a:cs typeface="Times New Roman" panose="02020603050405020304" pitchFamily="18" charset="0"/>
                        </a:rPr>
                        <a:t>98%</a:t>
                      </a:r>
                      <a:endParaRPr lang="en-IN" sz="1600" dirty="0">
                        <a:latin typeface="+mj-lt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b="1" dirty="0">
                          <a:latin typeface="+mj-lt"/>
                          <a:cs typeface="Times New Roman" panose="02020603050405020304" pitchFamily="18" charset="0"/>
                        </a:rPr>
                        <a:t>~0.99</a:t>
                      </a:r>
                      <a:endParaRPr lang="en-IN" sz="1600" dirty="0">
                        <a:latin typeface="+mj-lt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79811649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AD7B4F56-53B9-FD35-E36D-B061F0EECE95}"/>
              </a:ext>
            </a:extLst>
          </p:cNvPr>
          <p:cNvSpPr txBox="1"/>
          <p:nvPr/>
        </p:nvSpPr>
        <p:spPr>
          <a:xfrm>
            <a:off x="1020992" y="3862625"/>
            <a:ext cx="10220491" cy="246221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>
              <a:buNone/>
            </a:pPr>
            <a:r>
              <a:rPr lang="en-IN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5-Fold Stratified Cross-Validation: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 CV Accuracy: ~97–98%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 Deviation: &lt; ±1.5%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Consistent performance across all 5 folds — no overfitting</a:t>
            </a:r>
          </a:p>
          <a:p>
            <a:pPr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Metrics Used: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 Score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ROC-AUC Score</a:t>
            </a:r>
          </a:p>
        </p:txBody>
      </p:sp>
    </p:spTree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Why 99% accuracy is legitimate (not overfitting):…"/>
          <p:cNvSpPr txBox="1">
            <a:spLocks noGrp="1"/>
          </p:cNvSpPr>
          <p:nvPr>
            <p:ph type="body" idx="4294967295"/>
          </p:nvPr>
        </p:nvSpPr>
        <p:spPr>
          <a:xfrm>
            <a:off x="1020992" y="1159602"/>
            <a:ext cx="10450259" cy="515790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sz="2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— Final Results:</a:t>
            </a:r>
            <a:endParaRPr 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 Accuracy: </a:t>
            </a: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98%</a:t>
            </a:r>
            <a:endParaRPr 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ROC-AUC: </a:t>
            </a: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~0.99</a:t>
            </a:r>
            <a:endParaRPr 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 Precision &amp; Recall for both ASD and Non-ASD classes</a:t>
            </a:r>
            <a:endParaRPr 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Helvetica"/>
            </a:endParaRPr>
          </a:p>
          <a:p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 Importance (Top Behavioral Signals):</a:t>
            </a:r>
            <a:endParaRPr 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A1–A10 Q-CHAT behavioral responses are the strongest predictors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Questions related to eye contact, response to name, and social engagement score highest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Demographic features (age, sex, family history) add supporting context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Cross-Validation Results:</a:t>
            </a:r>
            <a:endParaRPr 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5-Fold CV confirms accuracy is stable (~97–98%) — not a result of lucky split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 variance across folds → model generalizes well to unseen data</a:t>
            </a:r>
          </a:p>
          <a:p>
            <a:pPr indent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Helvetica"/>
            </a:endParaRPr>
          </a:p>
        </p:txBody>
      </p:sp>
      <p:sp>
        <p:nvSpPr>
          <p:cNvPr id="186" name="RESULT ANALYSIS"/>
          <p:cNvSpPr txBox="1">
            <a:spLocks noGrp="1"/>
          </p:cNvSpPr>
          <p:nvPr>
            <p:ph type="title" idx="4294967295"/>
          </p:nvPr>
        </p:nvSpPr>
        <p:spPr>
          <a:xfrm>
            <a:off x="1020992" y="540495"/>
            <a:ext cx="7054666" cy="521946"/>
          </a:xfrm>
          <a:prstGeom prst="rect">
            <a:avLst/>
          </a:prstGeom>
        </p:spPr>
        <p:txBody>
          <a:bodyPr anchor="ctr"/>
          <a:lstStyle>
            <a:lvl1pPr>
              <a:defRPr sz="3000" b="1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IN" dirty="0"/>
              <a:t>Result Analysis</a:t>
            </a:r>
          </a:p>
        </p:txBody>
      </p:sp>
    </p:spTree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A7B442-4631-095C-D696-4B9AB81764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D02B035-9F3D-DEE3-D5E3-6D959CECE4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884" y="1130710"/>
            <a:ext cx="9291484" cy="5034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690645"/>
      </p:ext>
    </p:extLst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Frontend:…"/>
          <p:cNvSpPr txBox="1">
            <a:spLocks noGrp="1"/>
          </p:cNvSpPr>
          <p:nvPr>
            <p:ph type="body" idx="4294967295"/>
          </p:nvPr>
        </p:nvSpPr>
        <p:spPr>
          <a:xfrm>
            <a:off x="1121277" y="1106905"/>
            <a:ext cx="10450259" cy="4419600"/>
          </a:xfrm>
          <a:prstGeom prst="rect">
            <a:avLst/>
          </a:prstGeom>
        </p:spPr>
        <p:txBody>
          <a:bodyPr>
            <a:noAutofit/>
          </a:bodyPr>
          <a:lstStyle/>
          <a:p>
            <a:pPr indent="0" defTabSz="288036">
              <a:lnSpc>
                <a:spcPct val="100000"/>
              </a:lnSpc>
              <a:spcBef>
                <a:spcPts val="700"/>
              </a:spcBef>
              <a:defRPr sz="1512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2200" dirty="0"/>
              <a:t>Frontend:</a:t>
            </a:r>
            <a:endParaRPr sz="2200" b="0" dirty="0"/>
          </a:p>
          <a:p>
            <a:pPr marL="288036" indent="-200025" defTabSz="288036">
              <a:lnSpc>
                <a:spcPct val="100000"/>
              </a:lnSpc>
              <a:spcBef>
                <a:spcPts val="0"/>
              </a:spcBef>
              <a:buSzPct val="100000"/>
              <a:buFont typeface="Times Roman"/>
              <a:buChar char="•"/>
              <a:defRPr sz="151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2200" dirty="0"/>
              <a:t>React 19 + Vite — component-based, fast HMR, optimized production builds</a:t>
            </a:r>
          </a:p>
          <a:p>
            <a:pPr marL="288036" indent="-200025" defTabSz="288036">
              <a:lnSpc>
                <a:spcPct val="100000"/>
              </a:lnSpc>
              <a:spcBef>
                <a:spcPts val="0"/>
              </a:spcBef>
              <a:buSzPct val="100000"/>
              <a:buFont typeface="Times Roman"/>
              <a:buChar char="•"/>
              <a:defRPr sz="151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2200" dirty="0"/>
              <a:t>Custom hooks: </a:t>
            </a:r>
            <a:r>
              <a:rPr sz="2200" dirty="0" err="1"/>
              <a:t>useVideoAnalysis</a:t>
            </a:r>
            <a:r>
              <a:rPr sz="2200" dirty="0"/>
              <a:t>, </a:t>
            </a:r>
            <a:r>
              <a:rPr sz="2200" dirty="0" err="1"/>
              <a:t>useAudioAnalysis</a:t>
            </a:r>
            <a:r>
              <a:rPr sz="2200" dirty="0"/>
              <a:t>, </a:t>
            </a:r>
            <a:r>
              <a:rPr sz="2200" dirty="0" err="1"/>
              <a:t>useFullScreening</a:t>
            </a:r>
            <a:r>
              <a:rPr sz="2200" dirty="0"/>
              <a:t> — separation of concerns</a:t>
            </a:r>
          </a:p>
          <a:p>
            <a:pPr marL="288036" indent="-200025" defTabSz="288036">
              <a:lnSpc>
                <a:spcPct val="100000"/>
              </a:lnSpc>
              <a:spcBef>
                <a:spcPts val="0"/>
              </a:spcBef>
              <a:buSzPct val="100000"/>
              <a:buFont typeface="Times Roman"/>
              <a:buChar char="•"/>
              <a:defRPr sz="151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2200" dirty="0"/>
              <a:t>React Hook Form — form validation without unnecessary re-renders</a:t>
            </a:r>
          </a:p>
          <a:p>
            <a:pPr marL="288036" indent="-200025" defTabSz="288036">
              <a:lnSpc>
                <a:spcPct val="100000"/>
              </a:lnSpc>
              <a:spcBef>
                <a:spcPts val="0"/>
              </a:spcBef>
              <a:buSzPct val="100000"/>
              <a:buFont typeface="Times Roman"/>
              <a:buChar char="•"/>
              <a:defRPr sz="151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2200" dirty="0"/>
              <a:t>React Query — server state caching, background sync, loading/error states</a:t>
            </a:r>
          </a:p>
          <a:p>
            <a:pPr marL="288036" indent="-200025" defTabSz="288036">
              <a:lnSpc>
                <a:spcPct val="100000"/>
              </a:lnSpc>
              <a:spcBef>
                <a:spcPts val="0"/>
              </a:spcBef>
              <a:buSzPct val="100000"/>
              <a:buFont typeface="Times Roman"/>
              <a:buChar char="•"/>
              <a:defRPr sz="151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2200" dirty="0"/>
              <a:t>Tailwind CSS — utility-first styling, no CSS conflicts</a:t>
            </a:r>
          </a:p>
          <a:p>
            <a:pPr marL="288036" indent="-200025" defTabSz="288036">
              <a:lnSpc>
                <a:spcPct val="100000"/>
              </a:lnSpc>
              <a:spcBef>
                <a:spcPts val="0"/>
              </a:spcBef>
              <a:buSzPct val="100000"/>
              <a:buFont typeface="Times Roman"/>
              <a:buChar char="•"/>
              <a:defRPr sz="151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2200" dirty="0"/>
              <a:t>Error handling on every API call with user-friendly fallback messages</a:t>
            </a:r>
          </a:p>
          <a:p>
            <a:pPr indent="0" defTabSz="288036">
              <a:lnSpc>
                <a:spcPct val="100000"/>
              </a:lnSpc>
              <a:spcBef>
                <a:spcPts val="700"/>
              </a:spcBef>
              <a:defRPr sz="1512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2200" dirty="0"/>
              <a:t>Backend:</a:t>
            </a:r>
            <a:endParaRPr sz="2200" b="0" dirty="0"/>
          </a:p>
          <a:p>
            <a:pPr marL="288036" indent="-200025" defTabSz="288036">
              <a:lnSpc>
                <a:spcPct val="100000"/>
              </a:lnSpc>
              <a:spcBef>
                <a:spcPts val="0"/>
              </a:spcBef>
              <a:buSzPct val="100000"/>
              <a:buFont typeface="Times Roman"/>
              <a:buChar char="•"/>
              <a:defRPr sz="151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2200" dirty="0" err="1"/>
              <a:t>FastAPI</a:t>
            </a:r>
            <a:r>
              <a:rPr sz="2200" dirty="0"/>
              <a:t> — async endpoints, automatic </a:t>
            </a:r>
            <a:r>
              <a:rPr sz="2200" dirty="0" err="1"/>
              <a:t>OpenAPI</a:t>
            </a:r>
            <a:r>
              <a:rPr sz="2200" dirty="0"/>
              <a:t> docs at /docs and /</a:t>
            </a:r>
            <a:r>
              <a:rPr sz="2200" dirty="0" err="1"/>
              <a:t>redoc</a:t>
            </a:r>
            <a:endParaRPr sz="2200" dirty="0"/>
          </a:p>
          <a:p>
            <a:pPr marL="288036" indent="-200025" defTabSz="288036">
              <a:lnSpc>
                <a:spcPct val="100000"/>
              </a:lnSpc>
              <a:spcBef>
                <a:spcPts val="0"/>
              </a:spcBef>
              <a:buSzPct val="100000"/>
              <a:buFont typeface="Times Roman"/>
              <a:buChar char="•"/>
              <a:defRPr sz="151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2200" dirty="0"/>
              <a:t>Service layer separation: video_processor.py, audio_processor.py, fusion.py, ai_interpreter.py</a:t>
            </a:r>
          </a:p>
          <a:p>
            <a:pPr marL="288036" indent="-200025" defTabSz="288036">
              <a:lnSpc>
                <a:spcPct val="100000"/>
              </a:lnSpc>
              <a:spcBef>
                <a:spcPts val="0"/>
              </a:spcBef>
              <a:buSzPct val="100000"/>
              <a:buFont typeface="Times Roman"/>
              <a:buChar char="•"/>
              <a:defRPr sz="151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2200" dirty="0"/>
              <a:t>Try/except on every endpoint — 422/500 errors never crash the app</a:t>
            </a:r>
          </a:p>
          <a:p>
            <a:pPr marL="288036" indent="-200025" defTabSz="288036">
              <a:lnSpc>
                <a:spcPct val="100000"/>
              </a:lnSpc>
              <a:spcBef>
                <a:spcPts val="0"/>
              </a:spcBef>
              <a:buSzPct val="100000"/>
              <a:buFont typeface="Times Roman"/>
              <a:buChar char="•"/>
              <a:defRPr sz="151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2200" dirty="0"/>
              <a:t>Gemini failure → rule-based fallback response served automatically</a:t>
            </a:r>
          </a:p>
          <a:p>
            <a:pPr indent="0" defTabSz="288036">
              <a:lnSpc>
                <a:spcPct val="100000"/>
              </a:lnSpc>
              <a:spcBef>
                <a:spcPts val="700"/>
              </a:spcBef>
              <a:defRPr sz="151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sz="2200" dirty="0"/>
          </a:p>
        </p:txBody>
      </p:sp>
      <p:sp>
        <p:nvSpPr>
          <p:cNvPr id="192" name="CODE QUALITY"/>
          <p:cNvSpPr txBox="1">
            <a:spLocks noGrp="1"/>
          </p:cNvSpPr>
          <p:nvPr>
            <p:ph type="title" idx="4294967295"/>
          </p:nvPr>
        </p:nvSpPr>
        <p:spPr>
          <a:xfrm>
            <a:off x="1121277" y="457105"/>
            <a:ext cx="7054666" cy="521946"/>
          </a:xfrm>
          <a:prstGeom prst="rect">
            <a:avLst/>
          </a:prstGeom>
        </p:spPr>
        <p:txBody>
          <a:bodyPr anchor="ctr"/>
          <a:lstStyle>
            <a:lvl1pPr>
              <a:defRPr sz="3000" b="1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IN" dirty="0"/>
              <a:t>Code Quality </a:t>
            </a:r>
          </a:p>
        </p:txBody>
      </p:sp>
    </p:spTree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ML Pipeline:…"/>
          <p:cNvSpPr txBox="1">
            <a:spLocks noGrp="1"/>
          </p:cNvSpPr>
          <p:nvPr>
            <p:ph type="body" idx="4294967295"/>
          </p:nvPr>
        </p:nvSpPr>
        <p:spPr>
          <a:xfrm>
            <a:off x="1121277" y="1219200"/>
            <a:ext cx="10450259" cy="4419600"/>
          </a:xfrm>
          <a:prstGeom prst="rect">
            <a:avLst/>
          </a:prstGeom>
        </p:spPr>
        <p:txBody>
          <a:bodyPr/>
          <a:lstStyle/>
          <a:p>
            <a:pPr indent="0" defTabSz="443484">
              <a:lnSpc>
                <a:spcPct val="100000"/>
              </a:lnSpc>
              <a:spcBef>
                <a:spcPts val="1100"/>
              </a:spcBef>
              <a:defRPr sz="2328" b="1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dirty="0"/>
              <a:t>ML Pipeline:</a:t>
            </a:r>
            <a:endParaRPr b="0" dirty="0"/>
          </a:p>
          <a:p>
            <a:pPr marL="443484" indent="-307975" defTabSz="443484">
              <a:lnSpc>
                <a:spcPct val="100000"/>
              </a:lnSpc>
              <a:spcBef>
                <a:spcPts val="0"/>
              </a:spcBef>
              <a:buSzPct val="100000"/>
              <a:buFont typeface="Times Roman"/>
              <a:buChar char="•"/>
              <a:defRPr sz="2328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dirty="0"/>
              <a:t>Data leakage explicitly prevented — Qchat-10-Score dropped before training</a:t>
            </a:r>
          </a:p>
          <a:p>
            <a:pPr marL="443484" indent="-307975" defTabSz="443484">
              <a:lnSpc>
                <a:spcPct val="100000"/>
              </a:lnSpc>
              <a:spcBef>
                <a:spcPts val="0"/>
              </a:spcBef>
              <a:buSzPct val="100000"/>
              <a:buFont typeface="Times Roman"/>
              <a:buChar char="•"/>
              <a:defRPr sz="2328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dirty="0" err="1"/>
              <a:t>StratifiedKFold</a:t>
            </a:r>
            <a:r>
              <a:rPr dirty="0"/>
              <a:t> CV — class-balanced validation</a:t>
            </a:r>
          </a:p>
          <a:p>
            <a:pPr marL="443484" indent="-307975" defTabSz="443484">
              <a:lnSpc>
                <a:spcPct val="100000"/>
              </a:lnSpc>
              <a:spcBef>
                <a:spcPts val="0"/>
              </a:spcBef>
              <a:buSzPct val="100000"/>
              <a:buFont typeface="Times Roman"/>
              <a:buChar char="•"/>
              <a:defRPr sz="2328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dirty="0" err="1"/>
              <a:t>joblib</a:t>
            </a:r>
            <a:r>
              <a:rPr dirty="0"/>
              <a:t> serialization — </a:t>
            </a:r>
            <a:r>
              <a:rPr dirty="0" err="1"/>
              <a:t>model.pkl</a:t>
            </a:r>
            <a:r>
              <a:rPr dirty="0"/>
              <a:t> + </a:t>
            </a:r>
            <a:r>
              <a:rPr dirty="0" err="1"/>
              <a:t>label_encoders.pkl</a:t>
            </a:r>
            <a:r>
              <a:rPr dirty="0"/>
              <a:t> + </a:t>
            </a:r>
            <a:r>
              <a:rPr dirty="0" err="1"/>
              <a:t>feature_names.json</a:t>
            </a:r>
            <a:endParaRPr dirty="0"/>
          </a:p>
          <a:p>
            <a:pPr marL="443484" indent="-307975" defTabSz="443484">
              <a:lnSpc>
                <a:spcPct val="100000"/>
              </a:lnSpc>
              <a:spcBef>
                <a:spcPts val="0"/>
              </a:spcBef>
              <a:buSzPct val="100000"/>
              <a:buFont typeface="Times Roman"/>
              <a:buChar char="•"/>
              <a:defRPr sz="2328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dirty="0"/>
              <a:t>Input validation at inference using saved feature column order</a:t>
            </a:r>
          </a:p>
          <a:p>
            <a:pPr marL="443484" indent="-307975" defTabSz="443484">
              <a:lnSpc>
                <a:spcPct val="100000"/>
              </a:lnSpc>
              <a:spcBef>
                <a:spcPts val="0"/>
              </a:spcBef>
              <a:buSzPct val="100000"/>
              <a:buFont typeface="Times Roman"/>
              <a:buChar char="•"/>
              <a:defRPr sz="2328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dirty="0"/>
              <a:t>All thresholds documented with literature citations</a:t>
            </a:r>
          </a:p>
          <a:p>
            <a:pPr indent="0" defTabSz="443484">
              <a:lnSpc>
                <a:spcPct val="100000"/>
              </a:lnSpc>
              <a:spcBef>
                <a:spcPts val="1100"/>
              </a:spcBef>
              <a:defRPr sz="2328" b="1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dirty="0"/>
              <a:t>Standards:</a:t>
            </a:r>
            <a:endParaRPr b="0" dirty="0"/>
          </a:p>
          <a:p>
            <a:pPr marL="443484" indent="-307975" defTabSz="443484">
              <a:lnSpc>
                <a:spcPct val="100000"/>
              </a:lnSpc>
              <a:spcBef>
                <a:spcPts val="0"/>
              </a:spcBef>
              <a:buSzPct val="100000"/>
              <a:buFont typeface="Times Roman"/>
              <a:buChar char="•"/>
              <a:defRPr sz="2328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dirty="0"/>
              <a:t>API keys in .env — never hardcoded in source</a:t>
            </a:r>
          </a:p>
          <a:p>
            <a:pPr marL="443484" indent="-307975" defTabSz="443484">
              <a:lnSpc>
                <a:spcPct val="100000"/>
              </a:lnSpc>
              <a:spcBef>
                <a:spcPts val="0"/>
              </a:spcBef>
              <a:buSzPct val="100000"/>
              <a:buFont typeface="Times Roman"/>
              <a:buChar char="•"/>
              <a:defRPr sz="2328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dirty="0"/>
              <a:t>File size limits enforced: video 50MB, audio 20MB</a:t>
            </a:r>
          </a:p>
        </p:txBody>
      </p:sp>
      <p:sp>
        <p:nvSpPr>
          <p:cNvPr id="195" name="CODE QUALITY"/>
          <p:cNvSpPr txBox="1">
            <a:spLocks noGrp="1"/>
          </p:cNvSpPr>
          <p:nvPr>
            <p:ph type="title" idx="4294967295"/>
          </p:nvPr>
        </p:nvSpPr>
        <p:spPr>
          <a:xfrm>
            <a:off x="1020992" y="328769"/>
            <a:ext cx="7054666" cy="521946"/>
          </a:xfrm>
          <a:prstGeom prst="rect">
            <a:avLst/>
          </a:prstGeom>
        </p:spPr>
        <p:txBody>
          <a:bodyPr anchor="ctr"/>
          <a:lstStyle>
            <a:lvl1pPr>
              <a:defRPr sz="3000" b="1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endParaRPr dirty="0"/>
          </a:p>
        </p:txBody>
      </p:sp>
    </p:spTree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Completed…"/>
          <p:cNvSpPr txBox="1">
            <a:spLocks noGrp="1"/>
          </p:cNvSpPr>
          <p:nvPr>
            <p:ph type="body" idx="4294967295"/>
          </p:nvPr>
        </p:nvSpPr>
        <p:spPr>
          <a:xfrm>
            <a:off x="1020992" y="1058779"/>
            <a:ext cx="10450259" cy="4419600"/>
          </a:xfrm>
          <a:prstGeom prst="rect">
            <a:avLst/>
          </a:prstGeom>
        </p:spPr>
        <p:txBody>
          <a:bodyPr>
            <a:noAutofit/>
          </a:bodyPr>
          <a:lstStyle/>
          <a:p>
            <a:pPr indent="0" defTabSz="338327">
              <a:lnSpc>
                <a:spcPct val="100000"/>
              </a:lnSpc>
              <a:spcBef>
                <a:spcPts val="800"/>
              </a:spcBef>
              <a:defRPr sz="1776" b="1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Completed </a:t>
            </a:r>
            <a:endParaRPr sz="22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38327" indent="-234950" defTabSz="338327">
              <a:lnSpc>
                <a:spcPct val="100000"/>
              </a:lnSpc>
              <a:spcBef>
                <a:spcPts val="0"/>
              </a:spcBef>
              <a:buSzPct val="100000"/>
              <a:buFont typeface="Times Roman"/>
              <a:buChar char="•"/>
              <a:defRPr sz="1776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Q-CHAT-10 dataset preprocessing and leakage removal</a:t>
            </a:r>
          </a:p>
          <a:p>
            <a:pPr marL="338327" indent="-234950" defTabSz="338327">
              <a:lnSpc>
                <a:spcPct val="100000"/>
              </a:lnSpc>
              <a:spcBef>
                <a:spcPts val="0"/>
              </a:spcBef>
              <a:buSzPct val="100000"/>
              <a:buFont typeface="Times Roman"/>
              <a:buChar char="•"/>
              <a:defRPr sz="1776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 training — 99.18% accuracy, .</a:t>
            </a:r>
            <a:r>
              <a:rPr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pkl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exported</a:t>
            </a:r>
          </a:p>
          <a:p>
            <a:pPr marL="338327" indent="-234950" defTabSz="338327">
              <a:lnSpc>
                <a:spcPct val="100000"/>
              </a:lnSpc>
              <a:spcBef>
                <a:spcPts val="0"/>
              </a:spcBef>
              <a:buSzPct val="100000"/>
              <a:buFont typeface="Times Roman"/>
              <a:buChar char="•"/>
              <a:defRPr sz="1776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backend — auth, sessions, screening endpoints</a:t>
            </a:r>
          </a:p>
          <a:p>
            <a:pPr marL="338327" indent="-234950" defTabSz="338327">
              <a:lnSpc>
                <a:spcPct val="100000"/>
              </a:lnSpc>
              <a:spcBef>
                <a:spcPts val="0"/>
              </a:spcBef>
              <a:buSzPct val="100000"/>
              <a:buFont typeface="Times Roman"/>
              <a:buChar char="•"/>
              <a:defRPr sz="1776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MongoDB integration — users, session history, results stored</a:t>
            </a:r>
          </a:p>
          <a:p>
            <a:pPr marL="338327" indent="-234950" defTabSz="338327">
              <a:lnSpc>
                <a:spcPct val="100000"/>
              </a:lnSpc>
              <a:spcBef>
                <a:spcPts val="0"/>
              </a:spcBef>
              <a:buSzPct val="100000"/>
              <a:buFont typeface="Times Roman"/>
              <a:buChar char="•"/>
              <a:defRPr sz="1776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Video processing — OpenCV + </a:t>
            </a:r>
            <a:r>
              <a:rPr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MediaPipe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feature extraction</a:t>
            </a:r>
          </a:p>
          <a:p>
            <a:pPr marL="338327" indent="-234950" defTabSz="338327">
              <a:lnSpc>
                <a:spcPct val="100000"/>
              </a:lnSpc>
              <a:spcBef>
                <a:spcPts val="0"/>
              </a:spcBef>
              <a:buSzPct val="100000"/>
              <a:buFont typeface="Times Roman"/>
              <a:buChar char="•"/>
              <a:defRPr sz="1776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Audio processing — </a:t>
            </a:r>
            <a:r>
              <a:rPr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Librosa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MFCC, pitch, energy features</a:t>
            </a:r>
          </a:p>
          <a:p>
            <a:pPr marL="338327" indent="-234950" defTabSz="338327">
              <a:lnSpc>
                <a:spcPct val="100000"/>
              </a:lnSpc>
              <a:spcBef>
                <a:spcPts val="0"/>
              </a:spcBef>
              <a:buSzPct val="100000"/>
              <a:buFont typeface="Times Roman"/>
              <a:buChar char="•"/>
              <a:defRPr sz="1776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Multimodal </a:t>
            </a:r>
            <a:r>
              <a:rPr sz="22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fusion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layer — weighted scoring with risk levels</a:t>
            </a:r>
          </a:p>
          <a:p>
            <a:pPr marL="338327" indent="-234950" defTabSz="338327">
              <a:lnSpc>
                <a:spcPct val="100000"/>
              </a:lnSpc>
              <a:spcBef>
                <a:spcPts val="0"/>
              </a:spcBef>
              <a:buSzPct val="100000"/>
              <a:buFont typeface="Times Roman"/>
              <a:buChar char="•"/>
              <a:defRPr sz="1776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Gemini AI integration — prompt engineered, fallback </a:t>
            </a:r>
            <a:r>
              <a:rPr sz="22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implemented</a:t>
            </a:r>
          </a:p>
          <a:p>
            <a:pPr indent="0" defTabSz="338327">
              <a:lnSpc>
                <a:spcPct val="100000"/>
              </a:lnSpc>
              <a:spcBef>
                <a:spcPts val="800"/>
              </a:spcBef>
              <a:defRPr sz="1776" b="1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 Plan:</a:t>
            </a:r>
            <a:endParaRPr sz="22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38327" indent="-234950" defTabSz="338327">
              <a:lnSpc>
                <a:spcPct val="100000"/>
              </a:lnSpc>
              <a:spcBef>
                <a:spcPts val="0"/>
              </a:spcBef>
              <a:buSzPct val="100000"/>
              <a:buFont typeface="Times Roman"/>
              <a:buChar char="•"/>
              <a:defRPr sz="1776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 → </a:t>
            </a:r>
            <a:r>
              <a:rPr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Vercel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(free, auto-deploy from GitHub)</a:t>
            </a:r>
          </a:p>
          <a:p>
            <a:pPr marL="338327" indent="-234950" defTabSz="338327">
              <a:lnSpc>
                <a:spcPct val="100000"/>
              </a:lnSpc>
              <a:spcBef>
                <a:spcPts val="0"/>
              </a:spcBef>
              <a:buSzPct val="100000"/>
              <a:buFont typeface="Times Roman"/>
              <a:buChar char="•"/>
              <a:defRPr sz="1776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 → Render (free tier, </a:t>
            </a:r>
            <a:r>
              <a:rPr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supported)</a:t>
            </a:r>
          </a:p>
          <a:p>
            <a:pPr marL="338327" indent="-234950" defTabSz="338327">
              <a:lnSpc>
                <a:spcPct val="100000"/>
              </a:lnSpc>
              <a:spcBef>
                <a:spcPts val="0"/>
              </a:spcBef>
              <a:buSzPct val="100000"/>
              <a:buFont typeface="Times Roman"/>
              <a:buChar char="•"/>
              <a:defRPr sz="1776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→ MongoDB Atlas (free 512MB cluster)</a:t>
            </a:r>
          </a:p>
          <a:p>
            <a:pPr marL="338327" indent="-234950" defTabSz="338327">
              <a:lnSpc>
                <a:spcPct val="100000"/>
              </a:lnSpc>
              <a:spcBef>
                <a:spcPts val="0"/>
              </a:spcBef>
              <a:buSzPct val="100000"/>
              <a:buFont typeface="Times Roman"/>
              <a:buChar char="•"/>
              <a:defRPr sz="1776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Target: Demo-ready for viva presentation</a:t>
            </a:r>
          </a:p>
        </p:txBody>
      </p:sp>
      <p:sp>
        <p:nvSpPr>
          <p:cNvPr id="198" name="PROGRESS TOWARDS DEPLOYMENT"/>
          <p:cNvSpPr txBox="1">
            <a:spLocks noGrp="1"/>
          </p:cNvSpPr>
          <p:nvPr>
            <p:ph type="title" idx="4294967295"/>
          </p:nvPr>
        </p:nvSpPr>
        <p:spPr>
          <a:xfrm>
            <a:off x="1020992" y="456589"/>
            <a:ext cx="7054666" cy="521946"/>
          </a:xfrm>
          <a:prstGeom prst="rect">
            <a:avLst/>
          </a:prstGeom>
        </p:spPr>
        <p:txBody>
          <a:bodyPr anchor="ctr"/>
          <a:lstStyle>
            <a:lvl1pPr>
              <a:defRPr sz="3000" b="1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IN" dirty="0"/>
              <a:t>Progress Towards Deployment </a:t>
            </a:r>
          </a:p>
        </p:txBody>
      </p:sp>
    </p:spTree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Double-click to edit"/>
          <p:cNvSpPr txBox="1">
            <a:spLocks noGrp="1"/>
          </p:cNvSpPr>
          <p:nvPr>
            <p:ph type="body" idx="4294967295"/>
          </p:nvPr>
        </p:nvSpPr>
        <p:spPr>
          <a:xfrm>
            <a:off x="1121277" y="1219200"/>
            <a:ext cx="10450259" cy="4419600"/>
          </a:xfrm>
          <a:prstGeom prst="rect">
            <a:avLst/>
          </a:prstGeom>
        </p:spPr>
        <p:txBody>
          <a:bodyPr>
            <a:noAutofit/>
          </a:bodyPr>
          <a:lstStyle/>
          <a:p>
            <a:pPr indent="0"/>
            <a:r>
              <a:rPr lang="en-IN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Documentation:</a:t>
            </a:r>
            <a:endParaRPr lang="en-IN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Source: Autistic Spectrum Disorder Screening Data for Toddlers — Fadi </a:t>
            </a:r>
            <a:r>
              <a:rPr lang="en-IN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Thabtah</a:t>
            </a: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(UCI / Kaggle)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18 features including 10 </a:t>
            </a:r>
            <a:r>
              <a:rPr lang="en-IN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behavioral</a:t>
            </a: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Q-CHAT items + demographics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Target: Class/ASD Traits (Yes/No)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Leakage column (Qchat-10-Score) identified, documented, and dropped</a:t>
            </a:r>
          </a:p>
          <a:p>
            <a:pPr indent="0"/>
            <a:r>
              <a:rPr lang="en-IN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Documentation:</a:t>
            </a:r>
            <a:endParaRPr lang="en-IN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 model artifacts include metadata: feature names, class mappings, label encoders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Reproducible: fixed </a:t>
            </a:r>
            <a:r>
              <a:rPr lang="en-IN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random_state</a:t>
            </a: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stratified splits, saved preprocessing objects</a:t>
            </a:r>
          </a:p>
          <a:p>
            <a:pPr marL="457200" indent="-406400">
              <a:buClr>
                <a:srgbClr val="000000"/>
              </a:buClr>
              <a:buSzPts val="2800"/>
              <a:buFont typeface="Arial"/>
              <a:buChar char="•"/>
              <a:defRPr sz="2800">
                <a:solidFill>
                  <a:srgbClr val="000000"/>
                </a:solidFill>
              </a:defRPr>
            </a:pPr>
            <a:endParaRPr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1" name="DOCUMENTATION"/>
          <p:cNvSpPr txBox="1">
            <a:spLocks noGrp="1"/>
          </p:cNvSpPr>
          <p:nvPr>
            <p:ph type="title" idx="4294967295"/>
          </p:nvPr>
        </p:nvSpPr>
        <p:spPr>
          <a:xfrm>
            <a:off x="1121277" y="489190"/>
            <a:ext cx="7054666" cy="521946"/>
          </a:xfrm>
          <a:prstGeom prst="rect">
            <a:avLst/>
          </a:prstGeom>
        </p:spPr>
        <p:txBody>
          <a:bodyPr anchor="ctr"/>
          <a:lstStyle>
            <a:lvl1pPr>
              <a:defRPr sz="3000" b="1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IN" dirty="0"/>
              <a:t>Documentation</a:t>
            </a:r>
            <a:endParaRPr dirty="0"/>
          </a:p>
        </p:txBody>
      </p:sp>
    </p:spTree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E53EF1-6F9F-75BF-FEA8-DF4D166ABA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Double-click to edit">
            <a:extLst>
              <a:ext uri="{FF2B5EF4-FFF2-40B4-BE49-F238E27FC236}">
                <a16:creationId xmlns:a16="http://schemas.microsoft.com/office/drawing/2014/main" id="{39EDAAE3-A22E-38AF-AE7C-054E2B3A66DE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121277" y="1219200"/>
            <a:ext cx="10450259" cy="4419600"/>
          </a:xfrm>
          <a:prstGeom prst="rect">
            <a:avLst/>
          </a:prstGeom>
        </p:spPr>
        <p:txBody>
          <a:bodyPr>
            <a:noAutofit/>
          </a:bodyPr>
          <a:lstStyle/>
          <a:p>
            <a:pPr indent="0"/>
            <a:r>
              <a:rPr lang="en-IN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Code Documentation:</a:t>
            </a:r>
            <a:endParaRPr lang="en-IN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Inline comments explain every major decision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Step-wise notebook structure (Steps 1–10) acts as self-documenting pipeline</a:t>
            </a:r>
          </a:p>
          <a:p>
            <a:pPr indent="0"/>
            <a:r>
              <a:rPr lang="en-IN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API Documentation (</a:t>
            </a:r>
            <a:r>
              <a:rPr lang="en-IN" sz="2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lang="en-IN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IN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Auto-generated Swagger UI via </a:t>
            </a:r>
            <a:r>
              <a:rPr lang="en-IN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at /docs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 schema: JSON with 10 </a:t>
            </a:r>
            <a:r>
              <a:rPr lang="en-IN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behavioral</a:t>
            </a: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questions + demographic fields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 schema: prediction label, confidence score, risk level</a:t>
            </a:r>
          </a:p>
          <a:p>
            <a:pPr indent="0"/>
            <a:r>
              <a:rPr lang="en-IN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Documentation (</a:t>
            </a:r>
            <a:r>
              <a:rPr lang="en-IN" sz="2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EarlyBloom</a:t>
            </a:r>
            <a:r>
              <a:rPr lang="en-IN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IN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README covers tech stack, setup instructions, and endpoint descriptions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Multimodal fusion logic documented with fallback </a:t>
            </a:r>
            <a:r>
              <a:rPr lang="en-IN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endParaRPr lang="en-IN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Gemini chatbot includes fallback responses for API failure scenarios</a:t>
            </a:r>
          </a:p>
          <a:p>
            <a:pPr marL="457200" indent="-406400">
              <a:buClr>
                <a:srgbClr val="000000"/>
              </a:buClr>
              <a:buSzPts val="2800"/>
              <a:buFont typeface="Arial"/>
              <a:buChar char="•"/>
              <a:defRPr sz="2800">
                <a:solidFill>
                  <a:srgbClr val="000000"/>
                </a:solidFill>
              </a:defRPr>
            </a:pPr>
            <a:endParaRPr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1" name="DOCUMENTATION">
            <a:extLst>
              <a:ext uri="{FF2B5EF4-FFF2-40B4-BE49-F238E27FC236}">
                <a16:creationId xmlns:a16="http://schemas.microsoft.com/office/drawing/2014/main" id="{53C9CBE8-74A5-ABE9-041B-FEFC09B0CA7E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020992" y="328769"/>
            <a:ext cx="7054666" cy="521946"/>
          </a:xfrm>
          <a:prstGeom prst="rect">
            <a:avLst/>
          </a:prstGeom>
        </p:spPr>
        <p:txBody>
          <a:bodyPr anchor="ctr"/>
          <a:lstStyle>
            <a:lvl1pPr>
              <a:defRPr sz="3000" b="1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IN" dirty="0"/>
              <a:t>Documentation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72372"/>
      </p:ext>
    </p:extLst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155;p20"/>
          <p:cNvSpPr txBox="1"/>
          <p:nvPr/>
        </p:nvSpPr>
        <p:spPr>
          <a:xfrm>
            <a:off x="2517118" y="3167389"/>
            <a:ext cx="7157750" cy="4826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>
            <a:spAutoFit/>
          </a:bodyPr>
          <a:lstStyle>
            <a:lvl1pPr algn="ctr">
              <a:defRPr sz="2800" b="1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THANK YOU!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2668</Words>
  <Application>Microsoft Office PowerPoint</Application>
  <PresentationFormat>Widescreen</PresentationFormat>
  <Paragraphs>365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0" baseType="lpstr">
      <vt:lpstr>Arial</vt:lpstr>
      <vt:lpstr>Calibri</vt:lpstr>
      <vt:lpstr>Times New Roman</vt:lpstr>
      <vt:lpstr>Times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Data Preprocessing</vt:lpstr>
      <vt:lpstr>Feature Engineering</vt:lpstr>
      <vt:lpstr>PowerPoint Presentation</vt:lpstr>
      <vt:lpstr>Experimentation</vt:lpstr>
      <vt:lpstr>PowerPoint Presentation</vt:lpstr>
      <vt:lpstr>Model Implementation</vt:lpstr>
      <vt:lpstr>PowerPoint Presentation</vt:lpstr>
      <vt:lpstr>Performance Evaluation </vt:lpstr>
      <vt:lpstr>Result Analysis</vt:lpstr>
      <vt:lpstr>PowerPoint Presentation</vt:lpstr>
      <vt:lpstr>Code Quality </vt:lpstr>
      <vt:lpstr>PowerPoint Presentation</vt:lpstr>
      <vt:lpstr>Progress Towards Deployment </vt:lpstr>
      <vt:lpstr>Documentation</vt:lpstr>
      <vt:lpstr>Documentation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sandhya rani pulkanti</cp:lastModifiedBy>
  <cp:revision>3</cp:revision>
  <dcterms:modified xsi:type="dcterms:W3CDTF">2026-05-06T01:23:05Z</dcterms:modified>
</cp:coreProperties>
</file>