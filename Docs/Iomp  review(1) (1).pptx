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8"/>
  </p:notesMasterIdLst>
  <p:sldIdLst>
    <p:sldId id="256" r:id="rId2"/>
    <p:sldId id="311" r:id="rId3"/>
    <p:sldId id="312" r:id="rId4"/>
    <p:sldId id="277" r:id="rId5"/>
    <p:sldId id="288" r:id="rId6"/>
    <p:sldId id="269" r:id="rId7"/>
    <p:sldId id="297" r:id="rId8"/>
    <p:sldId id="293" r:id="rId9"/>
    <p:sldId id="300" r:id="rId10"/>
    <p:sldId id="301" r:id="rId11"/>
    <p:sldId id="313" r:id="rId12"/>
    <p:sldId id="295" r:id="rId13"/>
    <p:sldId id="302" r:id="rId14"/>
    <p:sldId id="285" r:id="rId15"/>
    <p:sldId id="303" r:id="rId16"/>
    <p:sldId id="298" r:id="rId17"/>
    <p:sldId id="315" r:id="rId18"/>
    <p:sldId id="316" r:id="rId19"/>
    <p:sldId id="320" r:id="rId20"/>
    <p:sldId id="321" r:id="rId21"/>
    <p:sldId id="317" r:id="rId22"/>
    <p:sldId id="318" r:id="rId23"/>
    <p:sldId id="322" r:id="rId24"/>
    <p:sldId id="319" r:id="rId25"/>
    <p:sldId id="323" r:id="rId26"/>
    <p:sldId id="267"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5" autoAdjust="0"/>
    <p:restoredTop sz="94631"/>
  </p:normalViewPr>
  <p:slideViewPr>
    <p:cSldViewPr snapToGrid="0">
      <p:cViewPr varScale="1">
        <p:scale>
          <a:sx n="78" d="100"/>
          <a:sy n="78" d="100"/>
        </p:scale>
        <p:origin x="97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4" name="Google Shape;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pic>
        <p:nvPicPr>
          <p:cNvPr id="12" name="Google Shape;12;p22" descr="A picture containing text&#10;&#10;Description automatically generated"/>
          <p:cNvPicPr preferRelativeResize="0"/>
          <p:nvPr/>
        </p:nvPicPr>
        <p:blipFill rotWithShape="1">
          <a:blip r:embed="rId2"/>
          <a:srcRect/>
          <a:stretch>
            <a:fill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pic>
        <p:nvPicPr>
          <p:cNvPr id="14" name="Google Shape;14;p23" descr="Chart&#10;&#10;Description automatically generated with medium confidence"/>
          <p:cNvPicPr preferRelativeResize="0"/>
          <p:nvPr/>
        </p:nvPicPr>
        <p:blipFill rotWithShape="1">
          <a:blip r:embed="rId2"/>
          <a:srcRect/>
          <a:stretch>
            <a:fillRect/>
          </a:stretch>
        </p:blipFill>
        <p:spPr>
          <a:xfrm>
            <a:off x="9392" y="0"/>
            <a:ext cx="12182607" cy="68632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8" name="Google Shape;1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8"/>
        <p:cNvGrpSpPr/>
        <p:nvPr/>
      </p:nvGrpSpPr>
      <p:grpSpPr>
        <a:xfrm>
          <a:off x="0" y="0"/>
          <a:ext cx="0" cy="0"/>
          <a:chOff x="0" y="0"/>
          <a:chExt cx="0" cy="0"/>
        </a:xfrm>
      </p:grpSpPr>
      <p:sp>
        <p:nvSpPr>
          <p:cNvPr id="29" name="Google Shape;29;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1" name="Google Shape;31;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9" name="Google Shape;49;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0" name="Google Shape;5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3"/>
        <p:cNvGrpSpPr/>
        <p:nvPr/>
      </p:nvGrpSpPr>
      <p:grpSpPr>
        <a:xfrm>
          <a:off x="0" y="0"/>
          <a:ext cx="0" cy="0"/>
          <a:chOff x="0" y="0"/>
          <a:chExt cx="0" cy="0"/>
        </a:xfrm>
      </p:grpSpPr>
      <p:sp>
        <p:nvSpPr>
          <p:cNvPr id="54" name="Google Shape;54;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0"/>
          <p:cNvSpPr>
            <a:spLocks noGrp="1"/>
          </p:cNvSpPr>
          <p:nvPr>
            <p:ph type="pic" idx="2"/>
          </p:nvPr>
        </p:nvSpPr>
        <p:spPr>
          <a:xfrm>
            <a:off x="5183188" y="987425"/>
            <a:ext cx="6172200" cy="4873625"/>
          </a:xfrm>
          <a:prstGeom prst="rect">
            <a:avLst/>
          </a:prstGeom>
          <a:noFill/>
          <a:ln>
            <a:noFill/>
          </a:ln>
        </p:spPr>
      </p:sp>
      <p:sp>
        <p:nvSpPr>
          <p:cNvPr id="56" name="Google Shape;56;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0"/>
        <p:cNvGrpSpPr/>
        <p:nvPr/>
      </p:nvGrpSpPr>
      <p:grpSpPr>
        <a:xfrm>
          <a:off x="0" y="0"/>
          <a:ext cx="0" cy="0"/>
          <a:chOff x="0" y="0"/>
          <a:chExt cx="0" cy="0"/>
        </a:xfrm>
      </p:grpSpPr>
      <p:sp>
        <p:nvSpPr>
          <p:cNvPr id="61" name="Google Shape;61;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6"/>
        <p:cNvGrpSpPr/>
        <p:nvPr/>
      </p:nvGrpSpPr>
      <p:grpSpPr>
        <a:xfrm>
          <a:off x="0" y="0"/>
          <a:ext cx="0" cy="0"/>
          <a:chOff x="0" y="0"/>
          <a:chExt cx="0" cy="0"/>
        </a:xfrm>
      </p:grpSpPr>
      <p:sp>
        <p:nvSpPr>
          <p:cNvPr id="67" name="Google Shape;67;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ondyari/FaceForensics#access" TargetMode="External"/><Relationship Id="rId2" Type="http://schemas.openxmlformats.org/officeDocument/2006/relationships/hyperlink" Target="https://www.kaggle.com/c/deepfake-detection-challenge" TargetMode="External"/><Relationship Id="rId1" Type="http://schemas.openxmlformats.org/officeDocument/2006/relationships/slideLayout" Target="../slideLayouts/slideLayout2.xml"/><Relationship Id="rId5" Type="http://schemas.openxmlformats.org/officeDocument/2006/relationships/hyperlink" Target="https://conradsanderson.id.au/vidtimit/" TargetMode="External"/><Relationship Id="rId4" Type="http://schemas.openxmlformats.org/officeDocument/2006/relationships/hyperlink" Target="https://github.com/yuezunli/celeb-deepfakeforensic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NVlabs/ffhq-dataset" TargetMode="External"/><Relationship Id="rId2" Type="http://schemas.openxmlformats.org/officeDocument/2006/relationships/hyperlink" Target="https://mmlab.ie.cuhk.edu.hk/projects/CelebA.html" TargetMode="External"/><Relationship Id="rId1" Type="http://schemas.openxmlformats.org/officeDocument/2006/relationships/slideLayout" Target="../slideLayouts/slideLayout2.xml"/><Relationship Id="rId5" Type="http://schemas.openxmlformats.org/officeDocument/2006/relationships/hyperlink" Target="https://www.kaggle.com/c/fake-faces" TargetMode="External"/><Relationship Id="rId4" Type="http://schemas.openxmlformats.org/officeDocument/2006/relationships/hyperlink" Target="https://github.com/NVlabs/stylegan"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datasets/mohammedabdeldayem/the-fake-or-real-dataset" TargetMode="External"/><Relationship Id="rId2" Type="http://schemas.openxmlformats.org/officeDocument/2006/relationships/hyperlink" Target="https://zenodo.org/record/4837263" TargetMode="External"/><Relationship Id="rId1" Type="http://schemas.openxmlformats.org/officeDocument/2006/relationships/slideLayout" Target="../slideLayouts/slideLayout2.xml"/><Relationship Id="rId5" Type="http://schemas.openxmlformats.org/officeDocument/2006/relationships/hyperlink" Target="https://www.openslr.org/12" TargetMode="External"/><Relationship Id="rId4" Type="http://schemas.openxmlformats.org/officeDocument/2006/relationships/hyperlink" Target="https://github.com/RUB-SysSec/WaveFak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
          <p:cNvSpPr txBox="1"/>
          <p:nvPr/>
        </p:nvSpPr>
        <p:spPr>
          <a:xfrm>
            <a:off x="817320" y="4115875"/>
            <a:ext cx="5561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 name="Google Shape;77;p1"/>
          <p:cNvSpPr txBox="1"/>
          <p:nvPr/>
        </p:nvSpPr>
        <p:spPr>
          <a:xfrm>
            <a:off x="114963" y="2931057"/>
            <a:ext cx="6966414" cy="2583180"/>
          </a:xfrm>
          <a:prstGeom prst="rect">
            <a:avLst/>
          </a:prstGeom>
          <a:noFill/>
          <a:ln>
            <a:noFill/>
          </a:ln>
        </p:spPr>
        <p:txBody>
          <a:bodyPr spcFirstLastPara="1" wrap="square" lIns="91425" tIns="45700" rIns="91425" bIns="45700" anchor="t" anchorCtr="0">
            <a:spAutoFit/>
          </a:bodyPr>
          <a:lstStyle/>
          <a:p>
            <a:pPr algn="ctr">
              <a:lnSpc>
                <a:spcPct val="150000"/>
              </a:lnSpc>
              <a:buSzPts val="2400"/>
            </a:pPr>
            <a:r>
              <a:rPr lang="en-GB" sz="3600" b="1" dirty="0">
                <a:solidFill>
                  <a:schemeClr val="dk1"/>
                </a:solidFill>
                <a:latin typeface="Times New Roman" panose="02020603050405020304"/>
                <a:ea typeface="Times New Roman" panose="02020603050405020304"/>
                <a:cs typeface="Times New Roman" panose="02020603050405020304"/>
              </a:rPr>
              <a:t>Industry Oriented Mini Project</a:t>
            </a:r>
          </a:p>
          <a:p>
            <a:pPr algn="ctr">
              <a:lnSpc>
                <a:spcPct val="150000"/>
              </a:lnSpc>
              <a:buSzPts val="2400"/>
            </a:pPr>
            <a:r>
              <a:rPr lang="en-GB" sz="3600" b="1" dirty="0">
                <a:solidFill>
                  <a:schemeClr val="dk1"/>
                </a:solidFill>
                <a:latin typeface="Times New Roman" panose="02020603050405020304"/>
                <a:ea typeface="Times New Roman" panose="02020603050405020304"/>
                <a:cs typeface="Times New Roman" panose="02020603050405020304"/>
              </a:rPr>
              <a:t>MID- </a:t>
            </a:r>
            <a:r>
              <a:rPr lang="en-IN" altLang="en-GB" sz="3600" b="1" dirty="0">
                <a:solidFill>
                  <a:schemeClr val="dk1"/>
                </a:solidFill>
                <a:latin typeface="Times New Roman" panose="02020603050405020304"/>
                <a:ea typeface="Times New Roman" panose="02020603050405020304"/>
                <a:cs typeface="Times New Roman" panose="02020603050405020304"/>
              </a:rPr>
              <a:t>2 </a:t>
            </a:r>
            <a:r>
              <a:rPr lang="en-GB" sz="3600" b="1" dirty="0">
                <a:solidFill>
                  <a:schemeClr val="dk1"/>
                </a:solidFill>
                <a:latin typeface="Times New Roman" panose="02020603050405020304"/>
                <a:ea typeface="Times New Roman" panose="02020603050405020304"/>
                <a:cs typeface="Times New Roman" panose="02020603050405020304"/>
              </a:rPr>
              <a:t>REVIEW</a:t>
            </a:r>
          </a:p>
          <a:p>
            <a:pPr algn="ctr">
              <a:lnSpc>
                <a:spcPct val="150000"/>
              </a:lnSpc>
              <a:buSzPts val="2400"/>
            </a:pPr>
            <a:endParaRPr lang="en-GB" sz="3600" b="1" dirty="0">
              <a:solidFill>
                <a:schemeClr val="dk1"/>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479800" y="1340485"/>
            <a:ext cx="4064000" cy="953135"/>
          </a:xfrm>
          <a:prstGeom prst="rect">
            <a:avLst/>
          </a:prstGeom>
          <a:noFill/>
        </p:spPr>
        <p:txBody>
          <a:bodyPr wrap="square" rtlCol="0">
            <a:spAutoFit/>
          </a:bodyPr>
          <a:lstStyle/>
          <a:p>
            <a:r>
              <a:rPr lang="en-IN" altLang="en-US" sz="2800" b="1">
                <a:sym typeface="+mn-ea"/>
              </a:rPr>
              <a:t>           BATCH - 1</a:t>
            </a:r>
            <a:endParaRPr lang="en-IN" altLang="en-US" sz="2800" b="1"/>
          </a:p>
          <a:p>
            <a:endParaRPr lang="en-US" sz="2800" b="1"/>
          </a:p>
        </p:txBody>
      </p:sp>
      <p:sp>
        <p:nvSpPr>
          <p:cNvPr id="4" name="Text Box 3"/>
          <p:cNvSpPr txBox="1"/>
          <p:nvPr/>
        </p:nvSpPr>
        <p:spPr>
          <a:xfrm>
            <a:off x="2667635" y="2221230"/>
            <a:ext cx="6782435" cy="2853690"/>
          </a:xfrm>
          <a:prstGeom prst="rect">
            <a:avLst/>
          </a:prstGeom>
          <a:noFill/>
        </p:spPr>
        <p:txBody>
          <a:bodyPr wrap="square" rtlCol="0">
            <a:noAutofit/>
          </a:bodyPr>
          <a:lstStyle/>
          <a:p>
            <a:pPr marL="457200" marR="0" lvl="1" indent="0" algn="l" rtl="0">
              <a:lnSpc>
                <a:spcPct val="100000"/>
              </a:lnSpc>
              <a:spcBef>
                <a:spcPts val="0"/>
              </a:spcBef>
              <a:spcAft>
                <a:spcPts val="0"/>
              </a:spcAft>
              <a:buClr>
                <a:srgbClr val="000000"/>
              </a:buClr>
              <a:buSzPts val="2400"/>
              <a:buFont typeface="Arial" panose="020B0604020202020204"/>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Roll Number</a:t>
            </a:r>
            <a:r>
              <a:rPr lang="en-IN" alt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Name of the Student</a:t>
            </a:r>
            <a:endParaRPr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1">
              <a:lnSpc>
                <a:spcPct val="150000"/>
              </a:lnSpc>
              <a:buClr>
                <a:schemeClr val="dk1"/>
              </a:buClr>
              <a:buSzPts val="2200"/>
            </a:pPr>
            <a:r>
              <a:rPr lang="en-IN" sz="2000" dirty="0">
                <a:effectLst/>
                <a:latin typeface="Times New Roman" panose="02020603050405020304" charset="0"/>
                <a:sym typeface="+mn-ea"/>
              </a:rPr>
              <a:t>       23QM1A6692              Peddina Venkat Kalyan</a:t>
            </a:r>
            <a:endParaRPr lang="en-IN" sz="2000" b="0" dirty="0">
              <a:effectLst/>
              <a:latin typeface="Times New Roman" panose="02020603050405020304" charset="0"/>
            </a:endParaRPr>
          </a:p>
          <a:p>
            <a:pPr lvl="1">
              <a:lnSpc>
                <a:spcPct val="150000"/>
              </a:lnSpc>
              <a:buClr>
                <a:schemeClr val="dk1"/>
              </a:buClr>
              <a:buSzPts val="2200"/>
            </a:pPr>
            <a:r>
              <a:rPr lang="en-IN" sz="2000" dirty="0">
                <a:effectLst/>
                <a:latin typeface="Times New Roman" panose="02020603050405020304" charset="0"/>
                <a:sym typeface="+mn-ea"/>
              </a:rPr>
              <a:t>       23QM1A6681              </a:t>
            </a:r>
            <a:r>
              <a:rPr lang="en-IN" sz="2000" dirty="0" err="1">
                <a:effectLst/>
                <a:latin typeface="Times New Roman" panose="02020603050405020304" charset="0"/>
                <a:sym typeface="+mn-ea"/>
              </a:rPr>
              <a:t>Nallabolam</a:t>
            </a:r>
            <a:r>
              <a:rPr lang="en-IN" sz="2000" dirty="0">
                <a:effectLst/>
                <a:latin typeface="Times New Roman" panose="02020603050405020304" charset="0"/>
                <a:sym typeface="+mn-ea"/>
              </a:rPr>
              <a:t> Mounika</a:t>
            </a:r>
            <a:endParaRPr lang="en-IN" sz="2000" dirty="0">
              <a:solidFill>
                <a:schemeClr val="dk1"/>
              </a:solidFill>
              <a:effectLst/>
              <a:latin typeface="Calibri" panose="020F0502020204030204"/>
              <a:ea typeface="Calibri" panose="020F0502020204030204"/>
              <a:cs typeface="Calibri" panose="020F0502020204030204"/>
              <a:sym typeface="Calibri" panose="020F0502020204030204"/>
            </a:endParaRPr>
          </a:p>
          <a:p>
            <a:pPr lvl="1">
              <a:lnSpc>
                <a:spcPct val="150000"/>
              </a:lnSpc>
              <a:buClr>
                <a:schemeClr val="dk1"/>
              </a:buClr>
              <a:buSzPts val="2200"/>
            </a:pPr>
            <a:r>
              <a:rPr lang="en-IN" sz="2000" dirty="0">
                <a:effectLst/>
                <a:latin typeface="Times New Roman" panose="02020603050405020304" charset="0"/>
                <a:sym typeface="+mn-ea"/>
              </a:rPr>
              <a:t>       23QM1A6685              </a:t>
            </a:r>
            <a:r>
              <a:rPr lang="en-IN" sz="2000" dirty="0" err="1">
                <a:effectLst/>
                <a:latin typeface="Times New Roman" panose="02020603050405020304" charset="0"/>
                <a:sym typeface="+mn-ea"/>
              </a:rPr>
              <a:t>Panasa</a:t>
            </a:r>
            <a:r>
              <a:rPr lang="en-IN" sz="2000" dirty="0">
                <a:effectLst/>
                <a:latin typeface="Times New Roman" panose="02020603050405020304" charset="0"/>
                <a:sym typeface="+mn-ea"/>
              </a:rPr>
              <a:t> Chandra Kaushik Goud</a:t>
            </a:r>
            <a:endParaRPr lang="en-IN" sz="2000" b="0" dirty="0">
              <a:effectLst/>
              <a:latin typeface="Times New Roman" panose="02020603050405020304" charset="0"/>
            </a:endParaRPr>
          </a:p>
          <a:p>
            <a:pPr lvl="1">
              <a:lnSpc>
                <a:spcPct val="150000"/>
              </a:lnSpc>
              <a:buClr>
                <a:schemeClr val="dk1"/>
              </a:buClr>
              <a:buSzPts val="2200"/>
            </a:pPr>
            <a:r>
              <a:rPr lang="en-IN" sz="2000" dirty="0">
                <a:effectLst/>
                <a:latin typeface="Times New Roman" panose="02020603050405020304" charset="0"/>
                <a:sym typeface="+mn-ea"/>
              </a:rPr>
              <a:t>       23QM1A6689              Patel Nanda Kishore Reddy</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13460" y="1790700"/>
            <a:ext cx="10231755" cy="2422525"/>
          </a:xfrm>
          <a:prstGeom prst="rect">
            <a:avLst/>
          </a:prstGeom>
          <a:noFill/>
        </p:spPr>
        <p:txBody>
          <a:bodyPr wrap="square" rtlCol="0">
            <a:noAutofit/>
          </a:bodyPr>
          <a:lstStyle/>
          <a:p>
            <a:r>
              <a:rPr lang="en-US" sz="3200" b="1" dirty="0" err="1">
                <a:latin typeface="Times New Roman" panose="02020603050405020304" charset="0"/>
                <a:cs typeface="Times New Roman" panose="02020603050405020304" charset="0"/>
                <a:sym typeface="+mn-ea"/>
              </a:rPr>
              <a:t>DeepShield</a:t>
            </a:r>
            <a:r>
              <a:rPr lang="en-US" sz="3200" b="1" dirty="0">
                <a:latin typeface="Times New Roman" panose="02020603050405020304" charset="0"/>
                <a:cs typeface="Times New Roman" panose="02020603050405020304" charset="0"/>
                <a:sym typeface="+mn-ea"/>
              </a:rPr>
              <a:t>: Multi-Modal AI-Based Deepfake Detection System for Identifying Fake Video, Audio, and Image Content</a:t>
            </a:r>
            <a:r>
              <a:rPr lang="en-US" b="1" dirty="0">
                <a:latin typeface="Times New Roman" panose="02020603050405020304" charset="0"/>
                <a:cs typeface="Times New Roman" panose="02020603050405020304" charset="0"/>
                <a:sym typeface="+mn-ea"/>
              </a:rPr>
              <a:t>.</a:t>
            </a:r>
            <a:endParaRPr lang="en-IN" b="1" dirty="0">
              <a:latin typeface="Times New Roman" panose="02020603050405020304" charset="0"/>
              <a:cs typeface="Times New Roman" panose="02020603050405020304" charset="0"/>
            </a:endParaRPr>
          </a:p>
          <a:p>
            <a:endParaRPr lang="en-US"/>
          </a:p>
        </p:txBody>
      </p:sp>
      <p:sp>
        <p:nvSpPr>
          <p:cNvPr id="6" name="Text Box 5"/>
          <p:cNvSpPr txBox="1"/>
          <p:nvPr/>
        </p:nvSpPr>
        <p:spPr>
          <a:xfrm>
            <a:off x="973455" y="433705"/>
            <a:ext cx="4064000" cy="1076325"/>
          </a:xfrm>
          <a:prstGeom prst="rect">
            <a:avLst/>
          </a:prstGeom>
          <a:noFill/>
        </p:spPr>
        <p:txBody>
          <a:bodyPr wrap="square" rtlCol="0">
            <a:spAutoFit/>
          </a:bodyPr>
          <a:lstStyle/>
          <a:p>
            <a:r>
              <a:rPr lang="en-US" sz="3200" b="1" dirty="0">
                <a:latin typeface="Times New Roman" panose="02020603050405020304" charset="0"/>
                <a:cs typeface="Times New Roman" panose="02020603050405020304" charset="0"/>
                <a:sym typeface="+mn-ea"/>
              </a:rPr>
              <a:t>Title</a:t>
            </a:r>
            <a:endParaRPr lang="en-US" sz="3200" b="1" dirty="0">
              <a:latin typeface="Times New Roman" panose="02020603050405020304" charset="0"/>
              <a:cs typeface="Times New Roman" panose="02020603050405020304" charset="0"/>
            </a:endParaRPr>
          </a:p>
          <a:p>
            <a:endParaRPr lang="en-US"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rot="10800000" flipV="1">
            <a:off x="956422" y="1230796"/>
            <a:ext cx="10852120" cy="5001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22" tIns="-7935" rIns="-9522" bIns="-7935" numCol="1" anchor="ctr" anchorCtr="0" compatLnSpc="1">
            <a:spAutoFit/>
          </a:bodyPr>
          <a:lstStyle/>
          <a:p>
            <a:pPr marL="0" indent="0" algn="just">
              <a:lnSpc>
                <a:spcPct val="150000"/>
              </a:lnSpc>
              <a:buNone/>
            </a:pPr>
            <a:r>
              <a:rPr lang="en-US" sz="2200" dirty="0">
                <a:latin typeface="Times New Roman" panose="02020603050405020304" charset="0"/>
                <a:cs typeface="Times New Roman" panose="02020603050405020304" charset="0"/>
              </a:rPr>
              <a:t>We are living in a time where seeing is no longer believing. With the rapid growth of generative AI, it has become easy to create highly realistic fake videos, images, and audio. While this technology has many positive uses, it is also being misused for spreading misinformation, committing fraud, and stealing identities. The main challenge is that humans can no longer reliably distinguish between real and fake content. Therefore, there is a strong need for an automated system to detect such content and restore trust in digital media.</a:t>
            </a:r>
          </a:p>
          <a:p>
            <a:pPr algn="just">
              <a:lnSpc>
                <a:spcPct val="150000"/>
              </a:lnSpc>
            </a:pPr>
            <a:r>
              <a:rPr lang="en-US" sz="2200" b="1" u="sng" dirty="0">
                <a:solidFill>
                  <a:srgbClr val="7030A0"/>
                </a:solidFill>
                <a:latin typeface="Times New Roman" panose="02020603050405020304" charset="0"/>
                <a:cs typeface="Times New Roman" panose="02020603050405020304" charset="0"/>
              </a:rPr>
              <a:t>Core Problem</a:t>
            </a:r>
          </a:p>
          <a:p>
            <a:pPr marL="342900" indent="-342900" algn="just">
              <a:lnSpc>
                <a:spcPct val="150000"/>
              </a:lnSpc>
              <a:buFont typeface="Arial" panose="020B0604020202020204" pitchFamily="34" charset="0"/>
              <a:buChar char="•"/>
            </a:pPr>
            <a:r>
              <a:rPr lang="en-US" sz="2200" dirty="0">
                <a:latin typeface="Times New Roman" panose="02020603050405020304" charset="0"/>
                <a:cs typeface="Times New Roman" panose="02020603050405020304" charset="0"/>
              </a:rPr>
              <a:t>Lack of an intelligent, automated system to detect and classify deepfake content efficiently </a:t>
            </a:r>
          </a:p>
          <a:p>
            <a:pPr marL="342900" indent="-342900" algn="just">
              <a:lnSpc>
                <a:spcPct val="150000"/>
              </a:lnSpc>
              <a:buFont typeface="Arial" panose="020B0604020202020204" pitchFamily="34" charset="0"/>
              <a:buChar char="•"/>
            </a:pPr>
            <a:r>
              <a:rPr lang="en-US" sz="2200" dirty="0">
                <a:latin typeface="Times New Roman" panose="02020603050405020304" charset="0"/>
                <a:cs typeface="Times New Roman" panose="02020603050405020304" charset="0"/>
              </a:rPr>
              <a:t>Absence of a unified solution that can handle </a:t>
            </a:r>
            <a:r>
              <a:rPr lang="en-US" sz="2200" b="1" dirty="0">
                <a:latin typeface="Times New Roman" panose="02020603050405020304" charset="0"/>
                <a:cs typeface="Times New Roman" panose="02020603050405020304" charset="0"/>
              </a:rPr>
              <a:t>multiple media types (video, image, audio)</a:t>
            </a:r>
            <a:endParaRPr lang="en-US" sz="2200" dirty="0">
              <a:latin typeface="Times New Roman" panose="02020603050405020304" charset="0"/>
              <a:cs typeface="Times New Roman" panose="02020603050405020304" charset="0"/>
            </a:endParaRPr>
          </a:p>
          <a:p>
            <a:pPr marL="0" indent="0" algn="just">
              <a:lnSpc>
                <a:spcPct val="150000"/>
              </a:lnSpc>
              <a:buNone/>
            </a:pPr>
            <a:endParaRPr lang="en-US" sz="2200" dirty="0">
              <a:latin typeface="Times New Roman" panose="02020603050405020304" charset="0"/>
              <a:ea typeface="Tahoma" panose="020B0604030504040204" pitchFamily="34" charset="0"/>
              <a:cs typeface="Times New Roman" panose="02020603050405020304" charset="0"/>
            </a:endParaRPr>
          </a:p>
        </p:txBody>
      </p:sp>
      <p:sp>
        <p:nvSpPr>
          <p:cNvPr id="5" name="TextBox 4"/>
          <p:cNvSpPr txBox="1"/>
          <p:nvPr/>
        </p:nvSpPr>
        <p:spPr>
          <a:xfrm>
            <a:off x="865239" y="433157"/>
            <a:ext cx="4359451" cy="584775"/>
          </a:xfrm>
          <a:prstGeom prst="rect">
            <a:avLst/>
          </a:prstGeom>
          <a:noFill/>
        </p:spPr>
        <p:txBody>
          <a:bodyPr wrap="square" rtlCol="0">
            <a:spAutoFit/>
          </a:bodyPr>
          <a:lstStyle/>
          <a:p>
            <a:r>
              <a:rPr lang="en-US" sz="3200" b="1" dirty="0">
                <a:latin typeface="Times New Roman" panose="02020603050405020304" charset="0"/>
                <a:cs typeface="Times New Roman" panose="02020603050405020304" charset="0"/>
              </a:rPr>
              <a:t>Problem Identification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990600" y="1591323"/>
            <a:ext cx="10375900"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gn="just">
              <a:lnSpc>
                <a:spcPct val="150000"/>
              </a:lnSpc>
              <a:buNone/>
            </a:pPr>
            <a:r>
              <a:rPr lang="en-US" sz="2400" dirty="0">
                <a:latin typeface="Times New Roman" panose="02020603050405020304" charset="0"/>
                <a:cs typeface="Times New Roman" panose="02020603050405020304" charset="0"/>
              </a:rPr>
              <a:t>Our goal is to design, train, and deploy an intelligent system that acts as a digital forensic expert. The system will automatically analyze incoming media—whether it's an image, an audio clip, or a video—and determine its authenticity. By examining subtle, invisible artifacts left behind by AI generators, the system will output a definitive "real or fake" confidence score, empowering users to verify media instantly.</a:t>
            </a:r>
          </a:p>
          <a:p>
            <a:pPr marL="0" marR="0" lvl="0" indent="0" algn="just" defTabSz="914400" rtl="0" eaLnBrk="0" fontAlgn="base" latinLnBrk="0" hangingPunct="0">
              <a:lnSpc>
                <a:spcPct val="150000"/>
              </a:lnSpc>
              <a:spcBef>
                <a:spcPct val="0"/>
              </a:spcBef>
              <a:spcAft>
                <a:spcPct val="0"/>
              </a:spcAft>
              <a:buClrTx/>
              <a:buSzTx/>
              <a:buFontTx/>
              <a:buNone/>
            </a:pPr>
            <a:endParaRPr kumimoji="0" lang="en-US" altLang="en-US" sz="2400" i="0" u="none" strike="noStrike" cap="none" normalizeH="0" baseline="0" dirty="0">
              <a:ln>
                <a:noFill/>
              </a:ln>
              <a:solidFill>
                <a:schemeClr val="tx1"/>
              </a:solidFill>
              <a:effectLst/>
              <a:latin typeface="Times New Roman" panose="02020603050405020304" charset="0"/>
              <a:cs typeface="Times New Roman" panose="02020603050405020304" charset="0"/>
            </a:endParaRPr>
          </a:p>
        </p:txBody>
      </p:sp>
      <p:sp>
        <p:nvSpPr>
          <p:cNvPr id="4" name="TextBox 3"/>
          <p:cNvSpPr txBox="1"/>
          <p:nvPr/>
        </p:nvSpPr>
        <p:spPr>
          <a:xfrm>
            <a:off x="990600" y="440425"/>
            <a:ext cx="2031325" cy="584775"/>
          </a:xfrm>
          <a:prstGeom prst="rect">
            <a:avLst/>
          </a:prstGeom>
          <a:noFill/>
        </p:spPr>
        <p:txBody>
          <a:bodyPr wrap="none" rtlCol="0">
            <a:spAutoFit/>
          </a:bodyPr>
          <a:lstStyle/>
          <a:p>
            <a:r>
              <a:rPr lang="en-US" sz="3200" b="1" dirty="0">
                <a:latin typeface="Times New Roman" panose="02020603050405020304" charset="0"/>
                <a:cs typeface="Times New Roman" panose="02020603050405020304" charset="0"/>
              </a:rPr>
              <a:t>Objectives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215763" y="442987"/>
            <a:ext cx="4190959" cy="452755"/>
          </a:xfrm>
          <a:prstGeom prst="rect">
            <a:avLst/>
          </a:prstGeom>
          <a:noFill/>
        </p:spPr>
        <p:txBody>
          <a:bodyPr wrap="square" rtlCol="0">
            <a:noAutofit/>
          </a:bodyPr>
          <a:lstStyle/>
          <a:p>
            <a:r>
              <a:rPr lang="en-IN" sz="3200" b="1" dirty="0">
                <a:latin typeface="Times New Roman" panose="02020603050405020304" charset="0"/>
                <a:ea typeface="Tahoma" panose="020B0604030504040204" pitchFamily="34" charset="0"/>
                <a:cs typeface="Times New Roman" panose="02020603050405020304" charset="0"/>
              </a:rPr>
              <a:t>Literature Survey</a:t>
            </a:r>
          </a:p>
          <a:p>
            <a:endParaRPr lang="en-US" sz="2000" b="1"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5" name="Table 4"/>
          <p:cNvGraphicFramePr>
            <a:graphicFrameLocks noGrp="1"/>
          </p:cNvGraphicFramePr>
          <p:nvPr/>
        </p:nvGraphicFramePr>
        <p:xfrm>
          <a:off x="923958" y="1323521"/>
          <a:ext cx="10694766" cy="4607071"/>
        </p:xfrm>
        <a:graphic>
          <a:graphicData uri="http://schemas.openxmlformats.org/drawingml/2006/table">
            <a:tbl>
              <a:tblPr firstRow="1" bandRow="1">
                <a:tableStyleId>{5940675A-B579-460E-94D1-54222C63F5DA}</a:tableStyleId>
              </a:tblPr>
              <a:tblGrid>
                <a:gridCol w="677332">
                  <a:extLst>
                    <a:ext uri="{9D8B030D-6E8A-4147-A177-3AD203B41FA5}">
                      <a16:colId xmlns:a16="http://schemas.microsoft.com/office/drawing/2014/main" val="20000"/>
                    </a:ext>
                  </a:extLst>
                </a:gridCol>
                <a:gridCol w="2281924">
                  <a:extLst>
                    <a:ext uri="{9D8B030D-6E8A-4147-A177-3AD203B41FA5}">
                      <a16:colId xmlns:a16="http://schemas.microsoft.com/office/drawing/2014/main" val="20001"/>
                    </a:ext>
                  </a:extLst>
                </a:gridCol>
                <a:gridCol w="736007">
                  <a:extLst>
                    <a:ext uri="{9D8B030D-6E8A-4147-A177-3AD203B41FA5}">
                      <a16:colId xmlns:a16="http://schemas.microsoft.com/office/drawing/2014/main" val="20002"/>
                    </a:ext>
                  </a:extLst>
                </a:gridCol>
                <a:gridCol w="859802">
                  <a:extLst>
                    <a:ext uri="{9D8B030D-6E8A-4147-A177-3AD203B41FA5}">
                      <a16:colId xmlns:a16="http://schemas.microsoft.com/office/drawing/2014/main" val="20003"/>
                    </a:ext>
                  </a:extLst>
                </a:gridCol>
                <a:gridCol w="1981200">
                  <a:extLst>
                    <a:ext uri="{9D8B030D-6E8A-4147-A177-3AD203B41FA5}">
                      <a16:colId xmlns:a16="http://schemas.microsoft.com/office/drawing/2014/main" val="20004"/>
                    </a:ext>
                  </a:extLst>
                </a:gridCol>
                <a:gridCol w="2218267">
                  <a:extLst>
                    <a:ext uri="{9D8B030D-6E8A-4147-A177-3AD203B41FA5}">
                      <a16:colId xmlns:a16="http://schemas.microsoft.com/office/drawing/2014/main" val="20005"/>
                    </a:ext>
                  </a:extLst>
                </a:gridCol>
                <a:gridCol w="1940234">
                  <a:extLst>
                    <a:ext uri="{9D8B030D-6E8A-4147-A177-3AD203B41FA5}">
                      <a16:colId xmlns:a16="http://schemas.microsoft.com/office/drawing/2014/main" val="20006"/>
                    </a:ext>
                  </a:extLst>
                </a:gridCol>
              </a:tblGrid>
              <a:tr h="582827">
                <a:tc>
                  <a:txBody>
                    <a:bodyPr/>
                    <a:lstStyle/>
                    <a:p>
                      <a:pPr algn="ctr">
                        <a:defRPr sz="900" b="1">
                          <a:solidFill>
                            <a:srgbClr val="FFFFFF"/>
                          </a:solidFill>
                        </a:defRPr>
                      </a:pPr>
                      <a:r>
                        <a:rPr sz="1600" dirty="0" err="1">
                          <a:latin typeface="Times New Roman" panose="02020603050405020304" charset="0"/>
                          <a:cs typeface="Times New Roman" panose="02020603050405020304" charset="0"/>
                        </a:rPr>
                        <a:t>S.No</a:t>
                      </a:r>
                      <a:endParaRPr sz="1600" dirty="0">
                        <a:latin typeface="Times New Roman" panose="02020603050405020304" charset="0"/>
                        <a:cs typeface="Times New Roman" panose="02020603050405020304" charset="0"/>
                      </a:endParaRP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Paper Title</a:t>
                      </a: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Year</a:t>
                      </a: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Journal</a:t>
                      </a: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Methodology/Algorithm</a:t>
                      </a: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Finding</a:t>
                      </a: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Drawback</a:t>
                      </a:r>
                    </a:p>
                  </a:txBody>
                  <a:tcPr anchor="ctr">
                    <a:solidFill>
                      <a:srgbClr val="7030A0"/>
                    </a:solidFill>
                  </a:tcPr>
                </a:tc>
                <a:extLst>
                  <a:ext uri="{0D108BD9-81ED-4DB2-BD59-A6C34878D82A}">
                    <a16:rowId xmlns:a16="http://schemas.microsoft.com/office/drawing/2014/main" val="10000"/>
                  </a:ext>
                </a:extLst>
              </a:tr>
              <a:tr h="1340037">
                <a:tc>
                  <a:txBody>
                    <a:bodyPr/>
                    <a:lstStyle/>
                    <a:p>
                      <a:pPr>
                        <a:defRPr sz="800">
                          <a:solidFill>
                            <a:srgbClr val="323232"/>
                          </a:solidFill>
                        </a:defRPr>
                      </a:pPr>
                      <a:r>
                        <a:rPr lang="en-US" sz="1800" dirty="0">
                          <a:latin typeface="Times New Roman" panose="02020603050405020304" charset="0"/>
                          <a:cs typeface="Times New Roman" panose="02020603050405020304" charset="0"/>
                        </a:rPr>
                        <a:t>1</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MTCNN: Joint Face Detection and Alignment</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2016</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IEEE</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Cascaded CNNs, Multi-task Learning</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Robust face detection under varying poses and lighting</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Slow inference time for real-time applications</a:t>
                      </a:r>
                    </a:p>
                  </a:txBody>
                  <a:tcPr anchor="ctr"/>
                </a:tc>
                <a:extLst>
                  <a:ext uri="{0D108BD9-81ED-4DB2-BD59-A6C34878D82A}">
                    <a16:rowId xmlns:a16="http://schemas.microsoft.com/office/drawing/2014/main" val="10001"/>
                  </a:ext>
                </a:extLst>
              </a:tr>
              <a:tr h="1332175">
                <a:tc>
                  <a:txBody>
                    <a:bodyPr/>
                    <a:lstStyle/>
                    <a:p>
                      <a:pPr marR="0" algn="l" rtl="0" fontAlgn="ctr">
                        <a:spcBef>
                          <a:spcPts val="0"/>
                        </a:spcBef>
                        <a:spcAft>
                          <a:spcPts val="0"/>
                        </a:spcAft>
                      </a:pPr>
                      <a:r>
                        <a:rPr lang="en-US" sz="1800" b="0" i="0" u="none" strike="noStrike" dirty="0">
                          <a:solidFill>
                            <a:srgbClr val="323232"/>
                          </a:solidFill>
                          <a:effectLst/>
                          <a:latin typeface="Times New Roman" panose="02020603050405020304" charset="0"/>
                          <a:cs typeface="Times New Roman" panose="02020603050405020304" charset="0"/>
                        </a:rPr>
                        <a:t>2</a:t>
                      </a:r>
                      <a:endParaRPr lang="en-IN" sz="1800" b="0" i="0" u="none" strike="noStrike" dirty="0">
                        <a:effectLst/>
                        <a:latin typeface="Arial" panose="020B0604020202020204" pitchFamily="34" charset="0"/>
                      </a:endParaRPr>
                    </a:p>
                  </a:txBody>
                  <a:tcPr anchor="ctr"/>
                </a:tc>
                <a:tc>
                  <a:txBody>
                    <a:bodyPr/>
                    <a:lstStyle/>
                    <a:p>
                      <a:pPr marR="0" algn="l" rtl="0" fontAlgn="ctr">
                        <a:spcBef>
                          <a:spcPts val="0"/>
                        </a:spcBef>
                        <a:spcAft>
                          <a:spcPts val="0"/>
                        </a:spcAft>
                      </a:pPr>
                      <a:r>
                        <a:rPr lang="en-US" sz="1800" b="0" i="0" u="none" strike="noStrike" dirty="0" err="1">
                          <a:solidFill>
                            <a:srgbClr val="323232"/>
                          </a:solidFill>
                          <a:effectLst/>
                          <a:latin typeface="Times New Roman" panose="02020603050405020304" charset="0"/>
                          <a:cs typeface="Times New Roman" panose="02020603050405020304" charset="0"/>
                        </a:rPr>
                        <a:t>FaceForensics</a:t>
                      </a:r>
                      <a:r>
                        <a:rPr lang="en-US" sz="1800" b="0" i="0" u="none" strike="noStrike" dirty="0">
                          <a:solidFill>
                            <a:srgbClr val="323232"/>
                          </a:solidFill>
                          <a:effectLst/>
                          <a:latin typeface="Times New Roman" panose="02020603050405020304" charset="0"/>
                          <a:cs typeface="Times New Roman" panose="02020603050405020304" charset="0"/>
                        </a:rPr>
                        <a:t>++: Learning to Detect Manipulated Facial Images</a:t>
                      </a:r>
                      <a:endParaRPr lang="en-US" sz="1800" b="0" i="0" u="none" strike="noStrike" dirty="0">
                        <a:effectLst/>
                        <a:latin typeface="Arial" panose="020B0604020202020204" pitchFamily="34" charset="0"/>
                      </a:endParaRPr>
                    </a:p>
                  </a:txBody>
                  <a:tcPr anchor="ctr"/>
                </a:tc>
                <a:tc>
                  <a:txBody>
                    <a:bodyPr/>
                    <a:lstStyle/>
                    <a:p>
                      <a:pPr marR="0" algn="l" rtl="0" fontAlgn="ctr">
                        <a:spcBef>
                          <a:spcPts val="0"/>
                        </a:spcBef>
                        <a:spcAft>
                          <a:spcPts val="0"/>
                        </a:spcAft>
                      </a:pPr>
                      <a:r>
                        <a:rPr lang="en-IN" sz="1800" b="0" i="0" u="none" strike="noStrike">
                          <a:solidFill>
                            <a:srgbClr val="323232"/>
                          </a:solidFill>
                          <a:effectLst/>
                          <a:latin typeface="Times New Roman" panose="02020603050405020304" charset="0"/>
                          <a:cs typeface="Times New Roman" panose="02020603050405020304" charset="0"/>
                        </a:rPr>
                        <a:t>2019</a:t>
                      </a:r>
                      <a:endParaRPr lang="en-IN" sz="1800" b="0" i="0" u="none" strike="noStrike">
                        <a:effectLst/>
                        <a:latin typeface="Arial" panose="020B0604020202020204" pitchFamily="34" charset="0"/>
                      </a:endParaRPr>
                    </a:p>
                  </a:txBody>
                  <a:tcPr anchor="ctr"/>
                </a:tc>
                <a:tc>
                  <a:txBody>
                    <a:bodyPr/>
                    <a:lstStyle/>
                    <a:p>
                      <a:pPr marR="0" algn="l" rtl="0" fontAlgn="ctr">
                        <a:spcBef>
                          <a:spcPts val="0"/>
                        </a:spcBef>
                        <a:spcAft>
                          <a:spcPts val="0"/>
                        </a:spcAft>
                      </a:pPr>
                      <a:r>
                        <a:rPr lang="en-IN" sz="1800" b="0" i="0" u="none" strike="noStrike">
                          <a:solidFill>
                            <a:srgbClr val="323232"/>
                          </a:solidFill>
                          <a:effectLst/>
                          <a:latin typeface="Times New Roman" panose="02020603050405020304" charset="0"/>
                          <a:cs typeface="Times New Roman" panose="02020603050405020304" charset="0"/>
                        </a:rPr>
                        <a:t>ICCV</a:t>
                      </a:r>
                      <a:endParaRPr lang="en-IN" sz="1800" b="0" i="0" u="none" strike="noStrike">
                        <a:effectLst/>
                        <a:latin typeface="Arial" panose="020B0604020202020204" pitchFamily="34" charset="0"/>
                      </a:endParaRPr>
                    </a:p>
                  </a:txBody>
                  <a:tcPr anchor="ctr"/>
                </a:tc>
                <a:tc>
                  <a:txBody>
                    <a:bodyPr/>
                    <a:lstStyle/>
                    <a:p>
                      <a:pPr marR="0" algn="l" rtl="0" fontAlgn="ctr">
                        <a:spcBef>
                          <a:spcPts val="0"/>
                        </a:spcBef>
                        <a:spcAft>
                          <a:spcPts val="0"/>
                        </a:spcAft>
                      </a:pPr>
                      <a:r>
                        <a:rPr lang="en-IN" sz="1800" b="0" i="0" u="none" strike="noStrike">
                          <a:solidFill>
                            <a:srgbClr val="323232"/>
                          </a:solidFill>
                          <a:effectLst/>
                          <a:latin typeface="Times New Roman" panose="02020603050405020304" charset="0"/>
                          <a:cs typeface="Times New Roman" panose="02020603050405020304" charset="0"/>
                        </a:rPr>
                        <a:t>CNN, Compression</a:t>
                      </a:r>
                      <a:endParaRPr lang="en-IN" sz="1800" b="0" i="0" u="none" strike="noStrike">
                        <a:effectLst/>
                        <a:latin typeface="Arial" panose="020B0604020202020204" pitchFamily="34" charset="0"/>
                      </a:endParaRPr>
                    </a:p>
                  </a:txBody>
                  <a:tcPr anchor="ctr"/>
                </a:tc>
                <a:tc>
                  <a:txBody>
                    <a:bodyPr/>
                    <a:lstStyle/>
                    <a:p>
                      <a:pPr marR="0" algn="l" rtl="0" fontAlgn="ctr">
                        <a:spcBef>
                          <a:spcPts val="0"/>
                        </a:spcBef>
                        <a:spcAft>
                          <a:spcPts val="0"/>
                        </a:spcAft>
                      </a:pPr>
                      <a:r>
                        <a:rPr lang="en-US" sz="1800" b="0" i="0" u="none" strike="noStrike">
                          <a:solidFill>
                            <a:srgbClr val="323232"/>
                          </a:solidFill>
                          <a:effectLst/>
                          <a:latin typeface="Times New Roman" panose="02020603050405020304" charset="0"/>
                          <a:cs typeface="Times New Roman" panose="02020603050405020304" charset="0"/>
                        </a:rPr>
                        <a:t>High accuracy detection across multiple manipulation methods</a:t>
                      </a:r>
                      <a:endParaRPr lang="en-US" sz="1800" b="0" i="0" u="none" strike="noStrike">
                        <a:effectLst/>
                        <a:latin typeface="Arial" panose="020B0604020202020204" pitchFamily="34" charset="0"/>
                      </a:endParaRPr>
                    </a:p>
                  </a:txBody>
                  <a:tcPr anchor="ctr"/>
                </a:tc>
                <a:tc>
                  <a:txBody>
                    <a:bodyPr/>
                    <a:lstStyle/>
                    <a:p>
                      <a:pPr marR="0" algn="l" rtl="0" fontAlgn="ctr">
                        <a:spcBef>
                          <a:spcPts val="0"/>
                        </a:spcBef>
                        <a:spcAft>
                          <a:spcPts val="0"/>
                        </a:spcAft>
                      </a:pPr>
                      <a:r>
                        <a:rPr lang="en-US" sz="1800" b="0" i="0" u="none" strike="noStrike" dirty="0">
                          <a:solidFill>
                            <a:srgbClr val="323232"/>
                          </a:solidFill>
                          <a:effectLst/>
                          <a:latin typeface="Times New Roman" panose="02020603050405020304" charset="0"/>
                          <a:cs typeface="Times New Roman" panose="02020603050405020304" charset="0"/>
                        </a:rPr>
                        <a:t>Limited to compressed videos, requires large dataset</a:t>
                      </a:r>
                      <a:endParaRPr lang="en-US" sz="1800" b="0" i="0" u="none" strike="noStrike" dirty="0">
                        <a:effectLst/>
                        <a:latin typeface="Arial" panose="020B0604020202020204" pitchFamily="34" charset="0"/>
                      </a:endParaRPr>
                    </a:p>
                  </a:txBody>
                  <a:tcPr anchor="ctr"/>
                </a:tc>
                <a:extLst>
                  <a:ext uri="{0D108BD9-81ED-4DB2-BD59-A6C34878D82A}">
                    <a16:rowId xmlns:a16="http://schemas.microsoft.com/office/drawing/2014/main" val="10002"/>
                  </a:ext>
                </a:extLst>
              </a:tr>
              <a:tr h="1352032">
                <a:tc>
                  <a:txBody>
                    <a:bodyPr/>
                    <a:lstStyle/>
                    <a:p>
                      <a:pPr>
                        <a:defRPr sz="800">
                          <a:solidFill>
                            <a:srgbClr val="323232"/>
                          </a:solidFill>
                        </a:defRPr>
                      </a:pPr>
                      <a:r>
                        <a:rPr sz="1800">
                          <a:latin typeface="Times New Roman" panose="02020603050405020304" charset="0"/>
                          <a:cs typeface="Times New Roman" panose="02020603050405020304" charset="0"/>
                        </a:rPr>
                        <a:t>3</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EfficientNetV2: Smaller Models and Faster Training</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2021</a:t>
                      </a:r>
                    </a:p>
                  </a:txBody>
                  <a:tcPr anchor="ctr"/>
                </a:tc>
                <a:tc>
                  <a:txBody>
                    <a:bodyPr/>
                    <a:lstStyle/>
                    <a:p>
                      <a:pPr>
                        <a:defRPr sz="800">
                          <a:solidFill>
                            <a:srgbClr val="323232"/>
                          </a:solidFill>
                        </a:defRPr>
                      </a:pPr>
                      <a:r>
                        <a:rPr sz="1800">
                          <a:latin typeface="Times New Roman" panose="02020603050405020304" charset="0"/>
                          <a:cs typeface="Times New Roman" panose="02020603050405020304" charset="0"/>
                        </a:rPr>
                        <a:t>ICML</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Compound Scaling, NAS, Progressive Learning</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Better accuracy with fewer parameters and faster training</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High computational cost for larger variants</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44679" y="1845289"/>
          <a:ext cx="10370575" cy="3291840"/>
        </p:xfrm>
        <a:graphic>
          <a:graphicData uri="http://schemas.openxmlformats.org/drawingml/2006/table">
            <a:tbl>
              <a:tblPr bandRow="1">
                <a:tableStyleId>{5940675A-B579-460E-94D1-54222C63F5DA}</a:tableStyleId>
              </a:tblPr>
              <a:tblGrid>
                <a:gridCol w="549619">
                  <a:extLst>
                    <a:ext uri="{9D8B030D-6E8A-4147-A177-3AD203B41FA5}">
                      <a16:colId xmlns:a16="http://schemas.microsoft.com/office/drawing/2014/main" val="20000"/>
                    </a:ext>
                  </a:extLst>
                </a:gridCol>
                <a:gridCol w="2282053">
                  <a:extLst>
                    <a:ext uri="{9D8B030D-6E8A-4147-A177-3AD203B41FA5}">
                      <a16:colId xmlns:a16="http://schemas.microsoft.com/office/drawing/2014/main" val="20001"/>
                    </a:ext>
                  </a:extLst>
                </a:gridCol>
                <a:gridCol w="681163">
                  <a:extLst>
                    <a:ext uri="{9D8B030D-6E8A-4147-A177-3AD203B41FA5}">
                      <a16:colId xmlns:a16="http://schemas.microsoft.com/office/drawing/2014/main" val="20002"/>
                    </a:ext>
                  </a:extLst>
                </a:gridCol>
                <a:gridCol w="1220364">
                  <a:extLst>
                    <a:ext uri="{9D8B030D-6E8A-4147-A177-3AD203B41FA5}">
                      <a16:colId xmlns:a16="http://schemas.microsoft.com/office/drawing/2014/main" val="20003"/>
                    </a:ext>
                  </a:extLst>
                </a:gridCol>
                <a:gridCol w="1978770">
                  <a:extLst>
                    <a:ext uri="{9D8B030D-6E8A-4147-A177-3AD203B41FA5}">
                      <a16:colId xmlns:a16="http://schemas.microsoft.com/office/drawing/2014/main" val="20004"/>
                    </a:ext>
                  </a:extLst>
                </a:gridCol>
                <a:gridCol w="1834685">
                  <a:extLst>
                    <a:ext uri="{9D8B030D-6E8A-4147-A177-3AD203B41FA5}">
                      <a16:colId xmlns:a16="http://schemas.microsoft.com/office/drawing/2014/main" val="20005"/>
                    </a:ext>
                  </a:extLst>
                </a:gridCol>
                <a:gridCol w="1823921">
                  <a:extLst>
                    <a:ext uri="{9D8B030D-6E8A-4147-A177-3AD203B41FA5}">
                      <a16:colId xmlns:a16="http://schemas.microsoft.com/office/drawing/2014/main" val="20006"/>
                    </a:ext>
                  </a:extLst>
                </a:gridCol>
              </a:tblGrid>
              <a:tr h="618922">
                <a:tc>
                  <a:txBody>
                    <a:bodyPr/>
                    <a:lstStyle/>
                    <a:p>
                      <a:pPr>
                        <a:defRPr sz="800">
                          <a:solidFill>
                            <a:srgbClr val="323232"/>
                          </a:solidFill>
                        </a:defRPr>
                      </a:pPr>
                      <a:r>
                        <a:rPr lang="en-IN" sz="1800" b="1" dirty="0">
                          <a:latin typeface="Times New Roman" panose="02020603050405020304" charset="0"/>
                          <a:cs typeface="Times New Roman" panose="02020603050405020304" charset="0"/>
                        </a:rPr>
                        <a:t>4</a:t>
                      </a:r>
                      <a:endParaRPr sz="1800" b="1"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b="0" dirty="0">
                          <a:latin typeface="Times New Roman" panose="02020603050405020304" charset="0"/>
                          <a:cs typeface="Times New Roman" panose="02020603050405020304" charset="0"/>
                        </a:rPr>
                        <a:t>Deepfake Detection Using CNN and LSTM</a:t>
                      </a:r>
                    </a:p>
                  </a:txBody>
                  <a:tcPr anchor="ctr"/>
                </a:tc>
                <a:tc>
                  <a:txBody>
                    <a:bodyPr/>
                    <a:lstStyle/>
                    <a:p>
                      <a:pPr>
                        <a:defRPr sz="800">
                          <a:solidFill>
                            <a:srgbClr val="323232"/>
                          </a:solidFill>
                        </a:defRPr>
                      </a:pPr>
                      <a:r>
                        <a:rPr sz="1800" b="0">
                          <a:latin typeface="Times New Roman" panose="02020603050405020304" charset="0"/>
                          <a:cs typeface="Times New Roman" panose="02020603050405020304" charset="0"/>
                        </a:rPr>
                        <a:t>2021</a:t>
                      </a:r>
                    </a:p>
                  </a:txBody>
                  <a:tcPr anchor="ctr"/>
                </a:tc>
                <a:tc>
                  <a:txBody>
                    <a:bodyPr/>
                    <a:lstStyle/>
                    <a:p>
                      <a:pPr>
                        <a:defRPr sz="800">
                          <a:solidFill>
                            <a:srgbClr val="323232"/>
                          </a:solidFill>
                        </a:defRPr>
                      </a:pPr>
                      <a:r>
                        <a:rPr sz="1800" b="0" dirty="0">
                          <a:latin typeface="Times New Roman" panose="02020603050405020304" charset="0"/>
                          <a:cs typeface="Times New Roman" panose="02020603050405020304" charset="0"/>
                        </a:rPr>
                        <a:t>IEEE Access</a:t>
                      </a:r>
                    </a:p>
                  </a:txBody>
                  <a:tcPr anchor="ctr"/>
                </a:tc>
                <a:tc>
                  <a:txBody>
                    <a:bodyPr/>
                    <a:lstStyle/>
                    <a:p>
                      <a:pPr>
                        <a:defRPr sz="800">
                          <a:solidFill>
                            <a:srgbClr val="323232"/>
                          </a:solidFill>
                        </a:defRPr>
                      </a:pPr>
                      <a:r>
                        <a:rPr sz="1800" b="0" dirty="0">
                          <a:latin typeface="Times New Roman" panose="02020603050405020304" charset="0"/>
                          <a:cs typeface="Times New Roman" panose="02020603050405020304" charset="0"/>
                        </a:rPr>
                        <a:t>CNN, LSTM, Temporal Features</a:t>
                      </a:r>
                    </a:p>
                  </a:txBody>
                  <a:tcPr anchor="ctr"/>
                </a:tc>
                <a:tc>
                  <a:txBody>
                    <a:bodyPr/>
                    <a:lstStyle/>
                    <a:p>
                      <a:pPr>
                        <a:defRPr sz="800">
                          <a:solidFill>
                            <a:srgbClr val="323232"/>
                          </a:solidFill>
                        </a:defRPr>
                      </a:pPr>
                      <a:r>
                        <a:rPr sz="1800" b="0" dirty="0">
                          <a:latin typeface="Times New Roman" panose="02020603050405020304" charset="0"/>
                          <a:cs typeface="Times New Roman" panose="02020603050405020304" charset="0"/>
                        </a:rPr>
                        <a:t>Captures temporal inconsistencies in videos</a:t>
                      </a:r>
                    </a:p>
                  </a:txBody>
                  <a:tcPr anchor="ctr"/>
                </a:tc>
                <a:tc>
                  <a:txBody>
                    <a:bodyPr/>
                    <a:lstStyle/>
                    <a:p>
                      <a:pPr>
                        <a:defRPr sz="800">
                          <a:solidFill>
                            <a:srgbClr val="323232"/>
                          </a:solidFill>
                        </a:defRPr>
                      </a:pPr>
                      <a:r>
                        <a:rPr sz="1800" b="0" dirty="0">
                          <a:latin typeface="Times New Roman" panose="02020603050405020304" charset="0"/>
                          <a:cs typeface="Times New Roman" panose="02020603050405020304" charset="0"/>
                        </a:rPr>
                        <a:t>Computationally expensive for long videos</a:t>
                      </a:r>
                    </a:p>
                  </a:txBody>
                  <a:tcPr anchor="ctr"/>
                </a:tc>
                <a:extLst>
                  <a:ext uri="{0D108BD9-81ED-4DB2-BD59-A6C34878D82A}">
                    <a16:rowId xmlns:a16="http://schemas.microsoft.com/office/drawing/2014/main" val="10000"/>
                  </a:ext>
                </a:extLst>
              </a:tr>
              <a:tr h="618922">
                <a:tc>
                  <a:txBody>
                    <a:bodyPr/>
                    <a:lstStyle/>
                    <a:p>
                      <a:pPr>
                        <a:defRPr sz="800">
                          <a:solidFill>
                            <a:srgbClr val="323232"/>
                          </a:solidFill>
                        </a:defRPr>
                      </a:pPr>
                      <a:r>
                        <a:rPr lang="en-IN" sz="1800" b="1" dirty="0">
                          <a:latin typeface="Times New Roman" panose="02020603050405020304" charset="0"/>
                          <a:cs typeface="Times New Roman" panose="02020603050405020304" charset="0"/>
                        </a:rPr>
                        <a:t>5</a:t>
                      </a:r>
                      <a:endParaRPr sz="1800" b="1"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Audio Deepfake Detection Using Spectrograms</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2022</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Interspace</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CNN, Spectrogram Analysis, MFCC</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Effective detection of synthetic audio</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Requires high-quality audio samples</a:t>
                      </a:r>
                    </a:p>
                  </a:txBody>
                  <a:tcPr anchor="ctr"/>
                </a:tc>
                <a:extLst>
                  <a:ext uri="{0D108BD9-81ED-4DB2-BD59-A6C34878D82A}">
                    <a16:rowId xmlns:a16="http://schemas.microsoft.com/office/drawing/2014/main" val="10001"/>
                  </a:ext>
                </a:extLst>
              </a:tr>
              <a:tr h="618922">
                <a:tc>
                  <a:txBody>
                    <a:bodyPr/>
                    <a:lstStyle/>
                    <a:p>
                      <a:pPr>
                        <a:defRPr sz="800">
                          <a:solidFill>
                            <a:srgbClr val="323232"/>
                          </a:solidFill>
                        </a:defRPr>
                      </a:pPr>
                      <a:r>
                        <a:rPr lang="en-IN" sz="1800" b="1" dirty="0">
                          <a:latin typeface="Times New Roman" panose="02020603050405020304" charset="0"/>
                          <a:cs typeface="Times New Roman" panose="02020603050405020304" charset="0"/>
                        </a:rPr>
                        <a:t>6</a:t>
                      </a:r>
                      <a:endParaRPr sz="1800" b="1"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Multi-modal Deepfake Detection System</a:t>
                      </a:r>
                    </a:p>
                  </a:txBody>
                  <a:tcPr anchor="ctr"/>
                </a:tc>
                <a:tc>
                  <a:txBody>
                    <a:bodyPr/>
                    <a:lstStyle/>
                    <a:p>
                      <a:pPr>
                        <a:defRPr sz="800">
                          <a:solidFill>
                            <a:srgbClr val="323232"/>
                          </a:solidFill>
                        </a:defRPr>
                      </a:pPr>
                      <a:r>
                        <a:rPr sz="1800">
                          <a:latin typeface="Times New Roman" panose="02020603050405020304" charset="0"/>
                          <a:cs typeface="Times New Roman" panose="02020603050405020304" charset="0"/>
                        </a:rPr>
                        <a:t>2023</a:t>
                      </a:r>
                    </a:p>
                  </a:txBody>
                  <a:tcPr anchor="ctr"/>
                </a:tc>
                <a:tc>
                  <a:txBody>
                    <a:bodyPr/>
                    <a:lstStyle/>
                    <a:p>
                      <a:pPr>
                        <a:defRPr sz="800">
                          <a:solidFill>
                            <a:srgbClr val="323232"/>
                          </a:solidFill>
                        </a:defRPr>
                      </a:pPr>
                      <a:r>
                        <a:rPr sz="1800">
                          <a:latin typeface="Times New Roman" panose="02020603050405020304" charset="0"/>
                          <a:cs typeface="Times New Roman" panose="02020603050405020304" charset="0"/>
                        </a:rPr>
                        <a:t>arXiv</a:t>
                      </a:r>
                    </a:p>
                  </a:txBody>
                  <a:tcPr anchor="ctr"/>
                </a:tc>
                <a:tc>
                  <a:txBody>
                    <a:bodyPr/>
                    <a:lstStyle/>
                    <a:p>
                      <a:pPr>
                        <a:defRPr sz="800">
                          <a:solidFill>
                            <a:srgbClr val="323232"/>
                          </a:solidFill>
                        </a:defRPr>
                      </a:pPr>
                      <a:r>
                        <a:rPr sz="1800">
                          <a:latin typeface="Times New Roman" panose="02020603050405020304" charset="0"/>
                          <a:cs typeface="Times New Roman" panose="02020603050405020304" charset="0"/>
                        </a:rPr>
                        <a:t>EfficientNet, MTCNN, Fusion</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Combined video-audio analysis improves accuracy</a:t>
                      </a: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Complex architecture, resource intensive</a:t>
                      </a:r>
                    </a:p>
                  </a:txBody>
                  <a:tcPr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6245" y="1042221"/>
            <a:ext cx="11041626" cy="496996"/>
          </a:xfrm>
          <a:prstGeom prst="rect">
            <a:avLst/>
          </a:prstGeom>
          <a:noFill/>
        </p:spPr>
        <p:txBody>
          <a:bodyPr wrap="square">
            <a:spAutoFit/>
          </a:bodyPr>
          <a:lstStyle/>
          <a:p>
            <a:pPr algn="just">
              <a:lnSpc>
                <a:spcPct val="150000"/>
              </a:lnSpc>
            </a:pPr>
            <a:endParaRPr lang="en-IN" sz="2000" dirty="0"/>
          </a:p>
        </p:txBody>
      </p:sp>
      <p:sp>
        <p:nvSpPr>
          <p:cNvPr id="6" name="TextBox 5"/>
          <p:cNvSpPr txBox="1"/>
          <p:nvPr/>
        </p:nvSpPr>
        <p:spPr>
          <a:xfrm>
            <a:off x="806245" y="230241"/>
            <a:ext cx="8303888" cy="584775"/>
          </a:xfrm>
          <a:prstGeom prst="rect">
            <a:avLst/>
          </a:prstGeom>
          <a:noFill/>
        </p:spPr>
        <p:txBody>
          <a:bodyPr wrap="square" rtlCol="0">
            <a:spAutoFit/>
          </a:bodyPr>
          <a:lstStyle/>
          <a:p>
            <a:r>
              <a:rPr lang="en-IN" sz="3200" b="1" dirty="0">
                <a:latin typeface="Times New Roman" panose="02020603050405020304" charset="0"/>
                <a:cs typeface="Times New Roman" panose="02020603050405020304" charset="0"/>
              </a:rPr>
              <a:t>Dataset Identification (Video Datasets)</a:t>
            </a:r>
            <a:endParaRPr lang="en-IN" sz="3200" b="1" dirty="0"/>
          </a:p>
        </p:txBody>
      </p:sp>
      <p:graphicFrame>
        <p:nvGraphicFramePr>
          <p:cNvPr id="3" name="Table 2"/>
          <p:cNvGraphicFramePr>
            <a:graphicFrameLocks noGrp="1"/>
          </p:cNvGraphicFramePr>
          <p:nvPr/>
        </p:nvGraphicFramePr>
        <p:xfrm>
          <a:off x="975946" y="1172585"/>
          <a:ext cx="10409809" cy="4868688"/>
        </p:xfrm>
        <a:graphic>
          <a:graphicData uri="http://schemas.openxmlformats.org/drawingml/2006/table">
            <a:tbl>
              <a:tblPr firstRow="1" bandRow="1">
                <a:tableStyleId>{5940675A-B579-460E-94D1-54222C63F5DA}</a:tableStyleId>
              </a:tblPr>
              <a:tblGrid>
                <a:gridCol w="1812193">
                  <a:extLst>
                    <a:ext uri="{9D8B030D-6E8A-4147-A177-3AD203B41FA5}">
                      <a16:colId xmlns:a16="http://schemas.microsoft.com/office/drawing/2014/main" val="20000"/>
                    </a:ext>
                  </a:extLst>
                </a:gridCol>
                <a:gridCol w="1570501">
                  <a:extLst>
                    <a:ext uri="{9D8B030D-6E8A-4147-A177-3AD203B41FA5}">
                      <a16:colId xmlns:a16="http://schemas.microsoft.com/office/drawing/2014/main" val="20001"/>
                    </a:ext>
                  </a:extLst>
                </a:gridCol>
                <a:gridCol w="2580640">
                  <a:extLst>
                    <a:ext uri="{9D8B030D-6E8A-4147-A177-3AD203B41FA5}">
                      <a16:colId xmlns:a16="http://schemas.microsoft.com/office/drawing/2014/main" val="20002"/>
                    </a:ext>
                  </a:extLst>
                </a:gridCol>
                <a:gridCol w="2245360">
                  <a:extLst>
                    <a:ext uri="{9D8B030D-6E8A-4147-A177-3AD203B41FA5}">
                      <a16:colId xmlns:a16="http://schemas.microsoft.com/office/drawing/2014/main" val="20003"/>
                    </a:ext>
                  </a:extLst>
                </a:gridCol>
                <a:gridCol w="2201115">
                  <a:extLst>
                    <a:ext uri="{9D8B030D-6E8A-4147-A177-3AD203B41FA5}">
                      <a16:colId xmlns:a16="http://schemas.microsoft.com/office/drawing/2014/main" val="20004"/>
                    </a:ext>
                  </a:extLst>
                </a:gridCol>
              </a:tblGrid>
              <a:tr h="375961">
                <a:tc>
                  <a:txBody>
                    <a:bodyPr/>
                    <a:lstStyle/>
                    <a:p>
                      <a:r>
                        <a:rPr lang="en-IN" sz="1600" b="1" dirty="0">
                          <a:solidFill>
                            <a:schemeClr val="bg1"/>
                          </a:solidFill>
                          <a:latin typeface="Times New Roman" panose="02020603050405020304" charset="0"/>
                          <a:cs typeface="Times New Roman" panose="02020603050405020304" charset="0"/>
                        </a:rPr>
                        <a:t>Dataset Category</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Source</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Description</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Purpose</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Link</a:t>
                      </a:r>
                    </a:p>
                  </a:txBody>
                  <a:tcPr anchor="ctr">
                    <a:solidFill>
                      <a:srgbClr val="7030A0"/>
                    </a:solidFill>
                  </a:tcPr>
                </a:tc>
                <a:extLst>
                  <a:ext uri="{0D108BD9-81ED-4DB2-BD59-A6C34878D82A}">
                    <a16:rowId xmlns:a16="http://schemas.microsoft.com/office/drawing/2014/main" val="10000"/>
                  </a:ext>
                </a:extLst>
              </a:tr>
              <a:tr h="934165">
                <a:tc>
                  <a:txBody>
                    <a:bodyPr/>
                    <a:lstStyle/>
                    <a:p>
                      <a:r>
                        <a:rPr lang="en-IN" sz="1600" b="1" dirty="0">
                          <a:latin typeface="Times New Roman" panose="02020603050405020304" charset="0"/>
                          <a:cs typeface="Times New Roman" panose="02020603050405020304" charset="0"/>
                        </a:rPr>
                        <a:t>DFDC (Video)</a:t>
                      </a:r>
                      <a:endParaRPr lang="en-IN" sz="1600" dirty="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Kaggle</a:t>
                      </a:r>
                    </a:p>
                  </a:txBody>
                  <a:tcPr anchor="ctr"/>
                </a:tc>
                <a:tc>
                  <a:txBody>
                    <a:bodyPr/>
                    <a:lstStyle/>
                    <a:p>
                      <a:r>
                        <a:rPr lang="en-US" sz="1600" dirty="0">
                          <a:latin typeface="Times New Roman" panose="02020603050405020304" charset="0"/>
                          <a:cs typeface="Times New Roman" panose="02020603050405020304" charset="0"/>
                        </a:rPr>
                        <a:t>Large-scale dataset containing real and deepfake videos; considered a gold standard benchmark</a:t>
                      </a:r>
                    </a:p>
                  </a:txBody>
                  <a:tcPr anchor="ctr"/>
                </a:tc>
                <a:tc>
                  <a:txBody>
                    <a:bodyPr/>
                    <a:lstStyle/>
                    <a:p>
                      <a:r>
                        <a:rPr lang="en-US" sz="1600" dirty="0">
                          <a:latin typeface="Times New Roman" panose="02020603050405020304" charset="0"/>
                          <a:cs typeface="Times New Roman" panose="02020603050405020304" charset="0"/>
                        </a:rPr>
                        <a:t>Train and evaluate deepfake detection models on diverse, real-world data</a:t>
                      </a:r>
                    </a:p>
                  </a:txBody>
                  <a:tcPr anchor="ctr"/>
                </a:tc>
                <a:tc>
                  <a:txBody>
                    <a:bodyPr/>
                    <a:lstStyle/>
                    <a:p>
                      <a:r>
                        <a:rPr lang="en-IN" sz="1600" dirty="0">
                          <a:latin typeface="Times New Roman" panose="02020603050405020304" charset="0"/>
                          <a:cs typeface="Times New Roman" panose="02020603050405020304" charset="0"/>
                          <a:hlinkClick r:id="rId2"/>
                        </a:rPr>
                        <a:t>https://www.kaggle.com/c/deepfake-detection-challenge</a:t>
                      </a:r>
                      <a:endParaRPr lang="en-IN" sz="1600" dirty="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1"/>
                  </a:ext>
                </a:extLst>
              </a:tr>
              <a:tr h="1417815">
                <a:tc>
                  <a:txBody>
                    <a:bodyPr/>
                    <a:lstStyle/>
                    <a:p>
                      <a:r>
                        <a:rPr lang="en-IN" sz="1600" b="1" dirty="0" err="1">
                          <a:latin typeface="Times New Roman" panose="02020603050405020304" charset="0"/>
                          <a:cs typeface="Times New Roman" panose="02020603050405020304" charset="0"/>
                        </a:rPr>
                        <a:t>FaceForensics</a:t>
                      </a:r>
                      <a:r>
                        <a:rPr lang="en-IN" sz="1600" b="1" dirty="0">
                          <a:latin typeface="Times New Roman" panose="02020603050405020304" charset="0"/>
                          <a:cs typeface="Times New Roman" panose="02020603050405020304" charset="0"/>
                        </a:rPr>
                        <a:t>++ (Video)</a:t>
                      </a:r>
                      <a:endParaRPr lang="en-IN" sz="1600" dirty="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Technical University of Munich</a:t>
                      </a:r>
                    </a:p>
                  </a:txBody>
                  <a:tcPr anchor="ctr"/>
                </a:tc>
                <a:tc>
                  <a:txBody>
                    <a:bodyPr/>
                    <a:lstStyle/>
                    <a:p>
                      <a:r>
                        <a:rPr lang="en-US" sz="1600">
                          <a:latin typeface="Times New Roman" panose="02020603050405020304" charset="0"/>
                          <a:cs typeface="Times New Roman" panose="02020603050405020304" charset="0"/>
                        </a:rPr>
                        <a:t>Dataset with multiple types of facial manipulations (Deepfakes, FaceSwap, Face2Face, NeuralTextures)</a:t>
                      </a:r>
                    </a:p>
                  </a:txBody>
                  <a:tcPr anchor="ctr"/>
                </a:tc>
                <a:tc>
                  <a:txBody>
                    <a:bodyPr/>
                    <a:lstStyle/>
                    <a:p>
                      <a:r>
                        <a:rPr lang="en-IN" sz="1600" dirty="0">
                          <a:latin typeface="Times New Roman" panose="02020603050405020304" charset="0"/>
                          <a:cs typeface="Times New Roman" panose="02020603050405020304" charset="0"/>
                        </a:rPr>
                        <a:t>Test and benchmark face manipulation detection techniques</a:t>
                      </a:r>
                    </a:p>
                  </a:txBody>
                  <a:tcPr anchor="ctr"/>
                </a:tc>
                <a:tc>
                  <a:txBody>
                    <a:bodyPr/>
                    <a:lstStyle/>
                    <a:p>
                      <a:r>
                        <a:rPr lang="en-IN" sz="1600" dirty="0">
                          <a:latin typeface="Times New Roman" panose="02020603050405020304" charset="0"/>
                          <a:cs typeface="Times New Roman" panose="02020603050405020304" charset="0"/>
                          <a:hlinkClick r:id="rId3"/>
                        </a:rPr>
                        <a:t>https://github.com/ondyari/FaceForensics#access</a:t>
                      </a:r>
                      <a:endParaRPr lang="en-IN" sz="1600" dirty="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2"/>
                  </a:ext>
                </a:extLst>
              </a:tr>
              <a:tr h="845236">
                <a:tc>
                  <a:txBody>
                    <a:bodyPr/>
                    <a:lstStyle/>
                    <a:p>
                      <a:r>
                        <a:rPr lang="en-IN" sz="1600" b="1">
                          <a:latin typeface="Times New Roman" panose="02020603050405020304" charset="0"/>
                          <a:cs typeface="Times New Roman" panose="02020603050405020304" charset="0"/>
                        </a:rPr>
                        <a:t>Celeb-DF (Video)</a:t>
                      </a:r>
                      <a:endParaRPr lang="en-IN" sz="160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University at Buffalo</a:t>
                      </a:r>
                    </a:p>
                  </a:txBody>
                  <a:tcPr anchor="ctr"/>
                </a:tc>
                <a:tc>
                  <a:txBody>
                    <a:bodyPr/>
                    <a:lstStyle/>
                    <a:p>
                      <a:r>
                        <a:rPr lang="en-US" sz="1600">
                          <a:latin typeface="Times New Roman" panose="02020603050405020304" charset="0"/>
                          <a:cs typeface="Times New Roman" panose="02020603050405020304" charset="0"/>
                        </a:rPr>
                        <a:t>High-quality deepfake videos with minimal visible artifacts</a:t>
                      </a:r>
                    </a:p>
                  </a:txBody>
                  <a:tcPr anchor="ctr"/>
                </a:tc>
                <a:tc>
                  <a:txBody>
                    <a:bodyPr/>
                    <a:lstStyle/>
                    <a:p>
                      <a:r>
                        <a:rPr lang="en-US" sz="1600" dirty="0">
                          <a:latin typeface="Times New Roman" panose="02020603050405020304" charset="0"/>
                          <a:cs typeface="Times New Roman" panose="02020603050405020304" charset="0"/>
                        </a:rPr>
                        <a:t>Evaluate model performance on realistic and hard-to-detect deepfakes</a:t>
                      </a:r>
                    </a:p>
                  </a:txBody>
                  <a:tcPr anchor="ctr"/>
                </a:tc>
                <a:tc>
                  <a:txBody>
                    <a:bodyPr/>
                    <a:lstStyle/>
                    <a:p>
                      <a:r>
                        <a:rPr lang="en-IN" sz="1600">
                          <a:latin typeface="Times New Roman" panose="02020603050405020304" charset="0"/>
                          <a:cs typeface="Times New Roman" panose="02020603050405020304" charset="0"/>
                          <a:hlinkClick r:id="rId4"/>
                        </a:rPr>
                        <a:t>https://github.com/yuezunli/celeb-deepfakeforensics</a:t>
                      </a:r>
                      <a:endParaRPr lang="en-IN" sz="160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3"/>
                  </a:ext>
                </a:extLst>
              </a:tr>
              <a:tr h="941312">
                <a:tc>
                  <a:txBody>
                    <a:bodyPr/>
                    <a:lstStyle/>
                    <a:p>
                      <a:r>
                        <a:rPr lang="en-IN" sz="1600">
                          <a:latin typeface="Times New Roman" panose="02020603050405020304" charset="0"/>
                          <a:cs typeface="Times New Roman" panose="02020603050405020304" charset="0"/>
                        </a:rPr>
                        <a:t>DeepFakeTIMIT</a:t>
                      </a:r>
                    </a:p>
                  </a:txBody>
                  <a:tcPr anchor="ctr"/>
                </a:tc>
                <a:tc>
                  <a:txBody>
                    <a:bodyPr/>
                    <a:lstStyle/>
                    <a:p>
                      <a:r>
                        <a:rPr lang="en-IN" sz="1600">
                          <a:latin typeface="Times New Roman" panose="02020603050405020304" charset="0"/>
                          <a:cs typeface="Times New Roman" panose="02020603050405020304" charset="0"/>
                        </a:rPr>
                        <a:t>University of Naples</a:t>
                      </a:r>
                    </a:p>
                  </a:txBody>
                  <a:tcPr anchor="ctr"/>
                </a:tc>
                <a:tc>
                  <a:txBody>
                    <a:bodyPr/>
                    <a:lstStyle/>
                    <a:p>
                      <a:r>
                        <a:rPr lang="en-IN" sz="1600">
                          <a:latin typeface="Times New Roman" panose="02020603050405020304" charset="0"/>
                          <a:cs typeface="Times New Roman" panose="02020603050405020304" charset="0"/>
                        </a:rPr>
                        <a:t>Low &amp; high-quality deepfake videos</a:t>
                      </a:r>
                    </a:p>
                  </a:txBody>
                  <a:tcPr anchor="ctr"/>
                </a:tc>
                <a:tc>
                  <a:txBody>
                    <a:bodyPr/>
                    <a:lstStyle/>
                    <a:p>
                      <a:r>
                        <a:rPr lang="en-IN" sz="1600">
                          <a:latin typeface="Times New Roman" panose="02020603050405020304" charset="0"/>
                          <a:cs typeface="Times New Roman" panose="02020603050405020304" charset="0"/>
                        </a:rPr>
                        <a:t>Evaluate model robustness</a:t>
                      </a:r>
                    </a:p>
                  </a:txBody>
                  <a:tcPr anchor="ctr"/>
                </a:tc>
                <a:tc>
                  <a:txBody>
                    <a:bodyPr/>
                    <a:lstStyle/>
                    <a:p>
                      <a:r>
                        <a:rPr lang="en-IN" sz="1600" dirty="0">
                          <a:latin typeface="Times New Roman" panose="02020603050405020304" charset="0"/>
                          <a:cs typeface="Times New Roman" panose="02020603050405020304" charset="0"/>
                          <a:hlinkClick r:id="rId5"/>
                        </a:rPr>
                        <a:t>https://conradsanderson.id.au/vidtimit/</a:t>
                      </a:r>
                      <a:endParaRPr lang="en-IN" sz="1600" dirty="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6245" y="1042221"/>
            <a:ext cx="11041626" cy="496996"/>
          </a:xfrm>
          <a:prstGeom prst="rect">
            <a:avLst/>
          </a:prstGeom>
          <a:noFill/>
        </p:spPr>
        <p:txBody>
          <a:bodyPr wrap="square">
            <a:spAutoFit/>
          </a:bodyPr>
          <a:lstStyle/>
          <a:p>
            <a:pPr algn="just">
              <a:lnSpc>
                <a:spcPct val="150000"/>
              </a:lnSpc>
            </a:pPr>
            <a:endParaRPr lang="en-IN" sz="2000" dirty="0"/>
          </a:p>
        </p:txBody>
      </p:sp>
      <p:sp>
        <p:nvSpPr>
          <p:cNvPr id="6" name="TextBox 5"/>
          <p:cNvSpPr txBox="1"/>
          <p:nvPr/>
        </p:nvSpPr>
        <p:spPr>
          <a:xfrm>
            <a:off x="806245" y="230241"/>
            <a:ext cx="8303888" cy="523220"/>
          </a:xfrm>
          <a:prstGeom prst="rect">
            <a:avLst/>
          </a:prstGeom>
          <a:noFill/>
        </p:spPr>
        <p:txBody>
          <a:bodyPr wrap="square" rtlCol="0">
            <a:spAutoFit/>
          </a:bodyPr>
          <a:lstStyle/>
          <a:p>
            <a:r>
              <a:rPr lang="en-IN" sz="2800" b="1" dirty="0">
                <a:latin typeface="Times New Roman" panose="02020603050405020304" charset="0"/>
                <a:cs typeface="Times New Roman" panose="02020603050405020304" charset="0"/>
              </a:rPr>
              <a:t>Dataset Identification(Image Datasets)</a:t>
            </a:r>
          </a:p>
        </p:txBody>
      </p:sp>
      <p:graphicFrame>
        <p:nvGraphicFramePr>
          <p:cNvPr id="3" name="Table 2"/>
          <p:cNvGraphicFramePr>
            <a:graphicFrameLocks noGrp="1"/>
          </p:cNvGraphicFramePr>
          <p:nvPr/>
        </p:nvGraphicFramePr>
        <p:xfrm>
          <a:off x="1004854" y="1172585"/>
          <a:ext cx="10380901" cy="4514489"/>
        </p:xfrm>
        <a:graphic>
          <a:graphicData uri="http://schemas.openxmlformats.org/drawingml/2006/table">
            <a:tbl>
              <a:tblPr firstRow="1" bandRow="1">
                <a:tableStyleId>{5940675A-B579-460E-94D1-54222C63F5DA}</a:tableStyleId>
              </a:tblPr>
              <a:tblGrid>
                <a:gridCol w="1879023">
                  <a:extLst>
                    <a:ext uri="{9D8B030D-6E8A-4147-A177-3AD203B41FA5}">
                      <a16:colId xmlns:a16="http://schemas.microsoft.com/office/drawing/2014/main" val="20000"/>
                    </a:ext>
                  </a:extLst>
                </a:gridCol>
                <a:gridCol w="1474763">
                  <a:extLst>
                    <a:ext uri="{9D8B030D-6E8A-4147-A177-3AD203B41FA5}">
                      <a16:colId xmlns:a16="http://schemas.microsoft.com/office/drawing/2014/main" val="20001"/>
                    </a:ext>
                  </a:extLst>
                </a:gridCol>
                <a:gridCol w="2580640">
                  <a:extLst>
                    <a:ext uri="{9D8B030D-6E8A-4147-A177-3AD203B41FA5}">
                      <a16:colId xmlns:a16="http://schemas.microsoft.com/office/drawing/2014/main" val="20002"/>
                    </a:ext>
                  </a:extLst>
                </a:gridCol>
                <a:gridCol w="2245360">
                  <a:extLst>
                    <a:ext uri="{9D8B030D-6E8A-4147-A177-3AD203B41FA5}">
                      <a16:colId xmlns:a16="http://schemas.microsoft.com/office/drawing/2014/main" val="20003"/>
                    </a:ext>
                  </a:extLst>
                </a:gridCol>
                <a:gridCol w="2201115">
                  <a:extLst>
                    <a:ext uri="{9D8B030D-6E8A-4147-A177-3AD203B41FA5}">
                      <a16:colId xmlns:a16="http://schemas.microsoft.com/office/drawing/2014/main" val="20004"/>
                    </a:ext>
                  </a:extLst>
                </a:gridCol>
              </a:tblGrid>
              <a:tr h="375961">
                <a:tc>
                  <a:txBody>
                    <a:bodyPr/>
                    <a:lstStyle/>
                    <a:p>
                      <a:r>
                        <a:rPr lang="en-IN" sz="1600" b="1" dirty="0">
                          <a:solidFill>
                            <a:schemeClr val="bg1"/>
                          </a:solidFill>
                          <a:latin typeface="Times New Roman" panose="02020603050405020304" charset="0"/>
                          <a:cs typeface="Times New Roman" panose="02020603050405020304" charset="0"/>
                        </a:rPr>
                        <a:t>Dataset Category</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Source</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Description</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Purpose</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Link</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extLst>
                  <a:ext uri="{0D108BD9-81ED-4DB2-BD59-A6C34878D82A}">
                    <a16:rowId xmlns:a16="http://schemas.microsoft.com/office/drawing/2014/main" val="10000"/>
                  </a:ext>
                </a:extLst>
              </a:tr>
              <a:tr h="934165">
                <a:tc>
                  <a:txBody>
                    <a:bodyPr/>
                    <a:lstStyle/>
                    <a:p>
                      <a:r>
                        <a:rPr lang="en-IN" sz="1600" dirty="0" err="1">
                          <a:latin typeface="Times New Roman" panose="02020603050405020304" charset="0"/>
                          <a:cs typeface="Times New Roman" panose="02020603050405020304" charset="0"/>
                        </a:rPr>
                        <a:t>CelebA</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Google / CUHK</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US" sz="1600" dirty="0">
                          <a:latin typeface="Times New Roman" panose="02020603050405020304" charset="0"/>
                          <a:cs typeface="Times New Roman" panose="02020603050405020304" charset="0"/>
                        </a:rPr>
                        <a:t>Large dataset of celebrity faces</a:t>
                      </a:r>
                      <a:endParaRPr lang="en-US"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Train face-based models</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hlinkClick r:id="rId2"/>
                        </a:rPr>
                        <a:t>https://mmlab.ie.cuhk.edu.hk/projects/CelebA.html</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extLst>
                  <a:ext uri="{0D108BD9-81ED-4DB2-BD59-A6C34878D82A}">
                    <a16:rowId xmlns:a16="http://schemas.microsoft.com/office/drawing/2014/main" val="10001"/>
                  </a:ext>
                </a:extLst>
              </a:tr>
              <a:tr h="1417815">
                <a:tc>
                  <a:txBody>
                    <a:bodyPr/>
                    <a:lstStyle/>
                    <a:p>
                      <a:r>
                        <a:rPr lang="en-IN" sz="1600" dirty="0">
                          <a:latin typeface="Times New Roman" panose="02020603050405020304" charset="0"/>
                          <a:cs typeface="Times New Roman" panose="02020603050405020304" charset="0"/>
                        </a:rPr>
                        <a:t>FFHQ (Flickr-Faces-HQ)</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NVIDIA</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High-quality human face images</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Train GAN detection models</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hlinkClick r:id="rId3"/>
                        </a:rPr>
                        <a:t>https://github.com/NVlabs/ffhq-dataset</a:t>
                      </a:r>
                      <a:endParaRPr lang="en-IN" sz="1600">
                        <a:latin typeface="Times New Roman" panose="02020603050405020304" charset="0"/>
                        <a:ea typeface="Tahoma" panose="020B0604030504040204" pitchFamily="34" charset="0"/>
                        <a:cs typeface="Times New Roman" panose="02020603050405020304" charset="0"/>
                      </a:endParaRPr>
                    </a:p>
                  </a:txBody>
                  <a:tcPr anchor="ctr"/>
                </a:tc>
                <a:extLst>
                  <a:ext uri="{0D108BD9-81ED-4DB2-BD59-A6C34878D82A}">
                    <a16:rowId xmlns:a16="http://schemas.microsoft.com/office/drawing/2014/main" val="10002"/>
                  </a:ext>
                </a:extLst>
              </a:tr>
              <a:tr h="845236">
                <a:tc>
                  <a:txBody>
                    <a:bodyPr/>
                    <a:lstStyle/>
                    <a:p>
                      <a:r>
                        <a:rPr lang="en-IN" sz="1600">
                          <a:latin typeface="Times New Roman" panose="02020603050405020304" charset="0"/>
                          <a:cs typeface="Times New Roman" panose="02020603050405020304" charset="0"/>
                        </a:rPr>
                        <a:t>StyleGAN Generated Dataset</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NVIDIA</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AI-generated fake faces</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Detect synthetic images</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hlinkClick r:id="rId4"/>
                        </a:rPr>
                        <a:t>https://github.com/NVlabs/stylegan</a:t>
                      </a:r>
                      <a:endParaRPr lang="en-IN" sz="1600">
                        <a:latin typeface="Times New Roman" panose="02020603050405020304" charset="0"/>
                        <a:ea typeface="Tahoma" panose="020B0604030504040204" pitchFamily="34" charset="0"/>
                        <a:cs typeface="Times New Roman" panose="02020603050405020304" charset="0"/>
                      </a:endParaRPr>
                    </a:p>
                  </a:txBody>
                  <a:tcPr anchor="ctr"/>
                </a:tc>
                <a:extLst>
                  <a:ext uri="{0D108BD9-81ED-4DB2-BD59-A6C34878D82A}">
                    <a16:rowId xmlns:a16="http://schemas.microsoft.com/office/drawing/2014/main" val="10003"/>
                  </a:ext>
                </a:extLst>
              </a:tr>
              <a:tr h="941312">
                <a:tc>
                  <a:txBody>
                    <a:bodyPr/>
                    <a:lstStyle/>
                    <a:p>
                      <a:r>
                        <a:rPr lang="en-US" sz="1600">
                          <a:latin typeface="Times New Roman" panose="02020603050405020304" charset="0"/>
                          <a:cs typeface="Times New Roman" panose="02020603050405020304" charset="0"/>
                        </a:rPr>
                        <a:t>Real vs Fake Face Dataset</a:t>
                      </a:r>
                      <a:endParaRPr lang="en-US"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Kaggle</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US" sz="1600">
                          <a:latin typeface="Times New Roman" panose="02020603050405020304" charset="0"/>
                          <a:cs typeface="Times New Roman" panose="02020603050405020304" charset="0"/>
                        </a:rPr>
                        <a:t>Mix of real and fake face images</a:t>
                      </a:r>
                      <a:endParaRPr lang="en-US"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Binary classification (real/fake)</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hlinkClick r:id="rId5"/>
                        </a:rPr>
                        <a:t>https://www.kaggle.com/c/fake-faces</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6245" y="1042221"/>
            <a:ext cx="11041626" cy="496996"/>
          </a:xfrm>
          <a:prstGeom prst="rect">
            <a:avLst/>
          </a:prstGeom>
          <a:noFill/>
        </p:spPr>
        <p:txBody>
          <a:bodyPr wrap="square">
            <a:spAutoFit/>
          </a:bodyPr>
          <a:lstStyle/>
          <a:p>
            <a:pPr algn="just">
              <a:lnSpc>
                <a:spcPct val="150000"/>
              </a:lnSpc>
            </a:pPr>
            <a:endParaRPr lang="en-IN" sz="2000" dirty="0"/>
          </a:p>
        </p:txBody>
      </p:sp>
      <p:sp>
        <p:nvSpPr>
          <p:cNvPr id="6" name="TextBox 5"/>
          <p:cNvSpPr txBox="1"/>
          <p:nvPr/>
        </p:nvSpPr>
        <p:spPr>
          <a:xfrm>
            <a:off x="806245" y="230241"/>
            <a:ext cx="8303888" cy="523220"/>
          </a:xfrm>
          <a:prstGeom prst="rect">
            <a:avLst/>
          </a:prstGeom>
          <a:noFill/>
        </p:spPr>
        <p:txBody>
          <a:bodyPr wrap="square" rtlCol="0">
            <a:spAutoFit/>
          </a:bodyPr>
          <a:lstStyle/>
          <a:p>
            <a:r>
              <a:rPr lang="en-IN" sz="2800" b="1" dirty="0">
                <a:latin typeface="Times New Roman" panose="02020603050405020304" charset="0"/>
                <a:cs typeface="Times New Roman" panose="02020603050405020304" charset="0"/>
              </a:rPr>
              <a:t>Dataset Identification(Audio Datasets)</a:t>
            </a:r>
          </a:p>
        </p:txBody>
      </p:sp>
      <p:graphicFrame>
        <p:nvGraphicFramePr>
          <p:cNvPr id="3" name="Table 2"/>
          <p:cNvGraphicFramePr>
            <a:graphicFrameLocks noGrp="1"/>
          </p:cNvGraphicFramePr>
          <p:nvPr/>
        </p:nvGraphicFramePr>
        <p:xfrm>
          <a:off x="984738" y="1172585"/>
          <a:ext cx="10401017" cy="4514489"/>
        </p:xfrm>
        <a:graphic>
          <a:graphicData uri="http://schemas.openxmlformats.org/drawingml/2006/table">
            <a:tbl>
              <a:tblPr firstRow="1" bandRow="1">
                <a:tableStyleId>{5940675A-B579-460E-94D1-54222C63F5DA}</a:tableStyleId>
              </a:tblPr>
              <a:tblGrid>
                <a:gridCol w="1803401">
                  <a:extLst>
                    <a:ext uri="{9D8B030D-6E8A-4147-A177-3AD203B41FA5}">
                      <a16:colId xmlns:a16="http://schemas.microsoft.com/office/drawing/2014/main" val="20000"/>
                    </a:ext>
                  </a:extLst>
                </a:gridCol>
                <a:gridCol w="1570501">
                  <a:extLst>
                    <a:ext uri="{9D8B030D-6E8A-4147-A177-3AD203B41FA5}">
                      <a16:colId xmlns:a16="http://schemas.microsoft.com/office/drawing/2014/main" val="20001"/>
                    </a:ext>
                  </a:extLst>
                </a:gridCol>
                <a:gridCol w="2580640">
                  <a:extLst>
                    <a:ext uri="{9D8B030D-6E8A-4147-A177-3AD203B41FA5}">
                      <a16:colId xmlns:a16="http://schemas.microsoft.com/office/drawing/2014/main" val="20002"/>
                    </a:ext>
                  </a:extLst>
                </a:gridCol>
                <a:gridCol w="2245360">
                  <a:extLst>
                    <a:ext uri="{9D8B030D-6E8A-4147-A177-3AD203B41FA5}">
                      <a16:colId xmlns:a16="http://schemas.microsoft.com/office/drawing/2014/main" val="20003"/>
                    </a:ext>
                  </a:extLst>
                </a:gridCol>
                <a:gridCol w="2201115">
                  <a:extLst>
                    <a:ext uri="{9D8B030D-6E8A-4147-A177-3AD203B41FA5}">
                      <a16:colId xmlns:a16="http://schemas.microsoft.com/office/drawing/2014/main" val="20004"/>
                    </a:ext>
                  </a:extLst>
                </a:gridCol>
              </a:tblGrid>
              <a:tr h="375961">
                <a:tc>
                  <a:txBody>
                    <a:bodyPr/>
                    <a:lstStyle/>
                    <a:p>
                      <a:r>
                        <a:rPr lang="en-IN" sz="1600" b="1" dirty="0">
                          <a:solidFill>
                            <a:schemeClr val="bg1"/>
                          </a:solidFill>
                          <a:latin typeface="Times New Roman" panose="02020603050405020304" charset="0"/>
                          <a:cs typeface="Times New Roman" panose="02020603050405020304" charset="0"/>
                        </a:rPr>
                        <a:t>Dataset Category</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Source</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Description</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Purpose</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Link</a:t>
                      </a:r>
                    </a:p>
                  </a:txBody>
                  <a:tcPr anchor="ctr">
                    <a:solidFill>
                      <a:srgbClr val="7030A0"/>
                    </a:solidFill>
                  </a:tcPr>
                </a:tc>
                <a:extLst>
                  <a:ext uri="{0D108BD9-81ED-4DB2-BD59-A6C34878D82A}">
                    <a16:rowId xmlns:a16="http://schemas.microsoft.com/office/drawing/2014/main" val="10000"/>
                  </a:ext>
                </a:extLst>
              </a:tr>
              <a:tr h="934165">
                <a:tc>
                  <a:txBody>
                    <a:bodyPr/>
                    <a:lstStyle/>
                    <a:p>
                      <a:r>
                        <a:rPr lang="en-IN" sz="1600">
                          <a:latin typeface="Times New Roman" panose="02020603050405020304" charset="0"/>
                          <a:cs typeface="Times New Roman" panose="02020603050405020304" charset="0"/>
                        </a:rPr>
                        <a:t>ASVspoof 2021</a:t>
                      </a:r>
                    </a:p>
                  </a:txBody>
                  <a:tcPr anchor="ctr"/>
                </a:tc>
                <a:tc>
                  <a:txBody>
                    <a:bodyPr/>
                    <a:lstStyle/>
                    <a:p>
                      <a:r>
                        <a:rPr lang="en-IN" sz="1600">
                          <a:latin typeface="Times New Roman" panose="02020603050405020304" charset="0"/>
                          <a:cs typeface="Times New Roman" panose="02020603050405020304" charset="0"/>
                        </a:rPr>
                        <a:t>Zenodo</a:t>
                      </a:r>
                    </a:p>
                  </a:txBody>
                  <a:tcPr anchor="ctr"/>
                </a:tc>
                <a:tc>
                  <a:txBody>
                    <a:bodyPr/>
                    <a:lstStyle/>
                    <a:p>
                      <a:r>
                        <a:rPr lang="en-IN" sz="1600">
                          <a:latin typeface="Times New Roman" panose="02020603050405020304" charset="0"/>
                          <a:cs typeface="Times New Roman" panose="02020603050405020304" charset="0"/>
                        </a:rPr>
                        <a:t>Synthetic &amp; spoofed speech dataset</a:t>
                      </a:r>
                    </a:p>
                  </a:txBody>
                  <a:tcPr anchor="ctr"/>
                </a:tc>
                <a:tc>
                  <a:txBody>
                    <a:bodyPr/>
                    <a:lstStyle/>
                    <a:p>
                      <a:r>
                        <a:rPr lang="en-IN" sz="1600">
                          <a:latin typeface="Times New Roman" panose="02020603050405020304" charset="0"/>
                          <a:cs typeface="Times New Roman" panose="02020603050405020304" charset="0"/>
                        </a:rPr>
                        <a:t>Train audio deepfake detection</a:t>
                      </a:r>
                    </a:p>
                  </a:txBody>
                  <a:tcPr anchor="ctr"/>
                </a:tc>
                <a:tc>
                  <a:txBody>
                    <a:bodyPr/>
                    <a:lstStyle/>
                    <a:p>
                      <a:r>
                        <a:rPr lang="en-IN" sz="1600">
                          <a:latin typeface="Times New Roman" panose="02020603050405020304" charset="0"/>
                          <a:cs typeface="Times New Roman" panose="02020603050405020304" charset="0"/>
                          <a:hlinkClick r:id="rId2"/>
                        </a:rPr>
                        <a:t>https://zenodo.org/record/4837263</a:t>
                      </a:r>
                      <a:endParaRPr lang="en-IN" sz="160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1"/>
                  </a:ext>
                </a:extLst>
              </a:tr>
              <a:tr h="1417815">
                <a:tc>
                  <a:txBody>
                    <a:bodyPr/>
                    <a:lstStyle/>
                    <a:p>
                      <a:r>
                        <a:rPr lang="en-IN" sz="1600">
                          <a:latin typeface="Times New Roman" panose="02020603050405020304" charset="0"/>
                          <a:cs typeface="Times New Roman" panose="02020603050405020304" charset="0"/>
                        </a:rPr>
                        <a:t>Fake-or-Real (FoR)</a:t>
                      </a:r>
                    </a:p>
                  </a:txBody>
                  <a:tcPr anchor="ctr"/>
                </a:tc>
                <a:tc>
                  <a:txBody>
                    <a:bodyPr/>
                    <a:lstStyle/>
                    <a:p>
                      <a:r>
                        <a:rPr lang="en-IN" sz="1600">
                          <a:latin typeface="Times New Roman" panose="02020603050405020304" charset="0"/>
                          <a:cs typeface="Times New Roman" panose="02020603050405020304" charset="0"/>
                        </a:rPr>
                        <a:t>Kaggle</a:t>
                      </a:r>
                    </a:p>
                  </a:txBody>
                  <a:tcPr anchor="ctr"/>
                </a:tc>
                <a:tc>
                  <a:txBody>
                    <a:bodyPr/>
                    <a:lstStyle/>
                    <a:p>
                      <a:r>
                        <a:rPr lang="en-US" sz="1600">
                          <a:latin typeface="Times New Roman" panose="02020603050405020304" charset="0"/>
                          <a:cs typeface="Times New Roman" panose="02020603050405020304" charset="0"/>
                        </a:rPr>
                        <a:t>Real and AI-generated voice samples</a:t>
                      </a:r>
                    </a:p>
                  </a:txBody>
                  <a:tcPr anchor="ctr"/>
                </a:tc>
                <a:tc>
                  <a:txBody>
                    <a:bodyPr/>
                    <a:lstStyle/>
                    <a:p>
                      <a:r>
                        <a:rPr lang="en-IN" sz="1600">
                          <a:latin typeface="Times New Roman" panose="02020603050405020304" charset="0"/>
                          <a:cs typeface="Times New Roman" panose="02020603050405020304" charset="0"/>
                        </a:rPr>
                        <a:t>Binary classification</a:t>
                      </a:r>
                    </a:p>
                  </a:txBody>
                  <a:tcPr anchor="ctr"/>
                </a:tc>
                <a:tc>
                  <a:txBody>
                    <a:bodyPr/>
                    <a:lstStyle/>
                    <a:p>
                      <a:r>
                        <a:rPr lang="en-IN" sz="1600">
                          <a:latin typeface="Times New Roman" panose="02020603050405020304" charset="0"/>
                          <a:cs typeface="Times New Roman" panose="02020603050405020304" charset="0"/>
                          <a:hlinkClick r:id="rId3"/>
                        </a:rPr>
                        <a:t>https://www.kaggle.com/datasets/mohammedabdeldayem/the-fake-or-real-dataset</a:t>
                      </a:r>
                      <a:endParaRPr lang="en-IN" sz="160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2"/>
                  </a:ext>
                </a:extLst>
              </a:tr>
              <a:tr h="845236">
                <a:tc>
                  <a:txBody>
                    <a:bodyPr/>
                    <a:lstStyle/>
                    <a:p>
                      <a:r>
                        <a:rPr lang="en-IN" sz="1600" dirty="0" err="1">
                          <a:latin typeface="Times New Roman" panose="02020603050405020304" charset="0"/>
                          <a:cs typeface="Times New Roman" panose="02020603050405020304" charset="0"/>
                        </a:rPr>
                        <a:t>WaveFake</a:t>
                      </a:r>
                      <a:endParaRPr lang="en-IN" sz="1600" dirty="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University of Edinburgh</a:t>
                      </a:r>
                    </a:p>
                  </a:txBody>
                  <a:tcPr anchor="ctr"/>
                </a:tc>
                <a:tc>
                  <a:txBody>
                    <a:bodyPr/>
                    <a:lstStyle/>
                    <a:p>
                      <a:r>
                        <a:rPr lang="en-US" sz="1600">
                          <a:latin typeface="Times New Roman" panose="02020603050405020304" charset="0"/>
                          <a:cs typeface="Times New Roman" panose="02020603050405020304" charset="0"/>
                        </a:rPr>
                        <a:t>Fake audio generated using TTS models</a:t>
                      </a:r>
                    </a:p>
                  </a:txBody>
                  <a:tcPr anchor="ctr"/>
                </a:tc>
                <a:tc>
                  <a:txBody>
                    <a:bodyPr/>
                    <a:lstStyle/>
                    <a:p>
                      <a:r>
                        <a:rPr lang="en-IN" sz="1600">
                          <a:latin typeface="Times New Roman" panose="02020603050405020304" charset="0"/>
                          <a:cs typeface="Times New Roman" panose="02020603050405020304" charset="0"/>
                        </a:rPr>
                        <a:t>Detect AI-generated voices</a:t>
                      </a:r>
                    </a:p>
                  </a:txBody>
                  <a:tcPr anchor="ctr"/>
                </a:tc>
                <a:tc>
                  <a:txBody>
                    <a:bodyPr/>
                    <a:lstStyle/>
                    <a:p>
                      <a:r>
                        <a:rPr lang="en-IN" sz="1600">
                          <a:latin typeface="Times New Roman" panose="02020603050405020304" charset="0"/>
                          <a:cs typeface="Times New Roman" panose="02020603050405020304" charset="0"/>
                          <a:hlinkClick r:id="rId4"/>
                        </a:rPr>
                        <a:t>https://github.com/RUB-SysSec/WaveFake</a:t>
                      </a:r>
                      <a:endParaRPr lang="en-IN" sz="160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3"/>
                  </a:ext>
                </a:extLst>
              </a:tr>
              <a:tr h="941312">
                <a:tc>
                  <a:txBody>
                    <a:bodyPr/>
                    <a:lstStyle/>
                    <a:p>
                      <a:r>
                        <a:rPr lang="en-IN" sz="1600">
                          <a:latin typeface="Times New Roman" panose="02020603050405020304" charset="0"/>
                          <a:cs typeface="Times New Roman" panose="02020603050405020304" charset="0"/>
                        </a:rPr>
                        <a:t>LibriSpeech + Fake Audio</a:t>
                      </a:r>
                    </a:p>
                  </a:txBody>
                  <a:tcPr anchor="ctr"/>
                </a:tc>
                <a:tc>
                  <a:txBody>
                    <a:bodyPr/>
                    <a:lstStyle/>
                    <a:p>
                      <a:r>
                        <a:rPr lang="en-IN" sz="1600">
                          <a:latin typeface="Times New Roman" panose="02020603050405020304" charset="0"/>
                          <a:cs typeface="Times New Roman" panose="02020603050405020304" charset="0"/>
                        </a:rPr>
                        <a:t>OpenSLR</a:t>
                      </a:r>
                    </a:p>
                  </a:txBody>
                  <a:tcPr anchor="ctr"/>
                </a:tc>
                <a:tc>
                  <a:txBody>
                    <a:bodyPr/>
                    <a:lstStyle/>
                    <a:p>
                      <a:r>
                        <a:rPr lang="en-IN" sz="1600">
                          <a:latin typeface="Times New Roman" panose="02020603050405020304" charset="0"/>
                          <a:cs typeface="Times New Roman" panose="02020603050405020304" charset="0"/>
                        </a:rPr>
                        <a:t>Real speech dataset (baseline)</a:t>
                      </a:r>
                    </a:p>
                  </a:txBody>
                  <a:tcPr anchor="ctr"/>
                </a:tc>
                <a:tc>
                  <a:txBody>
                    <a:bodyPr/>
                    <a:lstStyle/>
                    <a:p>
                      <a:r>
                        <a:rPr lang="en-IN" sz="1600">
                          <a:latin typeface="Times New Roman" panose="02020603050405020304" charset="0"/>
                          <a:cs typeface="Times New Roman" panose="02020603050405020304" charset="0"/>
                        </a:rPr>
                        <a:t>Compare real vs fake audio</a:t>
                      </a:r>
                    </a:p>
                  </a:txBody>
                  <a:tcPr anchor="ctr"/>
                </a:tc>
                <a:tc>
                  <a:txBody>
                    <a:bodyPr/>
                    <a:lstStyle/>
                    <a:p>
                      <a:r>
                        <a:rPr lang="en-IN" sz="1600" dirty="0">
                          <a:latin typeface="Times New Roman" panose="02020603050405020304" charset="0"/>
                          <a:cs typeface="Times New Roman" panose="02020603050405020304" charset="0"/>
                          <a:hlinkClick r:id="rId5"/>
                        </a:rPr>
                        <a:t>https://www.openslr.org/12</a:t>
                      </a:r>
                      <a:endParaRPr lang="en-IN" sz="1600" dirty="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18540" y="500380"/>
            <a:ext cx="5318760" cy="484505"/>
          </a:xfrm>
          <a:prstGeom prst="rect">
            <a:avLst/>
          </a:prstGeom>
          <a:noFill/>
        </p:spPr>
        <p:txBody>
          <a:bodyPr wrap="square" rtlCol="0">
            <a:noAutofit/>
          </a:bodyPr>
          <a:lstStyle/>
          <a:p>
            <a:r>
              <a:rPr lang="en-IN" sz="2800" b="1" dirty="0">
                <a:latin typeface="Times New Roman" panose="02020603050405020304" charset="0"/>
                <a:cs typeface="Times New Roman" panose="02020603050405020304" charset="0"/>
                <a:sym typeface="+mn-ea"/>
              </a:rPr>
              <a:t>Data Understanding</a:t>
            </a:r>
            <a:endParaRPr lang="en-US" sz="2800"/>
          </a:p>
        </p:txBody>
      </p:sp>
      <p:sp>
        <p:nvSpPr>
          <p:cNvPr id="6" name="Text Box 5"/>
          <p:cNvSpPr txBox="1"/>
          <p:nvPr/>
        </p:nvSpPr>
        <p:spPr>
          <a:xfrm>
            <a:off x="903605" y="1312545"/>
            <a:ext cx="9337675" cy="4215130"/>
          </a:xfrm>
          <a:prstGeom prst="rect">
            <a:avLst/>
          </a:prstGeom>
          <a:noFill/>
        </p:spPr>
        <p:txBody>
          <a:bodyPr wrap="square" rtlCol="0">
            <a:noAutofit/>
          </a:bodyPr>
          <a:lstStyle/>
          <a:p>
            <a:endParaRPr lang="en-US" altLang="en-US"/>
          </a:p>
          <a:p>
            <a:r>
              <a:rPr lang="en-US" altLang="en-US" sz="2000" b="1"/>
              <a:t>Our project uses:</a:t>
            </a:r>
          </a:p>
          <a:p>
            <a:r>
              <a:rPr lang="en-IN" altLang="en-US" sz="1800"/>
              <a:t> </a:t>
            </a:r>
            <a:r>
              <a:rPr lang="en-US" altLang="en-US" sz="1800"/>
              <a:t>Images</a:t>
            </a:r>
          </a:p>
          <a:p>
            <a:r>
              <a:rPr lang="en-IN" altLang="en-US" sz="1800"/>
              <a:t> </a:t>
            </a:r>
            <a:r>
              <a:rPr lang="en-US" altLang="en-US" sz="1800"/>
              <a:t>Videos</a:t>
            </a:r>
          </a:p>
          <a:p>
            <a:r>
              <a:rPr lang="en-IN" altLang="en-US" sz="1800"/>
              <a:t> </a:t>
            </a:r>
            <a:r>
              <a:rPr lang="en-US" altLang="en-US" sz="1800"/>
              <a:t>Audio files</a:t>
            </a:r>
            <a:endParaRPr lang="en-US" altLang="en-US"/>
          </a:p>
          <a:p>
            <a:endParaRPr lang="en-US" altLang="en-US" sz="2000" b="1"/>
          </a:p>
          <a:p>
            <a:r>
              <a:rPr lang="en-US" altLang="en-US" sz="2000" b="1"/>
              <a:t>The datasets contain:</a:t>
            </a:r>
          </a:p>
          <a:p>
            <a:r>
              <a:rPr lang="en-IN" altLang="en-US" sz="1800"/>
              <a:t> </a:t>
            </a:r>
            <a:r>
              <a:rPr lang="en-US" altLang="en-US" sz="1800"/>
              <a:t>Real media</a:t>
            </a:r>
          </a:p>
          <a:p>
            <a:r>
              <a:rPr lang="en-IN" altLang="en-US" sz="1800"/>
              <a:t> </a:t>
            </a:r>
            <a:r>
              <a:rPr lang="en-US" altLang="en-US" sz="1800"/>
              <a:t>Fake AI-generated media</a:t>
            </a:r>
          </a:p>
          <a:p>
            <a:endParaRPr lang="en-US" altLang="en-US" sz="1800"/>
          </a:p>
          <a:p>
            <a:r>
              <a:rPr lang="en-US" altLang="en-US" sz="2000" b="1"/>
              <a:t>Purpose</a:t>
            </a:r>
          </a:p>
          <a:p>
            <a:r>
              <a:rPr lang="en-IN" altLang="en-US" sz="1800"/>
              <a:t> </a:t>
            </a:r>
            <a:r>
              <a:rPr lang="en-US" altLang="en-US" sz="1800"/>
              <a:t>Train the AI model</a:t>
            </a:r>
          </a:p>
          <a:p>
            <a:r>
              <a:rPr lang="en-IN" altLang="en-US" sz="1800"/>
              <a:t> </a:t>
            </a:r>
            <a:r>
              <a:rPr lang="en-US" altLang="en-US" sz="1800"/>
              <a:t>Detect deepfake content</a:t>
            </a:r>
          </a:p>
          <a:p>
            <a:r>
              <a:rPr lang="en-IN" altLang="en-US" sz="1800"/>
              <a:t> </a:t>
            </a:r>
            <a:r>
              <a:rPr lang="en-US" altLang="en-US" sz="1800"/>
              <a:t>Improve detection accuracy</a:t>
            </a:r>
            <a:endParaRPr 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1122" y="1228397"/>
            <a:ext cx="11633114" cy="5324535"/>
          </a:xfrm>
          <a:prstGeom prst="rect">
            <a:avLst/>
          </a:prstGeom>
          <a:noFill/>
        </p:spPr>
        <p:txBody>
          <a:bodyPr wrap="square">
            <a:spAutoFit/>
          </a:bodyPr>
          <a:lstStyle/>
          <a:p>
            <a:pPr lvl="1"/>
            <a:r>
              <a:rPr lang="en-US" sz="2000" b="1" i="0" u="sng" dirty="0">
                <a:solidFill>
                  <a:srgbClr val="7030A0"/>
                </a:solidFill>
                <a:effectLst/>
                <a:latin typeface="Times New Roman" panose="02020603050405020304" charset="0"/>
                <a:cs typeface="Times New Roman" panose="02020603050405020304" charset="0"/>
              </a:rPr>
              <a:t>AI/ML Stack</a:t>
            </a:r>
          </a:p>
          <a:p>
            <a:pPr lvl="1"/>
            <a:r>
              <a:rPr lang="en-US" sz="2000" b="1" i="0" dirty="0">
                <a:solidFill>
                  <a:schemeClr val="tx1"/>
                </a:solidFill>
                <a:effectLst/>
                <a:latin typeface="Times New Roman" panose="02020603050405020304" charset="0"/>
                <a:cs typeface="Times New Roman" panose="02020603050405020304" charset="0"/>
              </a:rPr>
              <a:t>Python:</a:t>
            </a:r>
          </a:p>
          <a:p>
            <a:pPr marL="342900" lvl="7"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rPr>
              <a:t>Main programming language used for AI development</a:t>
            </a:r>
            <a:endParaRPr lang="en-IN" sz="2000" b="1" dirty="0">
              <a:solidFill>
                <a:schemeClr val="tx1"/>
              </a:solidFill>
              <a:latin typeface="Times New Roman" panose="02020603050405020304" charset="0"/>
              <a:cs typeface="Times New Roman" panose="02020603050405020304" charset="0"/>
            </a:endParaRPr>
          </a:p>
          <a:p>
            <a:pPr marL="342900" lvl="1" indent="-342900">
              <a:buFont typeface="Arial" panose="020B0604020202020204" pitchFamily="34" charset="0"/>
              <a:buChar char="•"/>
            </a:pPr>
            <a:r>
              <a:rPr lang="en-US" sz="2000" b="0" i="0" dirty="0">
                <a:solidFill>
                  <a:schemeClr val="tx1"/>
                </a:solidFill>
                <a:effectLst/>
                <a:latin typeface="Times New Roman" panose="02020603050405020304" charset="0"/>
                <a:cs typeface="Times New Roman" panose="02020603050405020304" charset="0"/>
              </a:rPr>
              <a:t>Easy integration with ML libraries</a:t>
            </a:r>
            <a:endParaRPr lang="en-US" sz="2000" dirty="0">
              <a:solidFill>
                <a:schemeClr val="tx1"/>
              </a:solidFill>
              <a:latin typeface="Times New Roman" panose="02020603050405020304" charset="0"/>
              <a:cs typeface="Times New Roman" panose="02020603050405020304" charset="0"/>
            </a:endParaRPr>
          </a:p>
          <a:p>
            <a:pPr lvl="1"/>
            <a:r>
              <a:rPr lang="en-US" sz="2000" b="1" i="0" dirty="0" err="1">
                <a:solidFill>
                  <a:schemeClr val="tx1"/>
                </a:solidFill>
                <a:effectLst/>
                <a:latin typeface="Times New Roman" panose="02020603050405020304" charset="0"/>
                <a:cs typeface="Times New Roman" panose="02020603050405020304" charset="0"/>
              </a:rPr>
              <a:t>PyTorch</a:t>
            </a:r>
            <a:r>
              <a:rPr lang="en-US" sz="2000" b="1" i="0" dirty="0">
                <a:solidFill>
                  <a:schemeClr val="tx1"/>
                </a:solidFill>
                <a:effectLst/>
                <a:latin typeface="Times New Roman" panose="02020603050405020304" charset="0"/>
                <a:cs typeface="Times New Roman" panose="02020603050405020304" charset="0"/>
              </a:rPr>
              <a:t> / TensorFlow:</a:t>
            </a:r>
          </a:p>
          <a:p>
            <a:pPr marL="342900" lvl="3" indent="-342900">
              <a:buFont typeface="Arial" panose="020B0604020202020204" pitchFamily="34" charset="0"/>
              <a:buChar char="•"/>
            </a:pPr>
            <a:r>
              <a:rPr lang="en-US" sz="2000" i="0" dirty="0">
                <a:solidFill>
                  <a:schemeClr val="tx1"/>
                </a:solidFill>
                <a:effectLst/>
                <a:latin typeface="Times New Roman" panose="02020603050405020304" charset="0"/>
                <a:cs typeface="Times New Roman" panose="02020603050405020304" charset="0"/>
              </a:rPr>
              <a:t>Frameworks used to build, train, and test deep learning models</a:t>
            </a:r>
          </a:p>
          <a:p>
            <a:pPr marL="342900" lvl="3"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rPr>
              <a:t>Provide GPU support for faster computation</a:t>
            </a:r>
          </a:p>
          <a:p>
            <a:pPr lvl="3"/>
            <a:r>
              <a:rPr lang="en-US" sz="2000" b="1" i="0" dirty="0">
                <a:solidFill>
                  <a:schemeClr val="tx1"/>
                </a:solidFill>
                <a:effectLst/>
                <a:latin typeface="Times New Roman" panose="02020603050405020304" charset="0"/>
                <a:cs typeface="Times New Roman" panose="02020603050405020304" charset="0"/>
              </a:rPr>
              <a:t>Effi</a:t>
            </a:r>
            <a:r>
              <a:rPr lang="en-US" sz="2000" b="1" dirty="0">
                <a:solidFill>
                  <a:schemeClr val="tx1"/>
                </a:solidFill>
                <a:latin typeface="Times New Roman" panose="02020603050405020304" charset="0"/>
                <a:cs typeface="Times New Roman" panose="02020603050405020304" charset="0"/>
              </a:rPr>
              <a:t>cientNetV2 </a:t>
            </a:r>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(local details):</a:t>
            </a:r>
          </a:p>
          <a:p>
            <a:pPr marL="342900" lvl="3"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Used for image classification</a:t>
            </a:r>
          </a:p>
          <a:p>
            <a:pPr marL="342900" lvl="3"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Detects fake images by analyzing</a:t>
            </a:r>
          </a:p>
          <a:p>
            <a:pPr lvl="4"/>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Facial inconsistencies</a:t>
            </a:r>
          </a:p>
          <a:p>
            <a:pPr lvl="4"/>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Texture and pixel-level artifacts </a:t>
            </a:r>
          </a:p>
          <a:p>
            <a:pPr lvl="1"/>
            <a:r>
              <a:rPr lang="en-US" sz="2000" b="1" i="0" dirty="0">
                <a:solidFill>
                  <a:schemeClr val="tx1"/>
                </a:solidFill>
                <a:effectLst/>
                <a:latin typeface="Times New Roman" panose="02020603050405020304" charset="0"/>
                <a:cs typeface="Times New Roman" panose="02020603050405020304" charset="0"/>
              </a:rPr>
              <a:t>MTCNN ( Multi-task Cascaded Convolutional Network):</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Used for face detection</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Extracts faces from images/videos</a:t>
            </a:r>
          </a:p>
          <a:p>
            <a:pPr lvl="4"/>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3"/>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a:t>
            </a:r>
            <a:endParaRPr lang="en-US" sz="2000" dirty="0">
              <a:solidFill>
                <a:schemeClr val="tx1"/>
              </a:solidFill>
              <a:latin typeface="Times New Roman" panose="02020603050405020304" charset="0"/>
              <a:cs typeface="Times New Roman" panose="02020603050405020304" charset="0"/>
            </a:endParaRPr>
          </a:p>
        </p:txBody>
      </p:sp>
      <p:sp>
        <p:nvSpPr>
          <p:cNvPr id="4" name="TextBox 3"/>
          <p:cNvSpPr txBox="1"/>
          <p:nvPr/>
        </p:nvSpPr>
        <p:spPr>
          <a:xfrm>
            <a:off x="1016000" y="444500"/>
            <a:ext cx="5234125" cy="584775"/>
          </a:xfrm>
          <a:prstGeom prst="rect">
            <a:avLst/>
          </a:prstGeom>
          <a:noFill/>
        </p:spPr>
        <p:txBody>
          <a:bodyPr wrap="none" rtlCol="0">
            <a:spAutoFit/>
          </a:bodyPr>
          <a:lstStyle/>
          <a:p>
            <a:r>
              <a:rPr lang="en-IN" sz="3200" b="1" dirty="0">
                <a:latin typeface="Times New Roman" panose="02020603050405020304" charset="0"/>
                <a:cs typeface="Times New Roman" panose="02020603050405020304" charset="0"/>
              </a:rPr>
              <a:t>Tool &amp; Technology Selection</a:t>
            </a:r>
            <a:endParaRPr lang="en-US" sz="3200" b="1" dirty="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1122" y="1029275"/>
            <a:ext cx="11051844" cy="6217087"/>
          </a:xfrm>
          <a:prstGeom prst="rect">
            <a:avLst/>
          </a:prstGeom>
          <a:noFill/>
        </p:spPr>
        <p:txBody>
          <a:bodyPr wrap="square">
            <a:spAutoFit/>
          </a:bodyPr>
          <a:lstStyle/>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Wav2Vec:</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Processes raw audio signals</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Extracts deep audio features</a:t>
            </a:r>
          </a:p>
          <a:p>
            <a:pPr marL="342900" lvl="1" indent="-342900">
              <a:buFont typeface="Arial" panose="020B0604020202020204" pitchFamily="34" charset="0"/>
              <a:buChar char="•"/>
            </a:pPr>
            <a:r>
              <a:rPr lang="en-US" sz="1800" dirty="0">
                <a:latin typeface="Times New Roman" panose="02020603050405020304" charset="0"/>
                <a:ea typeface="Tahoma" panose="020B0604030504040204" pitchFamily="34" charset="0"/>
                <a:cs typeface="Times New Roman" panose="02020603050405020304" charset="0"/>
              </a:rPr>
              <a:t>Helps detect AI-generated or cloned voices</a:t>
            </a:r>
            <a:endParaRPr lang="en-US" sz="1800" dirty="0">
              <a:solidFill>
                <a:schemeClr val="tx1"/>
              </a:solidFill>
              <a:latin typeface="Times New Roman" panose="02020603050405020304" charset="0"/>
              <a:ea typeface="Tahoma" panose="020B0604030504040204" pitchFamily="34" charset="0"/>
              <a:cs typeface="Times New Roman" panose="02020603050405020304" charset="0"/>
              <a:sym typeface="Wingdings" panose="05000000000000000000" pitchFamily="2" charset="2"/>
            </a:endParaRPr>
          </a:p>
          <a:p>
            <a:pPr lvl="1"/>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b="1" u="sng" dirty="0">
                <a:solidFill>
                  <a:srgbClr val="7030A0"/>
                </a:solidFill>
                <a:latin typeface="Times New Roman" panose="02020603050405020304" charset="0"/>
                <a:cs typeface="Times New Roman" panose="02020603050405020304" charset="0"/>
                <a:sym typeface="Wingdings" panose="05000000000000000000" pitchFamily="2" charset="2"/>
              </a:rPr>
              <a:t>Full-stack Development:</a:t>
            </a:r>
          </a:p>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React + tailwind CSS:</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Builds user interface</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Provides responsive and clean design</a:t>
            </a:r>
          </a:p>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Flask:</a:t>
            </a: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Backend framework</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For API requests</a:t>
            </a: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Model execution</a:t>
            </a: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Communication between frontend and AI</a:t>
            </a:r>
          </a:p>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MongoDB:</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NoSQL database</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Stores: User uploads, Detection Results, logs</a:t>
            </a:r>
          </a:p>
          <a:p>
            <a:pPr lvl="1"/>
            <a:endParaRPr lang="en-US" sz="2000" b="1"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a:t>
            </a: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a:t>
            </a:r>
            <a:endParaRPr lang="en-US" sz="2000" dirty="0">
              <a:solidFill>
                <a:schemeClr val="tx1"/>
              </a:solidFill>
              <a:latin typeface="Times New Roman" panose="02020603050405020304" charset="0"/>
              <a:cs typeface="Times New Roman" panose="02020603050405020304" charset="0"/>
            </a:endParaRPr>
          </a:p>
        </p:txBody>
      </p:sp>
      <p:sp>
        <p:nvSpPr>
          <p:cNvPr id="4" name="TextBox 3"/>
          <p:cNvSpPr txBox="1"/>
          <p:nvPr/>
        </p:nvSpPr>
        <p:spPr>
          <a:xfrm>
            <a:off x="1016000" y="444500"/>
            <a:ext cx="5234125" cy="584775"/>
          </a:xfrm>
          <a:prstGeom prst="rect">
            <a:avLst/>
          </a:prstGeom>
          <a:noFill/>
        </p:spPr>
        <p:txBody>
          <a:bodyPr wrap="none" rtlCol="0">
            <a:spAutoFit/>
          </a:bodyPr>
          <a:lstStyle/>
          <a:p>
            <a:r>
              <a:rPr lang="en-IN" sz="3200" b="1" dirty="0">
                <a:latin typeface="Times New Roman" panose="02020603050405020304" charset="0"/>
                <a:cs typeface="Times New Roman" panose="02020603050405020304" charset="0"/>
              </a:rPr>
              <a:t>Tool &amp; Technology Selection</a:t>
            </a:r>
            <a:endParaRPr lang="en-US" sz="3200" b="1" dirty="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09015" y="448457"/>
            <a:ext cx="3514090" cy="452755"/>
          </a:xfrm>
          <a:prstGeom prst="rect">
            <a:avLst/>
          </a:prstGeom>
          <a:noFill/>
        </p:spPr>
        <p:txBody>
          <a:bodyPr wrap="square" rtlCol="0">
            <a:noAutofit/>
          </a:bodyPr>
          <a:lstStyle/>
          <a:p>
            <a:r>
              <a:rPr lang="en-US" sz="3200" b="1" dirty="0">
                <a:latin typeface="Times New Roman" panose="02020603050405020304" charset="0"/>
                <a:cs typeface="Times New Roman" panose="02020603050405020304" charset="0"/>
              </a:rPr>
              <a:t>Project Planning</a:t>
            </a:r>
          </a:p>
        </p:txBody>
      </p:sp>
      <p:sp>
        <p:nvSpPr>
          <p:cNvPr id="2" name="TextBox 1"/>
          <p:cNvSpPr txBox="1"/>
          <p:nvPr/>
        </p:nvSpPr>
        <p:spPr>
          <a:xfrm>
            <a:off x="1009015" y="1024304"/>
            <a:ext cx="4793908" cy="5755422"/>
          </a:xfrm>
          <a:prstGeom prst="rect">
            <a:avLst/>
          </a:prstGeom>
          <a:noFill/>
        </p:spPr>
        <p:txBody>
          <a:bodyPr wrap="square" rtlCol="0">
            <a:spAutoFit/>
          </a:bodyPr>
          <a:lstStyle/>
          <a:p>
            <a:pPr algn="just"/>
            <a:r>
              <a:rPr lang="en-IN" sz="1600" b="1" dirty="0">
                <a:solidFill>
                  <a:schemeClr val="tx1"/>
                </a:solidFill>
                <a:latin typeface="Times New Roman" panose="02020603050405020304" charset="0"/>
                <a:cs typeface="Times New Roman" panose="02020603050405020304" charset="0"/>
              </a:rPr>
              <a:t>Workflow:</a:t>
            </a:r>
            <a:endParaRPr lang="en-IN" sz="1600" dirty="0">
              <a:solidFill>
                <a:schemeClr val="tx1"/>
              </a:solidFill>
              <a:latin typeface="Times New Roman" panose="02020603050405020304" charset="0"/>
              <a:cs typeface="Times New Roman" panose="02020603050405020304" charset="0"/>
            </a:endParaRPr>
          </a:p>
          <a:p>
            <a:pPr algn="just"/>
            <a:r>
              <a:rPr lang="en-IN" sz="1600" b="1" i="0" dirty="0">
                <a:solidFill>
                  <a:schemeClr val="tx1"/>
                </a:solidFill>
                <a:effectLst/>
                <a:latin typeface="Times New Roman" panose="02020603050405020304" charset="0"/>
                <a:cs typeface="Times New Roman" panose="02020603050405020304" charset="0"/>
              </a:rPr>
              <a:t>Step 1: Problem Identification</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Identify issue of increasing deepfake misuse</a:t>
            </a:r>
          </a:p>
          <a:p>
            <a:pPr marL="285750" indent="-285750">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Define need for multi-modal detection</a:t>
            </a:r>
          </a:p>
          <a:p>
            <a:pPr algn="just"/>
            <a:r>
              <a:rPr lang="en-IN" sz="1600" b="1" i="0" dirty="0">
                <a:solidFill>
                  <a:schemeClr val="tx1"/>
                </a:solidFill>
                <a:effectLst/>
                <a:latin typeface="Times New Roman" panose="02020603050405020304" charset="0"/>
                <a:cs typeface="Times New Roman" panose="02020603050405020304" charset="0"/>
              </a:rPr>
              <a:t>Step 2</a:t>
            </a:r>
            <a:r>
              <a:rPr lang="en-IN" sz="1600" b="0" i="0" dirty="0">
                <a:solidFill>
                  <a:schemeClr val="tx1"/>
                </a:solidFill>
                <a:effectLst/>
                <a:latin typeface="Times New Roman" panose="02020603050405020304" charset="0"/>
                <a:cs typeface="Times New Roman" panose="02020603050405020304" charset="0"/>
              </a:rPr>
              <a:t>: </a:t>
            </a:r>
            <a:r>
              <a:rPr lang="en-IN" sz="1600" b="1" i="0" dirty="0">
                <a:solidFill>
                  <a:schemeClr val="tx1"/>
                </a:solidFill>
                <a:effectLst/>
                <a:latin typeface="Times New Roman" panose="02020603050405020304" charset="0"/>
                <a:cs typeface="Times New Roman" panose="02020603050405020304" charset="0"/>
              </a:rPr>
              <a:t>Literature Survey</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Study existing models (CNN, RNN, </a:t>
            </a:r>
            <a:r>
              <a:rPr lang="en-IN" sz="1600" b="0" i="0" dirty="0" err="1">
                <a:solidFill>
                  <a:schemeClr val="tx1"/>
                </a:solidFill>
                <a:effectLst/>
                <a:latin typeface="Times New Roman" panose="02020603050405020304" charset="0"/>
                <a:cs typeface="Times New Roman" panose="02020603050405020304" charset="0"/>
              </a:rPr>
              <a:t>ViT</a:t>
            </a:r>
            <a:r>
              <a:rPr lang="en-IN" sz="1600" b="0" i="0" dirty="0">
                <a:solidFill>
                  <a:schemeClr val="tx1"/>
                </a:solidFill>
                <a:effectLst/>
                <a:latin typeface="Times New Roman" panose="02020603050405020304" charset="0"/>
                <a:cs typeface="Times New Roman" panose="02020603050405020304" charset="0"/>
              </a:rPr>
              <a:t>)</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Analyse limitations of single-modality systems</a:t>
            </a:r>
          </a:p>
          <a:p>
            <a:pPr algn="just"/>
            <a:r>
              <a:rPr lang="en-IN" sz="1600" b="1" i="0" dirty="0">
                <a:solidFill>
                  <a:schemeClr val="tx1"/>
                </a:solidFill>
                <a:effectLst/>
                <a:latin typeface="Times New Roman" panose="02020603050405020304" charset="0"/>
                <a:cs typeface="Times New Roman" panose="02020603050405020304" charset="0"/>
              </a:rPr>
              <a:t>Step 3: Problem Statement &amp; Objectives</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Define system goals</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Multi-modal detection for image, video, audio</a:t>
            </a:r>
          </a:p>
          <a:p>
            <a:r>
              <a:rPr lang="en-IN" sz="1600" b="1" dirty="0">
                <a:latin typeface="Times New Roman" panose="02020603050405020304" charset="0"/>
                <a:cs typeface="Times New Roman" panose="02020603050405020304" charset="0"/>
              </a:rPr>
              <a:t>Step 4: System Requirements &amp; Packages ⭐</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Programming Language: Python </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Libraries: TensorFlow, </a:t>
            </a:r>
            <a:r>
              <a:rPr lang="en-IN" sz="1600" dirty="0" err="1">
                <a:latin typeface="Times New Roman" panose="02020603050405020304" charset="0"/>
                <a:cs typeface="Times New Roman" panose="02020603050405020304" charset="0"/>
              </a:rPr>
              <a:t>PyTorch</a:t>
            </a:r>
            <a:r>
              <a:rPr lang="en-IN" sz="1600" dirty="0">
                <a:latin typeface="Times New Roman" panose="02020603050405020304" charset="0"/>
                <a:cs typeface="Times New Roman" panose="02020603050405020304" charset="0"/>
              </a:rPr>
              <a:t>.</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Models: EfficientNetV2, MTCNN.</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Audio Tools: Wav2Vec.</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Frameworks: Flask , React </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Hardware: GPU (for faster training)</a:t>
            </a:r>
          </a:p>
          <a:p>
            <a:pPr algn="just"/>
            <a:r>
              <a:rPr lang="en-IN" sz="1600" b="1" i="0" dirty="0">
                <a:solidFill>
                  <a:schemeClr val="tx1"/>
                </a:solidFill>
                <a:effectLst/>
                <a:latin typeface="Times New Roman" panose="02020603050405020304" charset="0"/>
                <a:cs typeface="Times New Roman" panose="02020603050405020304" charset="0"/>
              </a:rPr>
              <a:t>Step 5: Dataset Identification &amp; Collection</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Select datasets (DFDC, Celeb-DF, </a:t>
            </a:r>
            <a:r>
              <a:rPr lang="en-IN" sz="1600" b="0" i="0" dirty="0" err="1">
                <a:solidFill>
                  <a:schemeClr val="tx1"/>
                </a:solidFill>
                <a:effectLst/>
                <a:latin typeface="Times New Roman" panose="02020603050405020304" charset="0"/>
                <a:cs typeface="Times New Roman" panose="02020603050405020304" charset="0"/>
              </a:rPr>
              <a:t>ASVspoof</a:t>
            </a:r>
            <a:r>
              <a:rPr lang="en-IN" sz="1600" b="0" i="0" dirty="0">
                <a:solidFill>
                  <a:schemeClr val="tx1"/>
                </a:solidFill>
                <a:effectLst/>
                <a:latin typeface="Times New Roman" panose="02020603050405020304" charset="0"/>
                <a:cs typeface="Times New Roman" panose="02020603050405020304" charset="0"/>
              </a:rPr>
              <a:t>)</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Gather real and fake samples</a:t>
            </a:r>
          </a:p>
          <a:p>
            <a:pPr algn="just">
              <a:buFont typeface="Arial" panose="020B0604020202020204" pitchFamily="34" charset="0"/>
              <a:buChar char="•"/>
            </a:pPr>
            <a:endParaRPr lang="en-IN" sz="1600" dirty="0">
              <a:solidFill>
                <a:schemeClr val="tx1"/>
              </a:solidFill>
              <a:latin typeface="Times New Roman" panose="02020603050405020304" charset="0"/>
              <a:cs typeface="Times New Roman" panose="02020603050405020304" charset="0"/>
            </a:endParaRPr>
          </a:p>
          <a:p>
            <a:pPr algn="just"/>
            <a:endParaRPr lang="en-IN" sz="1600" dirty="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endParaRPr lang="en-IN" sz="1600" dirty="0">
              <a:solidFill>
                <a:schemeClr val="tx1"/>
              </a:solidFill>
              <a:latin typeface="Times New Roman" panose="02020603050405020304" charset="0"/>
              <a:cs typeface="Times New Roman" panose="02020603050405020304" charset="0"/>
            </a:endParaRPr>
          </a:p>
        </p:txBody>
      </p:sp>
      <p:sp>
        <p:nvSpPr>
          <p:cNvPr id="9" name="TextBox 8"/>
          <p:cNvSpPr txBox="1"/>
          <p:nvPr/>
        </p:nvSpPr>
        <p:spPr>
          <a:xfrm>
            <a:off x="6180992" y="1318846"/>
            <a:ext cx="5495193" cy="4493538"/>
          </a:xfrm>
          <a:prstGeom prst="rect">
            <a:avLst/>
          </a:prstGeom>
          <a:noFill/>
        </p:spPr>
        <p:txBody>
          <a:bodyPr wrap="square" rtlCol="0">
            <a:spAutoFit/>
          </a:bodyPr>
          <a:lstStyle/>
          <a:p>
            <a:pPr algn="just"/>
            <a:r>
              <a:rPr lang="en-IN" sz="1600" b="1" i="0" dirty="0">
                <a:solidFill>
                  <a:schemeClr val="tx1"/>
                </a:solidFill>
                <a:effectLst/>
                <a:latin typeface="Times New Roman" panose="02020603050405020304" charset="0"/>
                <a:cs typeface="Times New Roman" panose="02020603050405020304" charset="0"/>
              </a:rPr>
              <a:t>Step 6: Data Preprocessing</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Face detection (MTCNN)</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Frame extraction (videos)</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Audio → spectrogram conversion</a:t>
            </a:r>
          </a:p>
          <a:p>
            <a:pPr algn="just"/>
            <a:r>
              <a:rPr lang="en-IN" sz="1600" b="1" i="0" dirty="0">
                <a:solidFill>
                  <a:schemeClr val="tx1"/>
                </a:solidFill>
                <a:effectLst/>
                <a:latin typeface="Times New Roman" panose="02020603050405020304" charset="0"/>
                <a:cs typeface="Times New Roman" panose="02020603050405020304" charset="0"/>
              </a:rPr>
              <a:t>Step 7: Model Development</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Image → EfficientNetV2</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Video → Temporal models</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Audio → Wav2Vec</a:t>
            </a:r>
          </a:p>
          <a:p>
            <a:pPr algn="just"/>
            <a:r>
              <a:rPr lang="en-IN" sz="1600" b="1" i="0" dirty="0">
                <a:solidFill>
                  <a:schemeClr val="tx1"/>
                </a:solidFill>
                <a:effectLst/>
                <a:latin typeface="Times New Roman" panose="02020603050405020304" charset="0"/>
                <a:cs typeface="Times New Roman" panose="02020603050405020304" charset="0"/>
              </a:rPr>
              <a:t>Step 8: Model Integration</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Combine outputs from all modalities</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Apply fusion technique</a:t>
            </a:r>
          </a:p>
          <a:p>
            <a:pPr algn="just"/>
            <a:r>
              <a:rPr lang="en-IN" sz="1600" b="1" i="0" dirty="0">
                <a:solidFill>
                  <a:schemeClr val="tx1"/>
                </a:solidFill>
                <a:effectLst/>
                <a:latin typeface="Times New Roman" panose="02020603050405020304" charset="0"/>
                <a:cs typeface="Times New Roman" panose="02020603050405020304" charset="0"/>
              </a:rPr>
              <a:t>Step 9: Testing &amp; Evaluation</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Evaluate accuracy</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Compare real vs fake predictions</a:t>
            </a:r>
          </a:p>
          <a:p>
            <a:pPr algn="just"/>
            <a:r>
              <a:rPr lang="en-IN" sz="1600" b="1" i="0" dirty="0">
                <a:solidFill>
                  <a:schemeClr val="tx1"/>
                </a:solidFill>
                <a:effectLst/>
                <a:latin typeface="Times New Roman" panose="02020603050405020304" charset="0"/>
                <a:cs typeface="Times New Roman" panose="02020603050405020304" charset="0"/>
              </a:rPr>
              <a:t>Step 10: Final Deployment</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User uploads media</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System outputs result (Real/Fake)</a:t>
            </a: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144482" y="400879"/>
            <a:ext cx="6136852" cy="869121"/>
          </a:xfrm>
          <a:prstGeom prst="rect">
            <a:avLst/>
          </a:prstGeom>
          <a:noFill/>
        </p:spPr>
        <p:txBody>
          <a:bodyPr wrap="square" rtlCol="0">
            <a:noAutofit/>
          </a:bodyPr>
          <a:lstStyle/>
          <a:p>
            <a:pPr marL="0" lvl="0" indent="0" algn="l" rtl="0">
              <a:spcBef>
                <a:spcPts val="0"/>
              </a:spcBef>
              <a:spcAft>
                <a:spcPts val="0"/>
              </a:spcAft>
              <a:buNone/>
            </a:pPr>
            <a:r>
              <a:rPr 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IMPLEMENTATION PROCESS</a:t>
            </a:r>
          </a:p>
          <a:p>
            <a:pPr marL="0" lvl="0" indent="0" algn="l" rtl="0">
              <a:spcBef>
                <a:spcPts val="0"/>
              </a:spcBef>
              <a:spcAft>
                <a:spcPts val="0"/>
              </a:spcAft>
              <a:buNone/>
            </a:pPr>
            <a:r>
              <a:rPr 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p>
          <a:p>
            <a:pPr marL="0" lvl="0" indent="0" algn="l" rtl="0">
              <a:spcBef>
                <a:spcPts val="0"/>
              </a:spcBef>
              <a:spcAft>
                <a:spcPts val="0"/>
              </a:spcAft>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PYTHON                                                       PYTORCH                                                                 </a:t>
            </a:r>
            <a:endPar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p:cNvPicPr>
            <a:picLocks noChangeAspect="1"/>
          </p:cNvPicPr>
          <p:nvPr/>
        </p:nvPicPr>
        <p:blipFill>
          <a:blip r:embed="rId2"/>
          <a:stretch>
            <a:fillRect/>
          </a:stretch>
        </p:blipFill>
        <p:spPr>
          <a:xfrm>
            <a:off x="1144482" y="1896081"/>
            <a:ext cx="3757908" cy="3603659"/>
          </a:xfrm>
          <a:prstGeom prst="rect">
            <a:avLst/>
          </a:prstGeom>
        </p:spPr>
      </p:pic>
      <p:pic>
        <p:nvPicPr>
          <p:cNvPr id="6" name="Picture 5"/>
          <p:cNvPicPr>
            <a:picLocks noChangeAspect="1"/>
          </p:cNvPicPr>
          <p:nvPr/>
        </p:nvPicPr>
        <p:blipFill>
          <a:blip r:embed="rId3"/>
          <a:stretch>
            <a:fillRect/>
          </a:stretch>
        </p:blipFill>
        <p:spPr>
          <a:xfrm>
            <a:off x="5890313" y="1896081"/>
            <a:ext cx="3672213" cy="36036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1515" y="324465"/>
            <a:ext cx="9232490" cy="2462213"/>
          </a:xfrm>
          <a:prstGeom prst="rect">
            <a:avLst/>
          </a:prstGeom>
          <a:noFill/>
        </p:spPr>
        <p:txBody>
          <a:bodyPr wrap="square" rtlCol="0">
            <a:spAutoFit/>
          </a:bodyPr>
          <a:lstStyle/>
          <a:p>
            <a:pPr marL="0" lvl="0" indent="0" algn="l" rtl="0">
              <a:spcBef>
                <a:spcPts val="0"/>
              </a:spcBef>
              <a:spcAft>
                <a:spcPts val="0"/>
              </a:spcAft>
              <a:buNone/>
            </a:pPr>
            <a:r>
              <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IMPLEMENTATION PROCESS</a:t>
            </a:r>
          </a:p>
          <a:p>
            <a:pPr marL="0" lvl="0" indent="0" algn="l" rtl="0">
              <a:spcBef>
                <a:spcPts val="0"/>
              </a:spcBef>
              <a:spcAft>
                <a:spcPts val="0"/>
              </a:spcAft>
              <a:buNone/>
            </a:pPr>
            <a:endParaRPr lang="en-US" sz="1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sz="1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TENSORFLOW				 FLASK 				</a:t>
            </a:r>
            <a:endParaRPr lang="en-US" sz="1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TextBox 14"/>
          <p:cNvSpPr txBox="1"/>
          <p:nvPr/>
        </p:nvSpPr>
        <p:spPr>
          <a:xfrm>
            <a:off x="538349" y="4911494"/>
            <a:ext cx="9972333" cy="3542411"/>
          </a:xfrm>
          <a:prstGeom prst="rect">
            <a:avLst/>
          </a:prstGeom>
          <a:noFill/>
        </p:spPr>
        <p:txBody>
          <a:bodyPr wrap="square" rtlCol="0">
            <a:spAutoFit/>
          </a:bodyPr>
          <a:lstStyle/>
          <a:p>
            <a:endParaRPr lang="en-IN" dirty="0"/>
          </a:p>
        </p:txBody>
      </p:sp>
      <p:pic>
        <p:nvPicPr>
          <p:cNvPr id="5" name="Picture 4"/>
          <p:cNvPicPr>
            <a:picLocks noChangeAspect="1"/>
          </p:cNvPicPr>
          <p:nvPr/>
        </p:nvPicPr>
        <p:blipFill>
          <a:blip r:embed="rId2"/>
          <a:stretch>
            <a:fillRect/>
          </a:stretch>
        </p:blipFill>
        <p:spPr>
          <a:xfrm>
            <a:off x="921515" y="1873667"/>
            <a:ext cx="3530434" cy="3707694"/>
          </a:xfrm>
          <a:prstGeom prst="rect">
            <a:avLst/>
          </a:prstGeom>
        </p:spPr>
      </p:pic>
      <p:pic>
        <p:nvPicPr>
          <p:cNvPr id="7" name="Picture 6"/>
          <p:cNvPicPr>
            <a:picLocks noChangeAspect="1"/>
          </p:cNvPicPr>
          <p:nvPr/>
        </p:nvPicPr>
        <p:blipFill>
          <a:blip r:embed="rId3"/>
          <a:stretch>
            <a:fillRect/>
          </a:stretch>
        </p:blipFill>
        <p:spPr>
          <a:xfrm>
            <a:off x="5618179" y="1873667"/>
            <a:ext cx="3726273" cy="365712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33145" y="346075"/>
            <a:ext cx="5480685" cy="593725"/>
          </a:xfrm>
          <a:prstGeom prst="rect">
            <a:avLst/>
          </a:prstGeom>
          <a:noFill/>
        </p:spPr>
        <p:txBody>
          <a:bodyPr wrap="square" rtlCol="0">
            <a:noAutofit/>
          </a:bodyPr>
          <a:lstStyle/>
          <a:p>
            <a:r>
              <a:rPr lang="en-US" sz="2800" b="1" dirty="0">
                <a:latin typeface="Times New Roman" panose="02020603050405020304" charset="0"/>
                <a:cs typeface="Times New Roman" panose="02020603050405020304" charset="0"/>
                <a:sym typeface="+mn-ea"/>
              </a:rPr>
              <a:t>Data preprocessing </a:t>
            </a:r>
            <a:endParaRPr lang="en-US" sz="2800"/>
          </a:p>
        </p:txBody>
      </p:sp>
      <p:sp>
        <p:nvSpPr>
          <p:cNvPr id="5" name="Rectangle 2">
            <a:extLst>
              <a:ext uri="{FF2B5EF4-FFF2-40B4-BE49-F238E27FC236}">
                <a16:creationId xmlns:a16="http://schemas.microsoft.com/office/drawing/2014/main" id="{24803609-3052-FF8F-5C31-C4EF3E4D1AD3}"/>
              </a:ext>
            </a:extLst>
          </p:cNvPr>
          <p:cNvSpPr>
            <a:spLocks noChangeArrowheads="1"/>
          </p:cNvSpPr>
          <p:nvPr/>
        </p:nvSpPr>
        <p:spPr bwMode="auto">
          <a:xfrm>
            <a:off x="1033145" y="1234181"/>
            <a:ext cx="9595526"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Collected real and AI-generated image, video, and audio datasets from multiple sources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Removed duplicate, corrupted, blurred, and low-quality media files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Resized images and extracted facial regions using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MTCNN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face detection</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Extracted frames from videos at regular intervals for frame-level analysis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Detected and cropped faces from video frames to focus on manipulated regions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Cleaned audio using noise reduction and normalization techniques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audio signals into spectrograms for frequency pattern analysis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Labeled all samples as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Fake (AI-Generated)</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data augmentation techniques such as rotation, flipping, zooming, and brightness adjustment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Normalized extracted features for stable and efficient model training</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Split dataset into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80% training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 testing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for evaluation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975995" y="338455"/>
            <a:ext cx="5768975" cy="602615"/>
          </a:xfrm>
          <a:prstGeom prst="rect">
            <a:avLst/>
          </a:prstGeom>
          <a:noFill/>
        </p:spPr>
        <p:txBody>
          <a:bodyPr wrap="square" rtlCol="0">
            <a:noAutofit/>
          </a:bodyPr>
          <a:lstStyle/>
          <a:p>
            <a:r>
              <a:rPr lang="en-IN" sz="2800" b="1" dirty="0">
                <a:latin typeface="Times New Roman" panose="02020603050405020304" charset="0"/>
                <a:cs typeface="Times New Roman" panose="02020603050405020304" charset="0"/>
                <a:sym typeface="+mn-ea"/>
              </a:rPr>
              <a:t>FEATURE ENGINEERING</a:t>
            </a:r>
            <a:endParaRPr lang="en-US" sz="2800" b="1" dirty="0"/>
          </a:p>
        </p:txBody>
      </p:sp>
      <p:sp>
        <p:nvSpPr>
          <p:cNvPr id="6" name="Text Box 5"/>
          <p:cNvSpPr txBox="1"/>
          <p:nvPr/>
        </p:nvSpPr>
        <p:spPr>
          <a:xfrm>
            <a:off x="975995" y="1040540"/>
            <a:ext cx="9351010" cy="4979670"/>
          </a:xfrm>
          <a:prstGeom prst="rect">
            <a:avLst/>
          </a:prstGeom>
          <a:noFill/>
        </p:spPr>
        <p:txBody>
          <a:bodyPr wrap="square" rtlCol="0">
            <a:noAutofit/>
          </a:bodyPr>
          <a:lstStyle/>
          <a:p>
            <a:r>
              <a:rPr lang="en-US" sz="1600" b="1" dirty="0"/>
              <a:t>Image Features (MTCNN + EfficientNetV2)</a:t>
            </a:r>
          </a:p>
          <a:p>
            <a:pPr>
              <a:buFont typeface="Arial" panose="020B0604020202020204" pitchFamily="34" charset="0"/>
              <a:buChar char="•"/>
            </a:pPr>
            <a:r>
              <a:rPr lang="en-US" sz="1600" dirty="0"/>
              <a:t>Faces extracted from images using </a:t>
            </a:r>
            <a:r>
              <a:rPr lang="en-US" sz="1600" b="1" dirty="0"/>
              <a:t>MTCNN</a:t>
            </a:r>
            <a:r>
              <a:rPr lang="en-US" sz="1600" dirty="0"/>
              <a:t> face detection </a:t>
            </a:r>
          </a:p>
          <a:p>
            <a:pPr>
              <a:buFont typeface="Arial" panose="020B0604020202020204" pitchFamily="34" charset="0"/>
              <a:buChar char="•"/>
            </a:pPr>
            <a:r>
              <a:rPr lang="en-US" sz="1600" dirty="0"/>
              <a:t>Images resized and normalized before feature extraction </a:t>
            </a:r>
          </a:p>
          <a:p>
            <a:pPr>
              <a:buFont typeface="Arial" panose="020B0604020202020204" pitchFamily="34" charset="0"/>
              <a:buChar char="•"/>
            </a:pPr>
            <a:r>
              <a:rPr lang="en-US" sz="1600" dirty="0"/>
              <a:t>EfficientNetV2 used to learn deep visual patterns from facial regions </a:t>
            </a:r>
          </a:p>
          <a:p>
            <a:pPr>
              <a:buFont typeface="Arial" panose="020B0604020202020204" pitchFamily="34" charset="0"/>
              <a:buChar char="•"/>
            </a:pPr>
            <a:r>
              <a:rPr lang="en-US" sz="1600" dirty="0"/>
              <a:t>Detects inconsistencies such as: </a:t>
            </a:r>
          </a:p>
          <a:p>
            <a:pPr marL="742950" lvl="1" indent="-285750">
              <a:buFont typeface="Arial" panose="020B0604020202020204" pitchFamily="34" charset="0"/>
              <a:buChar char="•"/>
            </a:pPr>
            <a:r>
              <a:rPr lang="en-US" sz="1600" dirty="0"/>
              <a:t>Blurred facial boundaries </a:t>
            </a:r>
          </a:p>
          <a:p>
            <a:pPr marL="742950" lvl="1" indent="-285750">
              <a:buFont typeface="Arial" panose="020B0604020202020204" pitchFamily="34" charset="0"/>
              <a:buChar char="•"/>
            </a:pPr>
            <a:r>
              <a:rPr lang="en-US" sz="1600" dirty="0"/>
              <a:t>Artificial skin textures </a:t>
            </a:r>
          </a:p>
          <a:p>
            <a:pPr marL="742950" lvl="1" indent="-285750">
              <a:buFont typeface="Arial" panose="020B0604020202020204" pitchFamily="34" charset="0"/>
              <a:buChar char="•"/>
            </a:pPr>
            <a:r>
              <a:rPr lang="en-US" sz="1600" dirty="0"/>
              <a:t>Lighting mismatches </a:t>
            </a:r>
          </a:p>
          <a:p>
            <a:pPr marL="742950" lvl="1" indent="-285750">
              <a:buFont typeface="Arial" panose="020B0604020202020204" pitchFamily="34" charset="0"/>
              <a:buChar char="•"/>
            </a:pPr>
            <a:r>
              <a:rPr lang="en-US" sz="1600" dirty="0"/>
              <a:t>GAN-generated artifacts </a:t>
            </a:r>
          </a:p>
          <a:p>
            <a:pPr>
              <a:buFont typeface="Arial" panose="020B0604020202020204" pitchFamily="34" charset="0"/>
              <a:buChar char="•"/>
            </a:pPr>
            <a:r>
              <a:rPr lang="en-US" sz="1600" dirty="0"/>
              <a:t>High-level spatial features extracted for Real vs Fake classification</a:t>
            </a:r>
          </a:p>
          <a:p>
            <a:pPr>
              <a:buFont typeface="Arial" panose="020B0604020202020204" pitchFamily="34" charset="0"/>
              <a:buChar char="•"/>
            </a:pPr>
            <a:endParaRPr lang="en-US" sz="1600" dirty="0"/>
          </a:p>
          <a:p>
            <a:r>
              <a:rPr lang="en-IN" sz="1600" b="1" dirty="0"/>
              <a:t>Video Features (OpenCV + Frame Analysis)</a:t>
            </a:r>
          </a:p>
          <a:p>
            <a:pPr>
              <a:buFont typeface="Arial" panose="020B0604020202020204" pitchFamily="34" charset="0"/>
              <a:buChar char="•"/>
            </a:pPr>
            <a:r>
              <a:rPr lang="en-IN" sz="1600" dirty="0"/>
              <a:t>Videos divided into multiple frames using </a:t>
            </a:r>
            <a:r>
              <a:rPr lang="en-IN" sz="1600" b="1" dirty="0"/>
              <a:t>OpenCV</a:t>
            </a:r>
            <a:r>
              <a:rPr lang="en-IN" sz="1600" dirty="0"/>
              <a:t> </a:t>
            </a:r>
          </a:p>
          <a:p>
            <a:pPr>
              <a:buFont typeface="Arial" panose="020B0604020202020204" pitchFamily="34" charset="0"/>
              <a:buChar char="•"/>
            </a:pPr>
            <a:r>
              <a:rPr lang="en-IN" sz="1600" dirty="0"/>
              <a:t>Face detection applied on each frame for frame-level analysis </a:t>
            </a:r>
          </a:p>
          <a:p>
            <a:pPr>
              <a:buFont typeface="Arial" panose="020B0604020202020204" pitchFamily="34" charset="0"/>
              <a:buChar char="•"/>
            </a:pPr>
            <a:r>
              <a:rPr lang="en-IN" sz="1600" dirty="0"/>
              <a:t>Extracted temporal and spatial inconsistencies across frames </a:t>
            </a:r>
          </a:p>
          <a:p>
            <a:pPr>
              <a:buFont typeface="Arial" panose="020B0604020202020204" pitchFamily="34" charset="0"/>
              <a:buChar char="•"/>
            </a:pPr>
            <a:r>
              <a:rPr lang="en-IN" sz="1600" dirty="0"/>
              <a:t>Features </a:t>
            </a:r>
            <a:r>
              <a:rPr lang="en-IN" sz="1600" dirty="0" err="1"/>
              <a:t>analyzed</a:t>
            </a:r>
            <a:r>
              <a:rPr lang="en-IN" sz="1600" dirty="0"/>
              <a:t> include: </a:t>
            </a:r>
          </a:p>
          <a:p>
            <a:pPr marL="742950" lvl="1" indent="-285750">
              <a:buFont typeface="Arial" panose="020B0604020202020204" pitchFamily="34" charset="0"/>
              <a:buChar char="•"/>
            </a:pPr>
            <a:r>
              <a:rPr lang="en-IN" sz="1600" dirty="0"/>
              <a:t>Facial motion irregularities </a:t>
            </a:r>
          </a:p>
          <a:p>
            <a:pPr marL="742950" lvl="1" indent="-285750">
              <a:buFont typeface="Arial" panose="020B0604020202020204" pitchFamily="34" charset="0"/>
              <a:buChar char="•"/>
            </a:pPr>
            <a:r>
              <a:rPr lang="en-IN" sz="1600" dirty="0"/>
              <a:t>Frame texture inconsistencies </a:t>
            </a:r>
          </a:p>
          <a:p>
            <a:pPr marL="742950" lvl="1" indent="-285750">
              <a:buFont typeface="Arial" panose="020B0604020202020204" pitchFamily="34" charset="0"/>
              <a:buChar char="•"/>
            </a:pPr>
            <a:r>
              <a:rPr lang="en-IN" sz="1600" dirty="0"/>
              <a:t>Flickering artifacts </a:t>
            </a:r>
          </a:p>
          <a:p>
            <a:pPr marL="742950" lvl="1" indent="-285750">
              <a:buFont typeface="Arial" panose="020B0604020202020204" pitchFamily="34" charset="0"/>
              <a:buChar char="•"/>
            </a:pPr>
            <a:r>
              <a:rPr lang="en-IN" sz="1600" dirty="0"/>
              <a:t>Abnormal eye blinking patterns </a:t>
            </a:r>
          </a:p>
          <a:p>
            <a:pPr>
              <a:buFont typeface="Arial" panose="020B0604020202020204" pitchFamily="34" charset="0"/>
              <a:buChar char="•"/>
            </a:pPr>
            <a:r>
              <a:rPr lang="en-IN" sz="1600" dirty="0"/>
              <a:t>Frame-by-frame predictions aggregated for final video classification</a:t>
            </a:r>
          </a:p>
          <a:p>
            <a:pPr>
              <a:buFont typeface="Arial" panose="020B0604020202020204" pitchFamily="34" charset="0"/>
              <a:buChar char="•"/>
            </a:pP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975995" y="338455"/>
            <a:ext cx="5768975" cy="602615"/>
          </a:xfrm>
          <a:prstGeom prst="rect">
            <a:avLst/>
          </a:prstGeom>
          <a:noFill/>
        </p:spPr>
        <p:txBody>
          <a:bodyPr wrap="square" rtlCol="0">
            <a:noAutofit/>
          </a:bodyPr>
          <a:lstStyle/>
          <a:p>
            <a:r>
              <a:rPr lang="en-IN" sz="2800" b="1" dirty="0">
                <a:latin typeface="Times New Roman" panose="02020603050405020304" charset="0"/>
                <a:cs typeface="Times New Roman" panose="02020603050405020304" charset="0"/>
                <a:sym typeface="+mn-ea"/>
              </a:rPr>
              <a:t>FEATURE ENGINEERING</a:t>
            </a:r>
            <a:endParaRPr lang="en-US" sz="2800" b="1" dirty="0"/>
          </a:p>
        </p:txBody>
      </p:sp>
      <p:sp>
        <p:nvSpPr>
          <p:cNvPr id="6" name="Text Box 5"/>
          <p:cNvSpPr txBox="1"/>
          <p:nvPr/>
        </p:nvSpPr>
        <p:spPr>
          <a:xfrm>
            <a:off x="1069667" y="1158527"/>
            <a:ext cx="9351010" cy="4979670"/>
          </a:xfrm>
          <a:prstGeom prst="rect">
            <a:avLst/>
          </a:prstGeom>
          <a:noFill/>
        </p:spPr>
        <p:txBody>
          <a:bodyPr wrap="square" rtlCol="0">
            <a:noAutofit/>
          </a:bodyPr>
          <a:lstStyle/>
          <a:p>
            <a:r>
              <a:rPr lang="en-IN" sz="2400" b="1" dirty="0">
                <a:latin typeface="Times New Roman" panose="02020603050405020304" pitchFamily="18" charset="0"/>
                <a:cs typeface="Times New Roman" panose="02020603050405020304" pitchFamily="18" charset="0"/>
              </a:rPr>
              <a:t>Audio Features (Librosa)</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Audio extracted from videos and cleaned using noise reduction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Converted into spectrograms for frequency-domain analysis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Extracted features include: </a:t>
            </a:r>
          </a:p>
          <a:p>
            <a:pPr marL="742950" lvl="1"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MFCC coefficients </a:t>
            </a:r>
          </a:p>
          <a:p>
            <a:pPr marL="742950" lvl="1"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Pitch variation </a:t>
            </a:r>
          </a:p>
          <a:p>
            <a:pPr marL="742950" lvl="1"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Spectral contrast </a:t>
            </a:r>
          </a:p>
          <a:p>
            <a:pPr marL="742950" lvl="1"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Energy distribution </a:t>
            </a:r>
          </a:p>
          <a:p>
            <a:pPr marL="742950" lvl="1"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Voice frequency irregularities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Helps detect AI-generated or synthetic speech patterns </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372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CD03FB-E919-AFCC-FCA5-C9457B2715A4}"/>
              </a:ext>
            </a:extLst>
          </p:cNvPr>
          <p:cNvSpPr txBox="1"/>
          <p:nvPr/>
        </p:nvSpPr>
        <p:spPr>
          <a:xfrm>
            <a:off x="953729" y="1582994"/>
            <a:ext cx="9822426" cy="3785652"/>
          </a:xfrm>
          <a:prstGeom prst="rect">
            <a:avLst/>
          </a:prstGeom>
          <a:noFill/>
        </p:spPr>
        <p:txBody>
          <a:bodyPr wrap="square" rtlCol="0">
            <a:spAutoFit/>
          </a:bodyPr>
          <a:lstStyle/>
          <a:p>
            <a:pPr algn="l">
              <a:buFont typeface="Arial" panose="020B0604020202020204" pitchFamily="34" charset="0"/>
              <a:buChar char="•"/>
            </a:pPr>
            <a:r>
              <a:rPr lang="en-US" sz="2400" b="1" i="0" dirty="0">
                <a:solidFill>
                  <a:schemeClr val="tx1"/>
                </a:solidFill>
                <a:effectLst/>
                <a:latin typeface="Times New Roman" panose="02020603050405020304" pitchFamily="18" charset="0"/>
                <a:cs typeface="Times New Roman" panose="02020603050405020304" pitchFamily="18" charset="0"/>
              </a:rPr>
              <a:t>Hyperparameter Tuning:</a:t>
            </a:r>
            <a:r>
              <a:rPr lang="en-US" sz="2400" b="0" i="0" dirty="0">
                <a:solidFill>
                  <a:schemeClr val="tx1"/>
                </a:solidFill>
                <a:effectLst/>
                <a:latin typeface="Times New Roman" panose="02020603050405020304" pitchFamily="18" charset="0"/>
                <a:cs typeface="Times New Roman" panose="02020603050405020304" pitchFamily="18" charset="0"/>
              </a:rPr>
              <a:t> Conducted extensive tuning on batch sizes, learning rates (using </a:t>
            </a:r>
            <a:r>
              <a:rPr lang="en-US" sz="2400" b="0" i="0" dirty="0" err="1">
                <a:solidFill>
                  <a:schemeClr val="tx1"/>
                </a:solidFill>
                <a:effectLst/>
                <a:latin typeface="Times New Roman" panose="02020603050405020304" pitchFamily="18" charset="0"/>
                <a:cs typeface="Times New Roman" panose="02020603050405020304" pitchFamily="18" charset="0"/>
              </a:rPr>
              <a:t>ReduceLROnPlateau</a:t>
            </a:r>
            <a:r>
              <a:rPr lang="en-US" sz="2400" b="0" i="0" dirty="0">
                <a:solidFill>
                  <a:schemeClr val="tx1"/>
                </a:solidFill>
                <a:effectLst/>
                <a:latin typeface="Times New Roman" panose="02020603050405020304" pitchFamily="18" charset="0"/>
                <a:cs typeface="Times New Roman" panose="02020603050405020304" pitchFamily="18" charset="0"/>
              </a:rPr>
              <a:t> scheduling), and dropout rates to optimize convergence.</a:t>
            </a:r>
          </a:p>
          <a:p>
            <a:pPr algn="l">
              <a:buFont typeface="Arial" panose="020B0604020202020204" pitchFamily="34" charset="0"/>
              <a:buChar char="•"/>
            </a:pPr>
            <a:r>
              <a:rPr lang="en-US" sz="2400" b="1" i="0" dirty="0">
                <a:solidFill>
                  <a:schemeClr val="tx1"/>
                </a:solidFill>
                <a:effectLst/>
                <a:latin typeface="Times New Roman" panose="02020603050405020304" pitchFamily="18" charset="0"/>
                <a:cs typeface="Times New Roman" panose="02020603050405020304" pitchFamily="18" charset="0"/>
              </a:rPr>
              <a:t>Loss Function Strategy:</a:t>
            </a:r>
            <a:r>
              <a:rPr lang="en-US" sz="2400" b="0" i="0" dirty="0">
                <a:solidFill>
                  <a:schemeClr val="tx1"/>
                </a:solidFill>
                <a:effectLst/>
                <a:latin typeface="Times New Roman" panose="02020603050405020304" pitchFamily="18" charset="0"/>
                <a:cs typeface="Times New Roman" panose="02020603050405020304" pitchFamily="18" charset="0"/>
              </a:rPr>
              <a:t> Utilized Cross-Entropy Loss combined with an annealing strategy to balance the weight of the audio and visual branches during training.</a:t>
            </a:r>
          </a:p>
          <a:p>
            <a:pPr algn="l">
              <a:buFont typeface="Arial" panose="020B0604020202020204" pitchFamily="34" charset="0"/>
              <a:buChar char="•"/>
            </a:pPr>
            <a:r>
              <a:rPr lang="en-US" sz="2400" b="1" i="0" dirty="0">
                <a:solidFill>
                  <a:schemeClr val="tx1"/>
                </a:solidFill>
                <a:effectLst/>
                <a:latin typeface="Times New Roman" panose="02020603050405020304" pitchFamily="18" charset="0"/>
                <a:cs typeface="Times New Roman" panose="02020603050405020304" pitchFamily="18" charset="0"/>
              </a:rPr>
              <a:t>Ablation Studies:</a:t>
            </a:r>
            <a:r>
              <a:rPr lang="en-US" sz="2400" b="0" i="0" dirty="0">
                <a:solidFill>
                  <a:schemeClr val="tx1"/>
                </a:solidFill>
                <a:effectLst/>
                <a:latin typeface="Times New Roman" panose="02020603050405020304" pitchFamily="18" charset="0"/>
                <a:cs typeface="Times New Roman" panose="02020603050405020304" pitchFamily="18" charset="0"/>
              </a:rPr>
              <a:t> Tested the model's performance using </a:t>
            </a:r>
            <a:r>
              <a:rPr lang="en-US" sz="2400" b="0" i="1" dirty="0">
                <a:solidFill>
                  <a:schemeClr val="tx1"/>
                </a:solidFill>
                <a:effectLst/>
                <a:latin typeface="Times New Roman" panose="02020603050405020304" pitchFamily="18" charset="0"/>
                <a:cs typeface="Times New Roman" panose="02020603050405020304" pitchFamily="18" charset="0"/>
              </a:rPr>
              <a:t>only</a:t>
            </a:r>
            <a:r>
              <a:rPr lang="en-US" sz="2400" b="0" i="0" dirty="0">
                <a:solidFill>
                  <a:schemeClr val="tx1"/>
                </a:solidFill>
                <a:effectLst/>
                <a:latin typeface="Times New Roman" panose="02020603050405020304" pitchFamily="18" charset="0"/>
                <a:cs typeface="Times New Roman" panose="02020603050405020304" pitchFamily="18" charset="0"/>
              </a:rPr>
              <a:t> visual data vs. </a:t>
            </a:r>
            <a:r>
              <a:rPr lang="en-US" sz="2400" b="0" i="1" dirty="0">
                <a:solidFill>
                  <a:schemeClr val="tx1"/>
                </a:solidFill>
                <a:effectLst/>
                <a:latin typeface="Times New Roman" panose="02020603050405020304" pitchFamily="18" charset="0"/>
                <a:cs typeface="Times New Roman" panose="02020603050405020304" pitchFamily="18" charset="0"/>
              </a:rPr>
              <a:t>only</a:t>
            </a:r>
            <a:r>
              <a:rPr lang="en-US" sz="2400" b="0" i="0" dirty="0">
                <a:solidFill>
                  <a:schemeClr val="tx1"/>
                </a:solidFill>
                <a:effectLst/>
                <a:latin typeface="Times New Roman" panose="02020603050405020304" pitchFamily="18" charset="0"/>
                <a:cs typeface="Times New Roman" panose="02020603050405020304" pitchFamily="18" charset="0"/>
              </a:rPr>
              <a:t> audio data to prove that the Hybrid Dual-Branch approach yields superior accuracy.</a:t>
            </a:r>
          </a:p>
          <a:p>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141D957-CFDB-DFDC-5ADE-4B5A65D962FB}"/>
              </a:ext>
            </a:extLst>
          </p:cNvPr>
          <p:cNvSpPr txBox="1"/>
          <p:nvPr/>
        </p:nvSpPr>
        <p:spPr>
          <a:xfrm>
            <a:off x="825910" y="275303"/>
            <a:ext cx="4208206" cy="646331"/>
          </a:xfrm>
          <a:prstGeom prst="rect">
            <a:avLst/>
          </a:prstGeom>
          <a:noFill/>
        </p:spPr>
        <p:txBody>
          <a:bodyPr wrap="square" rtlCol="0">
            <a:spAutoFit/>
          </a:bodyPr>
          <a:lstStyle/>
          <a:p>
            <a:r>
              <a:rPr lang="en-IN" sz="3600" b="1" i="0" dirty="0">
                <a:solidFill>
                  <a:schemeClr val="tx1"/>
                </a:solidFill>
                <a:effectLst/>
                <a:latin typeface="Times New Roman" panose="02020603050405020304" pitchFamily="18" charset="0"/>
                <a:cs typeface="Times New Roman" panose="02020603050405020304" pitchFamily="18" charset="0"/>
              </a:rPr>
              <a:t>Experimentation</a:t>
            </a:r>
            <a:endParaRPr lang="en-IN" sz="3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1952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63930" y="462915"/>
            <a:ext cx="5366385" cy="488315"/>
          </a:xfrm>
          <a:prstGeom prst="rect">
            <a:avLst/>
          </a:prstGeom>
          <a:noFill/>
        </p:spPr>
        <p:txBody>
          <a:bodyPr wrap="square" rtlCol="0">
            <a:noAutofit/>
          </a:bodyPr>
          <a:lstStyle/>
          <a:p>
            <a:r>
              <a:rPr lang="en-IN" sz="2400" b="1" dirty="0">
                <a:latin typeface="Times New Roman" panose="02020603050405020304" charset="0"/>
                <a:cs typeface="Times New Roman" panose="02020603050405020304" charset="0"/>
                <a:sym typeface="+mn-ea"/>
              </a:rPr>
              <a:t>MODEL IMPLEMENTATION</a:t>
            </a:r>
            <a:endParaRPr lang="en-US" sz="2400"/>
          </a:p>
        </p:txBody>
      </p:sp>
      <p:sp>
        <p:nvSpPr>
          <p:cNvPr id="6" name="Text Box 5"/>
          <p:cNvSpPr txBox="1"/>
          <p:nvPr/>
        </p:nvSpPr>
        <p:spPr>
          <a:xfrm>
            <a:off x="963930" y="1240196"/>
            <a:ext cx="9327515" cy="3333115"/>
          </a:xfrm>
          <a:prstGeom prst="rect">
            <a:avLst/>
          </a:prstGeom>
          <a:noFill/>
        </p:spPr>
        <p:txBody>
          <a:bodyPr wrap="square" rtlCol="0">
            <a:noAutofit/>
          </a:bodyPr>
          <a:lstStyle/>
          <a:p>
            <a:endParaRPr lang="en-US" sz="1600" dirty="0"/>
          </a:p>
        </p:txBody>
      </p:sp>
      <p:sp>
        <p:nvSpPr>
          <p:cNvPr id="3" name="Rectangle 1">
            <a:extLst>
              <a:ext uri="{FF2B5EF4-FFF2-40B4-BE49-F238E27FC236}">
                <a16:creationId xmlns:a16="http://schemas.microsoft.com/office/drawing/2014/main" id="{CF32EA70-3DFC-D6F1-C4E5-86884A772F28}"/>
              </a:ext>
            </a:extLst>
          </p:cNvPr>
          <p:cNvSpPr>
            <a:spLocks noChangeArrowheads="1"/>
          </p:cNvSpPr>
          <p:nvPr/>
        </p:nvSpPr>
        <p:spPr bwMode="auto">
          <a:xfrm>
            <a:off x="963930" y="1027763"/>
            <a:ext cx="960318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400" b="1" dirty="0">
                <a:latin typeface="Times New Roman" panose="02020603050405020304" pitchFamily="18" charset="0"/>
                <a:cs typeface="Times New Roman" panose="02020603050405020304" pitchFamily="18" charset="0"/>
              </a:rPr>
              <a:t>Primary Model: EfficientNetV2 + Multimodal Deep Learning</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EfficientNetV2 used as the primary deep learning model for image and video classification</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Provides high accuracy with lower computational complexity</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Efficiently captures deep facial manipulation patterns and synthetic artifacts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Performs well on large-scale visual datasets with faster training speed</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Suitable for real-time deepfake detection applications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Robust against noise, compression artifacts, and varying media quality</a:t>
            </a:r>
          </a:p>
          <a:p>
            <a:r>
              <a:rPr lang="en-IN" sz="2400" b="1" dirty="0">
                <a:latin typeface="Times New Roman" panose="02020603050405020304" pitchFamily="18" charset="0"/>
                <a:cs typeface="Times New Roman" panose="02020603050405020304" pitchFamily="18" charset="0"/>
              </a:rPr>
              <a:t>Supporting Technologies</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MTCNN</a:t>
            </a:r>
            <a:r>
              <a:rPr lang="en-IN" sz="2400" dirty="0">
                <a:latin typeface="Times New Roman" panose="02020603050405020304" pitchFamily="18" charset="0"/>
                <a:cs typeface="Times New Roman" panose="02020603050405020304" pitchFamily="18" charset="0"/>
              </a:rPr>
              <a:t> for accurate face detection and facial region extraction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OpenCV</a:t>
            </a:r>
            <a:r>
              <a:rPr lang="en-IN" sz="2400" dirty="0">
                <a:latin typeface="Times New Roman" panose="02020603050405020304" pitchFamily="18" charset="0"/>
                <a:cs typeface="Times New Roman" panose="02020603050405020304" pitchFamily="18" charset="0"/>
              </a:rPr>
              <a:t> for video frame extraction and temporal analysis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Librosa</a:t>
            </a:r>
            <a:r>
              <a:rPr lang="en-IN" sz="2400" dirty="0">
                <a:latin typeface="Times New Roman" panose="02020603050405020304" pitchFamily="18" charset="0"/>
                <a:cs typeface="Times New Roman" panose="02020603050405020304" pitchFamily="18" charset="0"/>
              </a:rPr>
              <a:t> for audio preprocessing and feature extraction </a:t>
            </a:r>
          </a:p>
          <a:p>
            <a:pPr>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PyTorch</a:t>
            </a:r>
            <a:r>
              <a:rPr lang="en-IN" sz="2400" dirty="0">
                <a:latin typeface="Times New Roman" panose="02020603050405020304" pitchFamily="18" charset="0"/>
                <a:cs typeface="Times New Roman" panose="02020603050405020304" pitchFamily="18" charset="0"/>
              </a:rPr>
              <a:t> framework used for model training and optimization</a:t>
            </a: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142365" y="401955"/>
            <a:ext cx="4954270" cy="554990"/>
          </a:xfrm>
          <a:prstGeom prst="rect">
            <a:avLst/>
          </a:prstGeom>
          <a:noFill/>
        </p:spPr>
        <p:txBody>
          <a:bodyPr wrap="square" rtlCol="0">
            <a:noAutofit/>
          </a:bodyPr>
          <a:lstStyle/>
          <a:p>
            <a:pPr>
              <a:buNone/>
            </a:pPr>
            <a:r>
              <a:rPr lang="en-IN" sz="2400" b="1" dirty="0">
                <a:latin typeface="Times New Roman" panose="02020603050405020304" charset="0"/>
                <a:cs typeface="Times New Roman" panose="02020603050405020304" charset="0"/>
                <a:sym typeface="+mn-ea"/>
              </a:rPr>
              <a:t>PERFORMANCE EVALUATION</a:t>
            </a:r>
            <a:endParaRPr lang="en-US" sz="2400" b="1"/>
          </a:p>
        </p:txBody>
      </p:sp>
      <p:sp>
        <p:nvSpPr>
          <p:cNvPr id="4" name="Rectangle 1">
            <a:extLst>
              <a:ext uri="{FF2B5EF4-FFF2-40B4-BE49-F238E27FC236}">
                <a16:creationId xmlns:a16="http://schemas.microsoft.com/office/drawing/2014/main" id="{77625D59-C114-2898-65CC-6E6608DF8310}"/>
              </a:ext>
            </a:extLst>
          </p:cNvPr>
          <p:cNvSpPr>
            <a:spLocks noChangeArrowheads="1"/>
          </p:cNvSpPr>
          <p:nvPr/>
        </p:nvSpPr>
        <p:spPr bwMode="auto">
          <a:xfrm>
            <a:off x="983226" y="1103114"/>
            <a:ext cx="10962967"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the model using standard classification metrics: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Precision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Recall</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F1-Score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Confusion Matrix</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 and testing performed on preprocessed multimodal datasets containing image, video, and audio samples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EfficientNetV2</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achieved high detection accuracy for identifying AI-generated media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Frame-level video analysis improved temporal consistency detection and reduced false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performance with baseline models such as: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ResNet50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MobileNetV2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142365" y="401955"/>
            <a:ext cx="4954270" cy="554990"/>
          </a:xfrm>
          <a:prstGeom prst="rect">
            <a:avLst/>
          </a:prstGeom>
          <a:noFill/>
        </p:spPr>
        <p:txBody>
          <a:bodyPr wrap="square" rtlCol="0">
            <a:noAutofit/>
          </a:bodyPr>
          <a:lstStyle/>
          <a:p>
            <a:pPr>
              <a:buNone/>
            </a:pPr>
            <a:r>
              <a:rPr lang="en-IN" sz="2400" b="1" dirty="0">
                <a:latin typeface="Times New Roman" panose="02020603050405020304" charset="0"/>
                <a:cs typeface="Times New Roman" panose="02020603050405020304" charset="0"/>
                <a:sym typeface="+mn-ea"/>
              </a:rPr>
              <a:t>PERFORMANCE EVALUATION</a:t>
            </a:r>
            <a:endParaRPr lang="en-US" sz="2400" b="1"/>
          </a:p>
        </p:txBody>
      </p:sp>
      <p:sp>
        <p:nvSpPr>
          <p:cNvPr id="4" name="Rectangle 1">
            <a:extLst>
              <a:ext uri="{FF2B5EF4-FFF2-40B4-BE49-F238E27FC236}">
                <a16:creationId xmlns:a16="http://schemas.microsoft.com/office/drawing/2014/main" id="{77625D59-C114-2898-65CC-6E6608DF8310}"/>
              </a:ext>
            </a:extLst>
          </p:cNvPr>
          <p:cNvSpPr>
            <a:spLocks noChangeArrowheads="1"/>
          </p:cNvSpPr>
          <p:nvPr/>
        </p:nvSpPr>
        <p:spPr bwMode="auto">
          <a:xfrm>
            <a:off x="1002891" y="1173560"/>
            <a:ext cx="983225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EfficientNetV2 provided: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feature extraction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convergence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classification accuracy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generalization on unseen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Confusion matrix analysis showed strong performance in distinguishing: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 Media</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AI-Generated / Fake Media</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augmentation and feature normalization helped reduce overfitting and improved model robustness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multimodal fusion strategy increased overall detection reliability by combining image, video, and audio predictions</a:t>
            </a:r>
          </a:p>
        </p:txBody>
      </p:sp>
    </p:spTree>
    <p:extLst>
      <p:ext uri="{BB962C8B-B14F-4D97-AF65-F5344CB8AC3E}">
        <p14:creationId xmlns:p14="http://schemas.microsoft.com/office/powerpoint/2010/main" val="2648030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48385" y="396875"/>
            <a:ext cx="5107940" cy="554355"/>
          </a:xfrm>
          <a:prstGeom prst="rect">
            <a:avLst/>
          </a:prstGeom>
          <a:noFill/>
        </p:spPr>
        <p:txBody>
          <a:bodyPr wrap="square" rtlCol="0">
            <a:noAutofit/>
          </a:bodyPr>
          <a:lstStyle/>
          <a:p>
            <a:r>
              <a:rPr lang="en-IN" sz="2800" b="1" dirty="0">
                <a:latin typeface="Times New Roman" panose="02020603050405020304" charset="0"/>
                <a:cs typeface="Times New Roman" panose="02020603050405020304" charset="0"/>
                <a:sym typeface="+mn-ea"/>
              </a:rPr>
              <a:t>RESULTS ANALYSIS</a:t>
            </a:r>
            <a:endParaRPr lang="en-US" sz="2800"/>
          </a:p>
        </p:txBody>
      </p:sp>
      <p:sp>
        <p:nvSpPr>
          <p:cNvPr id="4" name="Text Box 3"/>
          <p:cNvSpPr txBox="1"/>
          <p:nvPr/>
        </p:nvSpPr>
        <p:spPr>
          <a:xfrm>
            <a:off x="1048385" y="1097280"/>
            <a:ext cx="9117965" cy="5027295"/>
          </a:xfrm>
          <a:prstGeom prst="rect">
            <a:avLst/>
          </a:prstGeom>
          <a:noFill/>
        </p:spPr>
        <p:txBody>
          <a:bodyPr wrap="square" rtlCol="0">
            <a:noAutofit/>
          </a:bodyPr>
          <a:lstStyle/>
          <a:p>
            <a:endParaRPr lang="en-US" altLang="en-US" sz="2000" b="1"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IN" altLang="en-US" sz="1800" dirty="0"/>
              <a:t> </a:t>
            </a:r>
            <a:r>
              <a:rPr lang="en-US" altLang="en-US" sz="1800" dirty="0"/>
              <a:t>The system successfully detected fake images, videos, and audio files</a:t>
            </a:r>
          </a:p>
          <a:p>
            <a:r>
              <a:rPr lang="en-IN" altLang="en-US" sz="1800" dirty="0"/>
              <a:t> </a:t>
            </a:r>
            <a:r>
              <a:rPr lang="en-US" altLang="en-US" sz="1800" dirty="0"/>
              <a:t>Multi-modal detection improved overall system accuracy</a:t>
            </a:r>
          </a:p>
          <a:p>
            <a:r>
              <a:rPr lang="en-IN" altLang="en-US" sz="1800" dirty="0"/>
              <a:t> </a:t>
            </a:r>
            <a:r>
              <a:rPr lang="en-US" altLang="en-US" sz="1800" dirty="0"/>
              <a:t>EfficientNetV2 accurately detected manipulated images</a:t>
            </a:r>
          </a:p>
          <a:p>
            <a:r>
              <a:rPr lang="en-IN" altLang="en-US" sz="1800" dirty="0"/>
              <a:t> </a:t>
            </a:r>
            <a:r>
              <a:rPr lang="en-US" altLang="en-US" sz="1800" dirty="0"/>
              <a:t>Wav2Vec effectively identified AI-generated voices</a:t>
            </a:r>
          </a:p>
          <a:p>
            <a:r>
              <a:rPr lang="en-IN" altLang="en-US" sz="1800" dirty="0"/>
              <a:t> </a:t>
            </a:r>
            <a:endParaRPr lang="en-US" altLang="en-US" sz="1800" dirty="0"/>
          </a:p>
          <a:p>
            <a:r>
              <a:rPr lang="en-US" altLang="en-US" sz="2000" b="1" dirty="0"/>
              <a:t> Outcome</a:t>
            </a:r>
          </a:p>
          <a:p>
            <a:r>
              <a:rPr lang="en-IN" altLang="en-US" sz="1600" dirty="0"/>
              <a:t> </a:t>
            </a:r>
            <a:r>
              <a:rPr lang="en-US" altLang="en-US" sz="1600" dirty="0"/>
              <a:t>High accuracy achieved in deepfake detection</a:t>
            </a:r>
          </a:p>
          <a:p>
            <a:r>
              <a:rPr lang="en-IN" altLang="en-US" sz="1600" dirty="0"/>
              <a:t> </a:t>
            </a:r>
            <a:r>
              <a:rPr lang="en-US" altLang="en-US" sz="1600" dirty="0"/>
              <a:t>System provided reliable Real or Fake predictions</a:t>
            </a:r>
          </a:p>
          <a:p>
            <a:r>
              <a:rPr lang="en-IN" altLang="en-US" sz="1600" dirty="0"/>
              <a:t> </a:t>
            </a:r>
            <a:r>
              <a:rPr lang="en-US" altLang="en-US" sz="1600" dirty="0"/>
              <a:t>Improved performance across different media types</a:t>
            </a:r>
          </a:p>
          <a:p>
            <a:endParaRPr lang="en-US" altLang="en-US" sz="1600" dirty="0"/>
          </a:p>
          <a:p>
            <a:endParaRPr lang="en-US" sz="1600" dirty="0"/>
          </a:p>
        </p:txBody>
      </p:sp>
      <p:pic>
        <p:nvPicPr>
          <p:cNvPr id="5" name="Picture 4" descr="A screenshot of a computer&#10;&#10;AI-generated content may be incorrect.">
            <a:extLst>
              <a:ext uri="{FF2B5EF4-FFF2-40B4-BE49-F238E27FC236}">
                <a16:creationId xmlns:a16="http://schemas.microsoft.com/office/drawing/2014/main" id="{567E85B2-78F8-0296-58F4-97C167B40A16}"/>
              </a:ext>
            </a:extLst>
          </p:cNvPr>
          <p:cNvPicPr>
            <a:picLocks noChangeAspect="1"/>
          </p:cNvPicPr>
          <p:nvPr/>
        </p:nvPicPr>
        <p:blipFill>
          <a:blip r:embed="rId2"/>
          <a:stretch>
            <a:fillRect/>
          </a:stretch>
        </p:blipFill>
        <p:spPr>
          <a:xfrm>
            <a:off x="1288052" y="1152837"/>
            <a:ext cx="4628606" cy="2401333"/>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E8C9BA1B-2538-7216-EB91-3DFF6E2C4298}"/>
              </a:ext>
            </a:extLst>
          </p:cNvPr>
          <p:cNvPicPr>
            <a:picLocks noChangeAspect="1"/>
          </p:cNvPicPr>
          <p:nvPr/>
        </p:nvPicPr>
        <p:blipFill>
          <a:blip r:embed="rId3"/>
          <a:stretch>
            <a:fillRect/>
          </a:stretch>
        </p:blipFill>
        <p:spPr>
          <a:xfrm>
            <a:off x="6676103" y="1097280"/>
            <a:ext cx="4729316" cy="251244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48385" y="396875"/>
            <a:ext cx="5107940" cy="554355"/>
          </a:xfrm>
          <a:prstGeom prst="rect">
            <a:avLst/>
          </a:prstGeom>
          <a:noFill/>
        </p:spPr>
        <p:txBody>
          <a:bodyPr wrap="square" rtlCol="0">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Code Quality</a:t>
            </a:r>
          </a:p>
        </p:txBody>
      </p:sp>
      <p:sp>
        <p:nvSpPr>
          <p:cNvPr id="2" name="Rectangle 1">
            <a:extLst>
              <a:ext uri="{FF2B5EF4-FFF2-40B4-BE49-F238E27FC236}">
                <a16:creationId xmlns:a16="http://schemas.microsoft.com/office/drawing/2014/main" id="{8075202E-840C-E7C4-6B3E-F429F6774B21}"/>
              </a:ext>
            </a:extLst>
          </p:cNvPr>
          <p:cNvSpPr>
            <a:spLocks noChangeArrowheads="1"/>
          </p:cNvSpPr>
          <p:nvPr/>
        </p:nvSpPr>
        <p:spPr bwMode="auto">
          <a:xfrm>
            <a:off x="935392" y="1101689"/>
            <a:ext cx="1125660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Followed clean and modular architecture for frontend and backend development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reusable React components and custom hooks for better maintainability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Maintained separation of concerns using dedicated processing modules: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video_processor.py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audio_processor.py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fusion.py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ai_detector.py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proper naming conventions, indentation, and structured coding standards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exception handling using try/except blocks to prevent application crashes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Added validation and user-friendly error handling for all API requests and uploads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redundant computations and optimized media processing workflows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React Query for efficient API state management and caching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Maintained scalable folder structure for datasets, models, APIs, and frontend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Included comments and documentation for important functions and workflows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GitHub version control for collaboration, tracking, and code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Ensured compatibility between preprocessing, feature extraction, model inference, and frontend integration</a:t>
            </a:r>
          </a:p>
        </p:txBody>
      </p:sp>
    </p:spTree>
    <p:extLst>
      <p:ext uri="{BB962C8B-B14F-4D97-AF65-F5344CB8AC3E}">
        <p14:creationId xmlns:p14="http://schemas.microsoft.com/office/powerpoint/2010/main" val="3385910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0"/>
          <p:cNvSpPr txBox="1"/>
          <p:nvPr/>
        </p:nvSpPr>
        <p:spPr>
          <a:xfrm>
            <a:off x="2471394" y="3167390"/>
            <a:ext cx="72492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GB" sz="3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THANK</a:t>
            </a:r>
            <a:r>
              <a:rPr lang="en-GB" sz="32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YOU</a:t>
            </a:r>
            <a:r>
              <a:rPr lang="en-IN" altLang="en-GB" sz="32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2014</Words>
  <Application>Microsoft Office PowerPoint</Application>
  <PresentationFormat>Widescreen</PresentationFormat>
  <Paragraphs>372</Paragraphs>
  <Slides>26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Tahoma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KGRCET</dc:creator>
  <cp:lastModifiedBy>Venkat Kalyan Peddina</cp:lastModifiedBy>
  <cp:revision>43</cp:revision>
  <dcterms:created xsi:type="dcterms:W3CDTF">2025-02-03T15:16:00Z</dcterms:created>
  <dcterms:modified xsi:type="dcterms:W3CDTF">2026-05-06T06:24:26Z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9B8E02D143D04595B64EEA985715BBE8_13</vt:lpwstr>
  </property>
  <property fmtid="{D5CDD505-2E9C-101B-9397-08002B2CF9AE}" pid="3" name="KSOProductBuildVer">
    <vt:lpwstr>1033-12.1.0.25242</vt:lpwstr>
  </property>
</Properties>
</file>